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71" r:id="rId15"/>
  </p:sldIdLst>
  <p:sldSz cx="12192000" cy="6858000"/>
  <p:notesSz cx="6858000" cy="12192000"/>
  <p:embeddedFontLst>
    <p:embeddedFont>
      <p:font typeface="Quattrocento Sans" pitchFamily="34" charset="0"/>
      <p:regular r:id="rId19"/>
    </p:embeddedFont>
    <p:embeddedFont>
      <p:font typeface="Quattrocento Sans" pitchFamily="34" charset="-122"/>
      <p:regular r:id="rId20"/>
    </p:embeddedFont>
    <p:embeddedFont>
      <p:font typeface="Quattrocento Sans" pitchFamily="34" charset="-120"/>
      <p:regular r:id="rId21"/>
    </p:embeddedFont>
    <p:embeddedFont>
      <p:font typeface="Liter" pitchFamily="34" charset="0"/>
      <p:regular r:id="rId22"/>
    </p:embeddedFont>
    <p:embeddedFont>
      <p:font typeface="Liter" pitchFamily="34" charset="-122"/>
      <p:regular r:id="rId23"/>
    </p:embeddedFont>
    <p:embeddedFont>
      <p:font typeface="Liter" pitchFamily="34" charset="-120"/>
      <p:regular r:id="rId24"/>
    </p:embeddedFont>
    <p:embeddedFont>
      <p:font typeface="MiSans" pitchFamily="34" charset="-122"/>
      <p:regular r:id="rId25"/>
    </p:embeddedFont>
    <p:embeddedFont>
      <p:font typeface="MiSans" pitchFamily="34" charset="-120"/>
      <p:regular r:id="rId26"/>
    </p:embeddedFont>
    <p:embeddedFont>
      <p:font typeface="Calibri" panose="020F050202020403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mos.cms.futurecdn.net/a756d5772d7fa6075e05c04b79e8aabec3b9882d.jpg"/>
          <p:cNvPicPr>
            <a:picLocks noChangeAspect="1"/>
          </p:cNvPicPr>
          <p:nvPr/>
        </p:nvPicPr>
        <p:blipFill>
          <a:blip r:embed="rId1">
            <a:alphaModFix amt="40000"/>
          </a:blip>
          <a:srcRect l="815" r="81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5763" y="690563"/>
            <a:ext cx="3590925" cy="390525"/>
          </a:xfrm>
          <a:custGeom>
            <a:avLst/>
            <a:gdLst/>
            <a:ahLst/>
            <a:cxnLst/>
            <a:rect l="l" t="t" r="r" b="b"/>
            <a:pathLst>
              <a:path w="3590925" h="390525">
                <a:moveTo>
                  <a:pt x="195263" y="0"/>
                </a:moveTo>
                <a:lnTo>
                  <a:pt x="3395663" y="0"/>
                </a:lnTo>
                <a:cubicBezTo>
                  <a:pt x="3503431" y="0"/>
                  <a:pt x="3590925" y="87494"/>
                  <a:pt x="3590925" y="195263"/>
                </a:cubicBezTo>
                <a:lnTo>
                  <a:pt x="3590925" y="195263"/>
                </a:lnTo>
                <a:cubicBezTo>
                  <a:pt x="3590925" y="303031"/>
                  <a:pt x="3503431" y="390525"/>
                  <a:pt x="33956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  <a:ln w="12700">
            <a:solidFill>
              <a:srgbClr val="3A8DF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4838" y="800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638" y="2344"/>
                </a:moveTo>
                <a:cubicBezTo>
                  <a:pt x="69786" y="-804"/>
                  <a:pt x="74875" y="-804"/>
                  <a:pt x="77990" y="2344"/>
                </a:cubicBezTo>
                <a:lnTo>
                  <a:pt x="107926" y="32281"/>
                </a:lnTo>
                <a:lnTo>
                  <a:pt x="126344" y="13863"/>
                </a:lnTo>
                <a:cubicBezTo>
                  <a:pt x="130530" y="9678"/>
                  <a:pt x="137327" y="9678"/>
                  <a:pt x="141513" y="13863"/>
                </a:cubicBezTo>
                <a:lnTo>
                  <a:pt x="157587" y="29937"/>
                </a:lnTo>
                <a:cubicBezTo>
                  <a:pt x="161772" y="34123"/>
                  <a:pt x="161772" y="40920"/>
                  <a:pt x="157587" y="45106"/>
                </a:cubicBezTo>
                <a:lnTo>
                  <a:pt x="139169" y="63524"/>
                </a:lnTo>
                <a:lnTo>
                  <a:pt x="169106" y="93460"/>
                </a:lnTo>
                <a:cubicBezTo>
                  <a:pt x="172254" y="96608"/>
                  <a:pt x="172254" y="101698"/>
                  <a:pt x="169106" y="104812"/>
                </a:cubicBezTo>
                <a:lnTo>
                  <a:pt x="136959" y="136959"/>
                </a:lnTo>
                <a:cubicBezTo>
                  <a:pt x="133811" y="140107"/>
                  <a:pt x="128721" y="140107"/>
                  <a:pt x="125607" y="136959"/>
                </a:cubicBezTo>
                <a:lnTo>
                  <a:pt x="95670" y="107022"/>
                </a:lnTo>
                <a:lnTo>
                  <a:pt x="90480" y="112213"/>
                </a:lnTo>
                <a:cubicBezTo>
                  <a:pt x="94298" y="120450"/>
                  <a:pt x="96441" y="129626"/>
                  <a:pt x="96441" y="139303"/>
                </a:cubicBezTo>
                <a:cubicBezTo>
                  <a:pt x="96441" y="149918"/>
                  <a:pt x="93862" y="159897"/>
                  <a:pt x="89342" y="168704"/>
                </a:cubicBezTo>
                <a:cubicBezTo>
                  <a:pt x="87768" y="171718"/>
                  <a:pt x="83749" y="172153"/>
                  <a:pt x="81372" y="169742"/>
                </a:cubicBezTo>
                <a:lnTo>
                  <a:pt x="49124" y="137495"/>
                </a:lnTo>
                <a:lnTo>
                  <a:pt x="29033" y="157587"/>
                </a:lnTo>
                <a:cubicBezTo>
                  <a:pt x="24847" y="161772"/>
                  <a:pt x="18049" y="161772"/>
                  <a:pt x="13863" y="157587"/>
                </a:cubicBezTo>
                <a:cubicBezTo>
                  <a:pt x="9678" y="153401"/>
                  <a:pt x="9678" y="146603"/>
                  <a:pt x="13863" y="142417"/>
                </a:cubicBezTo>
                <a:lnTo>
                  <a:pt x="33955" y="122326"/>
                </a:lnTo>
                <a:lnTo>
                  <a:pt x="1708" y="90078"/>
                </a:lnTo>
                <a:cubicBezTo>
                  <a:pt x="-703" y="87667"/>
                  <a:pt x="-268" y="83649"/>
                  <a:pt x="2746" y="82108"/>
                </a:cubicBezTo>
                <a:cubicBezTo>
                  <a:pt x="11553" y="77554"/>
                  <a:pt x="21565" y="75009"/>
                  <a:pt x="32147" y="75009"/>
                </a:cubicBezTo>
                <a:cubicBezTo>
                  <a:pt x="41824" y="75009"/>
                  <a:pt x="51000" y="77153"/>
                  <a:pt x="59237" y="80970"/>
                </a:cubicBezTo>
                <a:lnTo>
                  <a:pt x="64428" y="75780"/>
                </a:lnTo>
                <a:lnTo>
                  <a:pt x="34491" y="45876"/>
                </a:lnTo>
                <a:cubicBezTo>
                  <a:pt x="31343" y="42729"/>
                  <a:pt x="31343" y="37639"/>
                  <a:pt x="34491" y="34524"/>
                </a:cubicBezTo>
                <a:lnTo>
                  <a:pt x="66638" y="2344"/>
                </a:lnTo>
                <a:close/>
                <a:moveTo>
                  <a:pt x="72330" y="19389"/>
                </a:moveTo>
                <a:lnTo>
                  <a:pt x="51535" y="40184"/>
                </a:lnTo>
                <a:lnTo>
                  <a:pt x="75780" y="64428"/>
                </a:lnTo>
                <a:lnTo>
                  <a:pt x="96575" y="43633"/>
                </a:lnTo>
                <a:lnTo>
                  <a:pt x="72330" y="19389"/>
                </a:lnTo>
                <a:close/>
                <a:moveTo>
                  <a:pt x="131266" y="119915"/>
                </a:moveTo>
                <a:lnTo>
                  <a:pt x="152061" y="99120"/>
                </a:lnTo>
                <a:lnTo>
                  <a:pt x="127817" y="74875"/>
                </a:lnTo>
                <a:lnTo>
                  <a:pt x="107022" y="95670"/>
                </a:lnTo>
                <a:lnTo>
                  <a:pt x="131266" y="119915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6" name="Text 3"/>
          <p:cNvSpPr/>
          <p:nvPr/>
        </p:nvSpPr>
        <p:spPr>
          <a:xfrm>
            <a:off x="909638" y="771525"/>
            <a:ext cx="2943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AEROSPACE MATERIALS INFORMATICS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81175"/>
            <a:ext cx="117729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Informatics-Driven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A8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Inverse Design</a:t>
            </a: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High-Performance Polymers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5053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0" scaled="1"/>
          </a:gradFill>
        </p:spPr>
      </p:sp>
      <p:sp>
        <p:nvSpPr>
          <p:cNvPr id="9" name="Text 6"/>
          <p:cNvSpPr/>
          <p:nvPr/>
        </p:nvSpPr>
        <p:spPr>
          <a:xfrm>
            <a:off x="381000" y="4791075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Polyimide, PEEK, and PTFE for LEO Satellite Shielding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210175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QSPR Pipeline for Thermal Endurance &amp; Dielectric Stability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450705" y="5248275"/>
            <a:ext cx="1972945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altLang="en-US" sz="16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BL.AI.U4AID25046</a:t>
            </a:r>
            <a:endParaRPr lang="en-IN" altLang="en-US" sz="1200" dirty="0">
              <a:solidFill>
                <a:srgbClr val="E2E8F0">
                  <a:alpha val="70000"/>
                </a:srgb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50705" y="5709920"/>
            <a:ext cx="2002790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altLang="en-US" sz="16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BL.AI.U4AID25062</a:t>
            </a:r>
            <a:endParaRPr lang="en-IN" altLang="en-US" sz="1200" dirty="0">
              <a:solidFill>
                <a:srgbClr val="E2E8F0">
                  <a:alpha val="70000"/>
                </a:srgb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450705" y="6171565"/>
            <a:ext cx="197358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altLang="en-US" sz="16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BL.AI.U4AID25054</a:t>
            </a:r>
            <a:endParaRPr lang="en-IN" altLang="en-US" sz="1200" dirty="0">
              <a:solidFill>
                <a:srgbClr val="E2E8F0">
                  <a:alpha val="70000"/>
                </a:srgbClr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2647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2743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5629275" cy="1552575"/>
          </a:xfrm>
          <a:custGeom>
            <a:avLst/>
            <a:gdLst/>
            <a:ahLst/>
            <a:cxnLst/>
            <a:rect l="l" t="t" r="r" b="b"/>
            <a:pathLst>
              <a:path w="5629275" h="15525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438274"/>
                </a:lnTo>
                <a:cubicBezTo>
                  <a:pt x="5629275" y="1501401"/>
                  <a:pt x="5578101" y="1552575"/>
                  <a:pt x="55149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343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50081" y="1447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9" name="Text 7"/>
          <p:cNvSpPr/>
          <p:nvPr/>
        </p:nvSpPr>
        <p:spPr>
          <a:xfrm>
            <a:off x="1038225" y="1400175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1838325"/>
            <a:ext cx="53911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aerospace polymers force a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compromise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 extreme thermal survivability and signal clarity (dielectric constant) in Low Earth Orbit (LEO) environments.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6963" y="1185863"/>
            <a:ext cx="5629275" cy="1552575"/>
          </a:xfrm>
          <a:custGeom>
            <a:avLst/>
            <a:gdLst/>
            <a:ahLst/>
            <a:cxnLst/>
            <a:rect l="l" t="t" r="r" b="b"/>
            <a:pathLst>
              <a:path w="5629275" h="15525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438274"/>
                </a:lnTo>
                <a:cubicBezTo>
                  <a:pt x="5629275" y="1501401"/>
                  <a:pt x="5578101" y="1552575"/>
                  <a:pt x="55149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34125" y="1343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451997" y="14478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0716" y="0"/>
                </a:moveTo>
                <a:cubicBezTo>
                  <a:pt x="16643" y="0"/>
                  <a:pt x="21431" y="4789"/>
                  <a:pt x="21431" y="10716"/>
                </a:cubicBezTo>
                <a:lnTo>
                  <a:pt x="21431" y="16073"/>
                </a:lnTo>
                <a:lnTo>
                  <a:pt x="44537" y="10314"/>
                </a:lnTo>
                <a:cubicBezTo>
                  <a:pt x="57295" y="7133"/>
                  <a:pt x="70757" y="8606"/>
                  <a:pt x="82544" y="14500"/>
                </a:cubicBezTo>
                <a:cubicBezTo>
                  <a:pt x="98048" y="22268"/>
                  <a:pt x="116298" y="22268"/>
                  <a:pt x="131802" y="14500"/>
                </a:cubicBezTo>
                <a:lnTo>
                  <a:pt x="135017" y="12892"/>
                </a:lnTo>
                <a:cubicBezTo>
                  <a:pt x="141915" y="9410"/>
                  <a:pt x="150019" y="14433"/>
                  <a:pt x="150019" y="22134"/>
                </a:cubicBezTo>
                <a:lnTo>
                  <a:pt x="150019" y="115796"/>
                </a:lnTo>
                <a:cubicBezTo>
                  <a:pt x="150019" y="120249"/>
                  <a:pt x="147239" y="124268"/>
                  <a:pt x="143054" y="125842"/>
                </a:cubicBezTo>
                <a:lnTo>
                  <a:pt x="131434" y="130195"/>
                </a:lnTo>
                <a:cubicBezTo>
                  <a:pt x="115963" y="135988"/>
                  <a:pt x="98751" y="135084"/>
                  <a:pt x="83984" y="127717"/>
                </a:cubicBezTo>
                <a:cubicBezTo>
                  <a:pt x="71292" y="121354"/>
                  <a:pt x="56726" y="119781"/>
                  <a:pt x="42963" y="123230"/>
                </a:cubicBezTo>
                <a:lnTo>
                  <a:pt x="21431" y="128588"/>
                </a:lnTo>
                <a:lnTo>
                  <a:pt x="21431" y="160734"/>
                </a:lnTo>
                <a:cubicBezTo>
                  <a:pt x="21431" y="166661"/>
                  <a:pt x="16643" y="171450"/>
                  <a:pt x="10716" y="171450"/>
                </a:cubicBezTo>
                <a:cubicBezTo>
                  <a:pt x="4789" y="171450"/>
                  <a:pt x="0" y="166661"/>
                  <a:pt x="0" y="160734"/>
                </a:cubicBezTo>
                <a:lnTo>
                  <a:pt x="0" y="10716"/>
                </a:lnTo>
                <a:cubicBezTo>
                  <a:pt x="0" y="4789"/>
                  <a:pt x="4789" y="0"/>
                  <a:pt x="10716" y="0"/>
                </a:cubicBezTo>
                <a:close/>
                <a:moveTo>
                  <a:pt x="21431" y="62653"/>
                </a:moveTo>
                <a:lnTo>
                  <a:pt x="42863" y="57998"/>
                </a:lnTo>
                <a:lnTo>
                  <a:pt x="42863" y="79932"/>
                </a:lnTo>
                <a:lnTo>
                  <a:pt x="21431" y="84586"/>
                </a:lnTo>
                <a:lnTo>
                  <a:pt x="21431" y="106520"/>
                </a:lnTo>
                <a:lnTo>
                  <a:pt x="37773" y="102435"/>
                </a:lnTo>
                <a:cubicBezTo>
                  <a:pt x="39480" y="101999"/>
                  <a:pt x="41155" y="101631"/>
                  <a:pt x="42863" y="101330"/>
                </a:cubicBezTo>
                <a:lnTo>
                  <a:pt x="42863" y="79932"/>
                </a:lnTo>
                <a:lnTo>
                  <a:pt x="55889" y="77119"/>
                </a:lnTo>
                <a:cubicBezTo>
                  <a:pt x="58668" y="76516"/>
                  <a:pt x="61481" y="76282"/>
                  <a:pt x="64294" y="76416"/>
                </a:cubicBezTo>
                <a:lnTo>
                  <a:pt x="64294" y="54985"/>
                </a:lnTo>
                <a:cubicBezTo>
                  <a:pt x="68848" y="55118"/>
                  <a:pt x="73402" y="55855"/>
                  <a:pt x="77822" y="57128"/>
                </a:cubicBezTo>
                <a:lnTo>
                  <a:pt x="85725" y="59438"/>
                </a:lnTo>
                <a:lnTo>
                  <a:pt x="85725" y="81774"/>
                </a:lnTo>
                <a:lnTo>
                  <a:pt x="71761" y="77655"/>
                </a:lnTo>
                <a:cubicBezTo>
                  <a:pt x="69317" y="76952"/>
                  <a:pt x="66805" y="76516"/>
                  <a:pt x="64294" y="76382"/>
                </a:cubicBezTo>
                <a:lnTo>
                  <a:pt x="64294" y="100292"/>
                </a:lnTo>
                <a:cubicBezTo>
                  <a:pt x="71594" y="100928"/>
                  <a:pt x="78793" y="102535"/>
                  <a:pt x="85725" y="105114"/>
                </a:cubicBezTo>
                <a:lnTo>
                  <a:pt x="85725" y="81740"/>
                </a:lnTo>
                <a:lnTo>
                  <a:pt x="93326" y="83984"/>
                </a:lnTo>
                <a:cubicBezTo>
                  <a:pt x="97847" y="85323"/>
                  <a:pt x="102468" y="86127"/>
                  <a:pt x="107156" y="86462"/>
                </a:cubicBezTo>
                <a:lnTo>
                  <a:pt x="107156" y="64963"/>
                </a:lnTo>
                <a:cubicBezTo>
                  <a:pt x="104544" y="64696"/>
                  <a:pt x="101932" y="64193"/>
                  <a:pt x="99387" y="63457"/>
                </a:cubicBezTo>
                <a:lnTo>
                  <a:pt x="85725" y="59438"/>
                </a:lnTo>
                <a:lnTo>
                  <a:pt x="85725" y="38677"/>
                </a:lnTo>
                <a:cubicBezTo>
                  <a:pt x="81372" y="37404"/>
                  <a:pt x="77086" y="35730"/>
                  <a:pt x="72933" y="33654"/>
                </a:cubicBezTo>
                <a:cubicBezTo>
                  <a:pt x="70187" y="32281"/>
                  <a:pt x="67274" y="31310"/>
                  <a:pt x="64294" y="30707"/>
                </a:cubicBezTo>
                <a:lnTo>
                  <a:pt x="64294" y="54951"/>
                </a:lnTo>
                <a:cubicBezTo>
                  <a:pt x="59941" y="54817"/>
                  <a:pt x="55587" y="55219"/>
                  <a:pt x="51335" y="56157"/>
                </a:cubicBezTo>
                <a:lnTo>
                  <a:pt x="42863" y="57998"/>
                </a:lnTo>
                <a:lnTo>
                  <a:pt x="42863" y="32817"/>
                </a:lnTo>
                <a:lnTo>
                  <a:pt x="21431" y="38174"/>
                </a:lnTo>
                <a:lnTo>
                  <a:pt x="21431" y="62653"/>
                </a:lnTo>
                <a:close/>
                <a:moveTo>
                  <a:pt x="107156" y="112414"/>
                </a:moveTo>
                <a:cubicBezTo>
                  <a:pt x="112782" y="112916"/>
                  <a:pt x="118508" y="112179"/>
                  <a:pt x="123899" y="110137"/>
                </a:cubicBezTo>
                <a:lnTo>
                  <a:pt x="128588" y="108395"/>
                </a:lnTo>
                <a:lnTo>
                  <a:pt x="128588" y="84386"/>
                </a:lnTo>
                <a:lnTo>
                  <a:pt x="125942" y="84988"/>
                </a:lnTo>
                <a:cubicBezTo>
                  <a:pt x="119781" y="86428"/>
                  <a:pt x="113452" y="86897"/>
                  <a:pt x="107156" y="86495"/>
                </a:cubicBezTo>
                <a:lnTo>
                  <a:pt x="107156" y="112414"/>
                </a:lnTo>
                <a:close/>
                <a:moveTo>
                  <a:pt x="128588" y="62385"/>
                </a:moveTo>
                <a:lnTo>
                  <a:pt x="128588" y="38677"/>
                </a:lnTo>
                <a:cubicBezTo>
                  <a:pt x="121589" y="40719"/>
                  <a:pt x="114389" y="41724"/>
                  <a:pt x="107156" y="41724"/>
                </a:cubicBezTo>
                <a:lnTo>
                  <a:pt x="107156" y="64963"/>
                </a:lnTo>
                <a:cubicBezTo>
                  <a:pt x="111811" y="65432"/>
                  <a:pt x="116532" y="65131"/>
                  <a:pt x="121120" y="64093"/>
                </a:cubicBezTo>
                <a:lnTo>
                  <a:pt x="128588" y="62352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14" name="Text 12"/>
          <p:cNvSpPr/>
          <p:nvPr/>
        </p:nvSpPr>
        <p:spPr>
          <a:xfrm>
            <a:off x="6829425" y="1400175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Primary Goal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4125" y="1838325"/>
            <a:ext cx="53911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automated, ML-driven pipeline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breaks this compromise by computationally designing novel, optimized variations of Polyimide, PEEK, and PTFE.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2862263"/>
            <a:ext cx="11420475" cy="1647825"/>
          </a:xfrm>
          <a:custGeom>
            <a:avLst/>
            <a:gdLst/>
            <a:ahLst/>
            <a:cxnLst/>
            <a:rect l="l" t="t" r="r" b="b"/>
            <a:pathLst>
              <a:path w="11420475" h="1647825">
                <a:moveTo>
                  <a:pt x="114293" y="0"/>
                </a:moveTo>
                <a:lnTo>
                  <a:pt x="11306182" y="0"/>
                </a:lnTo>
                <a:cubicBezTo>
                  <a:pt x="11369262" y="0"/>
                  <a:pt x="11420475" y="51213"/>
                  <a:pt x="11420475" y="114293"/>
                </a:cubicBezTo>
                <a:lnTo>
                  <a:pt x="11420475" y="1533532"/>
                </a:lnTo>
                <a:cubicBezTo>
                  <a:pt x="11420475" y="1596612"/>
                  <a:pt x="11369262" y="1647825"/>
                  <a:pt x="11306182" y="1647825"/>
                </a:cubicBezTo>
                <a:lnTo>
                  <a:pt x="114293" y="1647825"/>
                </a:lnTo>
                <a:cubicBezTo>
                  <a:pt x="51213" y="1647825"/>
                  <a:pt x="0" y="1596612"/>
                  <a:pt x="0" y="15335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20000"/>
                </a:srgbClr>
              </a:gs>
              <a:gs pos="100000">
                <a:srgbClr val="4A5568">
                  <a:alpha val="10000"/>
                </a:srgbClr>
              </a:gs>
            </a:gsLst>
            <a:lin ang="0" scaled="1"/>
          </a:gradFill>
          <a:ln w="1270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4831" y="30575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-5953"/>
                </a:moveTo>
                <a:cubicBezTo>
                  <a:pt x="113742" y="-5953"/>
                  <a:pt x="119063" y="-633"/>
                  <a:pt x="119063" y="5953"/>
                </a:cubicBezTo>
                <a:lnTo>
                  <a:pt x="119063" y="12762"/>
                </a:lnTo>
                <a:cubicBezTo>
                  <a:pt x="155563" y="17971"/>
                  <a:pt x="184435" y="46844"/>
                  <a:pt x="189644" y="83344"/>
                </a:cubicBezTo>
                <a:lnTo>
                  <a:pt x="196453" y="83344"/>
                </a:lnTo>
                <a:cubicBezTo>
                  <a:pt x="203039" y="83344"/>
                  <a:pt x="208359" y="88664"/>
                  <a:pt x="208359" y="95250"/>
                </a:cubicBezTo>
                <a:cubicBezTo>
                  <a:pt x="208359" y="101836"/>
                  <a:pt x="203039" y="107156"/>
                  <a:pt x="196453" y="107156"/>
                </a:cubicBezTo>
                <a:lnTo>
                  <a:pt x="189644" y="107156"/>
                </a:lnTo>
                <a:cubicBezTo>
                  <a:pt x="184435" y="143656"/>
                  <a:pt x="155563" y="172529"/>
                  <a:pt x="119063" y="177738"/>
                </a:cubicBezTo>
                <a:lnTo>
                  <a:pt x="119063" y="184547"/>
                </a:lnTo>
                <a:cubicBezTo>
                  <a:pt x="119063" y="191133"/>
                  <a:pt x="113742" y="196453"/>
                  <a:pt x="107156" y="196453"/>
                </a:cubicBezTo>
                <a:cubicBezTo>
                  <a:pt x="100571" y="196453"/>
                  <a:pt x="95250" y="191133"/>
                  <a:pt x="95250" y="184547"/>
                </a:cubicBezTo>
                <a:lnTo>
                  <a:pt x="95250" y="177738"/>
                </a:lnTo>
                <a:cubicBezTo>
                  <a:pt x="58750" y="172529"/>
                  <a:pt x="29877" y="143656"/>
                  <a:pt x="24668" y="107156"/>
                </a:cubicBezTo>
                <a:lnTo>
                  <a:pt x="17859" y="107156"/>
                </a:lnTo>
                <a:cubicBezTo>
                  <a:pt x="11274" y="107156"/>
                  <a:pt x="5953" y="101836"/>
                  <a:pt x="5953" y="95250"/>
                </a:cubicBezTo>
                <a:cubicBezTo>
                  <a:pt x="5953" y="88664"/>
                  <a:pt x="11274" y="83344"/>
                  <a:pt x="17859" y="83344"/>
                </a:cubicBezTo>
                <a:lnTo>
                  <a:pt x="24668" y="83344"/>
                </a:lnTo>
                <a:cubicBezTo>
                  <a:pt x="29877" y="46844"/>
                  <a:pt x="58750" y="17971"/>
                  <a:pt x="95250" y="12762"/>
                </a:cubicBezTo>
                <a:lnTo>
                  <a:pt x="95250" y="5953"/>
                </a:lnTo>
                <a:cubicBezTo>
                  <a:pt x="95250" y="-633"/>
                  <a:pt x="100571" y="-5953"/>
                  <a:pt x="107156" y="-5953"/>
                </a:cubicBezTo>
                <a:close/>
                <a:moveTo>
                  <a:pt x="48816" y="107156"/>
                </a:moveTo>
                <a:cubicBezTo>
                  <a:pt x="53541" y="130485"/>
                  <a:pt x="71921" y="148865"/>
                  <a:pt x="95250" y="153591"/>
                </a:cubicBezTo>
                <a:lnTo>
                  <a:pt x="95250" y="148828"/>
                </a:lnTo>
                <a:cubicBezTo>
                  <a:pt x="95250" y="142242"/>
                  <a:pt x="100571" y="136922"/>
                  <a:pt x="107156" y="136922"/>
                </a:cubicBezTo>
                <a:cubicBezTo>
                  <a:pt x="113742" y="136922"/>
                  <a:pt x="119063" y="142242"/>
                  <a:pt x="119063" y="148828"/>
                </a:cubicBezTo>
                <a:lnTo>
                  <a:pt x="119063" y="153591"/>
                </a:lnTo>
                <a:cubicBezTo>
                  <a:pt x="142391" y="148865"/>
                  <a:pt x="160772" y="130485"/>
                  <a:pt x="165497" y="107156"/>
                </a:cubicBezTo>
                <a:lnTo>
                  <a:pt x="160734" y="107156"/>
                </a:lnTo>
                <a:cubicBezTo>
                  <a:pt x="154149" y="107156"/>
                  <a:pt x="148828" y="101836"/>
                  <a:pt x="148828" y="95250"/>
                </a:cubicBezTo>
                <a:cubicBezTo>
                  <a:pt x="148828" y="88664"/>
                  <a:pt x="154149" y="83344"/>
                  <a:pt x="160734" y="83344"/>
                </a:cubicBezTo>
                <a:lnTo>
                  <a:pt x="165497" y="83344"/>
                </a:lnTo>
                <a:cubicBezTo>
                  <a:pt x="160772" y="60015"/>
                  <a:pt x="142391" y="41635"/>
                  <a:pt x="119063" y="36909"/>
                </a:cubicBezTo>
                <a:lnTo>
                  <a:pt x="119063" y="41672"/>
                </a:lnTo>
                <a:cubicBezTo>
                  <a:pt x="119063" y="48258"/>
                  <a:pt x="113742" y="53578"/>
                  <a:pt x="107156" y="53578"/>
                </a:cubicBezTo>
                <a:cubicBezTo>
                  <a:pt x="100571" y="53578"/>
                  <a:pt x="95250" y="48258"/>
                  <a:pt x="95250" y="41672"/>
                </a:cubicBezTo>
                <a:lnTo>
                  <a:pt x="95250" y="36909"/>
                </a:lnTo>
                <a:cubicBezTo>
                  <a:pt x="71921" y="41635"/>
                  <a:pt x="53541" y="60015"/>
                  <a:pt x="48816" y="83344"/>
                </a:cubicBezTo>
                <a:lnTo>
                  <a:pt x="53578" y="83344"/>
                </a:lnTo>
                <a:cubicBezTo>
                  <a:pt x="60164" y="83344"/>
                  <a:pt x="65484" y="88664"/>
                  <a:pt x="65484" y="95250"/>
                </a:cubicBezTo>
                <a:cubicBezTo>
                  <a:pt x="65484" y="101836"/>
                  <a:pt x="60164" y="107156"/>
                  <a:pt x="53578" y="107156"/>
                </a:cubicBezTo>
                <a:lnTo>
                  <a:pt x="48816" y="107156"/>
                </a:lnTo>
                <a:close/>
                <a:moveTo>
                  <a:pt x="107156" y="77391"/>
                </a:moveTo>
                <a:cubicBezTo>
                  <a:pt x="117013" y="77391"/>
                  <a:pt x="125016" y="85393"/>
                  <a:pt x="125016" y="95250"/>
                </a:cubicBezTo>
                <a:cubicBezTo>
                  <a:pt x="125016" y="105107"/>
                  <a:pt x="117013" y="113109"/>
                  <a:pt x="107156" y="113109"/>
                </a:cubicBezTo>
                <a:cubicBezTo>
                  <a:pt x="97299" y="113109"/>
                  <a:pt x="89297" y="105107"/>
                  <a:pt x="89297" y="95250"/>
                </a:cubicBezTo>
                <a:cubicBezTo>
                  <a:pt x="89297" y="85393"/>
                  <a:pt x="97299" y="77391"/>
                  <a:pt x="107156" y="77391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18" name="Text 16"/>
          <p:cNvSpPr/>
          <p:nvPr/>
        </p:nvSpPr>
        <p:spPr>
          <a:xfrm>
            <a:off x="781050" y="3019425"/>
            <a:ext cx="10963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Targets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925" y="3400425"/>
            <a:ext cx="5476875" cy="952500"/>
          </a:xfrm>
          <a:custGeom>
            <a:avLst/>
            <a:gdLst/>
            <a:ahLst/>
            <a:cxnLst/>
            <a:rect l="l" t="t" r="r" b="b"/>
            <a:pathLst>
              <a:path w="5476875" h="952500">
                <a:moveTo>
                  <a:pt x="76200" y="0"/>
                </a:moveTo>
                <a:lnTo>
                  <a:pt x="5400675" y="0"/>
                </a:lnTo>
                <a:cubicBezTo>
                  <a:pt x="5442731" y="0"/>
                  <a:pt x="5476875" y="34144"/>
                  <a:pt x="5476875" y="76200"/>
                </a:cubicBezTo>
                <a:lnTo>
                  <a:pt x="5476875" y="876300"/>
                </a:lnTo>
                <a:cubicBezTo>
                  <a:pt x="5476875" y="918356"/>
                  <a:pt x="5442731" y="952500"/>
                  <a:pt x="54006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57225" y="3533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33425" y="3609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8575" y="28575"/>
                </a:moveTo>
                <a:cubicBezTo>
                  <a:pt x="28575" y="12799"/>
                  <a:pt x="41374" y="0"/>
                  <a:pt x="57150" y="0"/>
                </a:cubicBezTo>
                <a:cubicBezTo>
                  <a:pt x="72926" y="0"/>
                  <a:pt x="85725" y="12799"/>
                  <a:pt x="85725" y="28575"/>
                </a:cubicBezTo>
                <a:lnTo>
                  <a:pt x="85725" y="77599"/>
                </a:lnTo>
                <a:cubicBezTo>
                  <a:pt x="94506" y="85457"/>
                  <a:pt x="100013" y="96857"/>
                  <a:pt x="100013" y="109537"/>
                </a:cubicBezTo>
                <a:cubicBezTo>
                  <a:pt x="100013" y="133201"/>
                  <a:pt x="80814" y="152400"/>
                  <a:pt x="57150" y="152400"/>
                </a:cubicBezTo>
                <a:cubicBezTo>
                  <a:pt x="33486" y="152400"/>
                  <a:pt x="14288" y="133201"/>
                  <a:pt x="14288" y="109537"/>
                </a:cubicBezTo>
                <a:cubicBezTo>
                  <a:pt x="14288" y="96857"/>
                  <a:pt x="19794" y="85427"/>
                  <a:pt x="28575" y="77599"/>
                </a:cubicBezTo>
                <a:lnTo>
                  <a:pt x="28575" y="28575"/>
                </a:lnTo>
                <a:close/>
                <a:moveTo>
                  <a:pt x="57150" y="128588"/>
                </a:moveTo>
                <a:cubicBezTo>
                  <a:pt x="67657" y="128588"/>
                  <a:pt x="76200" y="120045"/>
                  <a:pt x="76200" y="109537"/>
                </a:cubicBezTo>
                <a:cubicBezTo>
                  <a:pt x="76200" y="101531"/>
                  <a:pt x="71289" y="94684"/>
                  <a:pt x="64294" y="91886"/>
                </a:cubicBezTo>
                <a:lnTo>
                  <a:pt x="64294" y="28575"/>
                </a:lnTo>
                <a:cubicBezTo>
                  <a:pt x="64294" y="24616"/>
                  <a:pt x="61109" y="21431"/>
                  <a:pt x="57150" y="21431"/>
                </a:cubicBezTo>
                <a:cubicBezTo>
                  <a:pt x="53191" y="21431"/>
                  <a:pt x="50006" y="24616"/>
                  <a:pt x="50006" y="28575"/>
                </a:cubicBezTo>
                <a:lnTo>
                  <a:pt x="50006" y="91886"/>
                </a:lnTo>
                <a:cubicBezTo>
                  <a:pt x="43011" y="94714"/>
                  <a:pt x="38100" y="101560"/>
                  <a:pt x="38100" y="109537"/>
                </a:cubicBezTo>
                <a:cubicBezTo>
                  <a:pt x="38100" y="120045"/>
                  <a:pt x="46643" y="128588"/>
                  <a:pt x="57150" y="128588"/>
                </a:cubicBezTo>
                <a:close/>
                <a:moveTo>
                  <a:pt x="138113" y="23813"/>
                </a:moveTo>
                <a:cubicBezTo>
                  <a:pt x="138113" y="18556"/>
                  <a:pt x="133844" y="14288"/>
                  <a:pt x="128588" y="14288"/>
                </a:cubicBezTo>
                <a:cubicBezTo>
                  <a:pt x="123331" y="14288"/>
                  <a:pt x="119062" y="18556"/>
                  <a:pt x="119062" y="23813"/>
                </a:cubicBezTo>
                <a:cubicBezTo>
                  <a:pt x="119062" y="29069"/>
                  <a:pt x="123331" y="33338"/>
                  <a:pt x="128588" y="33338"/>
                </a:cubicBezTo>
                <a:cubicBezTo>
                  <a:pt x="133844" y="33338"/>
                  <a:pt x="138113" y="29069"/>
                  <a:pt x="138113" y="23813"/>
                </a:cubicBezTo>
                <a:close/>
                <a:moveTo>
                  <a:pt x="104775" y="23813"/>
                </a:moveTo>
                <a:cubicBezTo>
                  <a:pt x="104775" y="10670"/>
                  <a:pt x="115445" y="0"/>
                  <a:pt x="128588" y="0"/>
                </a:cubicBezTo>
                <a:cubicBezTo>
                  <a:pt x="141730" y="0"/>
                  <a:pt x="152400" y="10670"/>
                  <a:pt x="152400" y="23812"/>
                </a:cubicBezTo>
                <a:cubicBezTo>
                  <a:pt x="152400" y="36955"/>
                  <a:pt x="141730" y="47625"/>
                  <a:pt x="128588" y="47625"/>
                </a:cubicBezTo>
                <a:cubicBezTo>
                  <a:pt x="115445" y="47625"/>
                  <a:pt x="104775" y="36955"/>
                  <a:pt x="104775" y="23813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22" name="Text 20"/>
          <p:cNvSpPr/>
          <p:nvPr/>
        </p:nvSpPr>
        <p:spPr>
          <a:xfrm>
            <a:off x="1076325" y="3514725"/>
            <a:ext cx="4905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Thermal Endurance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6325" y="3781425"/>
            <a:ext cx="4905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Strictly maintain or exceed baseline thermal performance: 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Tg ≥ 300.0°C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Polyimide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3400425"/>
            <a:ext cx="5476875" cy="952500"/>
          </a:xfrm>
          <a:custGeom>
            <a:avLst/>
            <a:gdLst/>
            <a:ahLst/>
            <a:cxnLst/>
            <a:rect l="l" t="t" r="r" b="b"/>
            <a:pathLst>
              <a:path w="5476875" h="952500">
                <a:moveTo>
                  <a:pt x="76200" y="0"/>
                </a:moveTo>
                <a:lnTo>
                  <a:pt x="5400675" y="0"/>
                </a:lnTo>
                <a:cubicBezTo>
                  <a:pt x="5442731" y="0"/>
                  <a:pt x="5476875" y="34144"/>
                  <a:pt x="5476875" y="76200"/>
                </a:cubicBezTo>
                <a:lnTo>
                  <a:pt x="5476875" y="876300"/>
                </a:lnTo>
                <a:cubicBezTo>
                  <a:pt x="5476875" y="918356"/>
                  <a:pt x="5442731" y="952500"/>
                  <a:pt x="540067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286500" y="3533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53175" y="3609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6164" y="3423"/>
                </a:moveTo>
                <a:cubicBezTo>
                  <a:pt x="22800" y="1369"/>
                  <a:pt x="18395" y="2471"/>
                  <a:pt x="16341" y="5834"/>
                </a:cubicBezTo>
                <a:cubicBezTo>
                  <a:pt x="8959" y="18038"/>
                  <a:pt x="4733" y="32355"/>
                  <a:pt x="4733" y="47625"/>
                </a:cubicBezTo>
                <a:cubicBezTo>
                  <a:pt x="4733" y="62895"/>
                  <a:pt x="8959" y="77212"/>
                  <a:pt x="16341" y="89416"/>
                </a:cubicBezTo>
                <a:cubicBezTo>
                  <a:pt x="18395" y="92779"/>
                  <a:pt x="22771" y="93881"/>
                  <a:pt x="26164" y="91827"/>
                </a:cubicBezTo>
                <a:cubicBezTo>
                  <a:pt x="29557" y="89773"/>
                  <a:pt x="30629" y="85398"/>
                  <a:pt x="28575" y="82004"/>
                </a:cubicBezTo>
                <a:cubicBezTo>
                  <a:pt x="22533" y="72003"/>
                  <a:pt x="19050" y="60216"/>
                  <a:pt x="19050" y="47625"/>
                </a:cubicBezTo>
                <a:cubicBezTo>
                  <a:pt x="19050" y="35034"/>
                  <a:pt x="22533" y="23247"/>
                  <a:pt x="28605" y="13216"/>
                </a:cubicBezTo>
                <a:cubicBezTo>
                  <a:pt x="30659" y="9852"/>
                  <a:pt x="29557" y="5447"/>
                  <a:pt x="26194" y="3393"/>
                </a:cubicBezTo>
                <a:close/>
                <a:moveTo>
                  <a:pt x="145256" y="3423"/>
                </a:moveTo>
                <a:cubicBezTo>
                  <a:pt x="141893" y="5477"/>
                  <a:pt x="140791" y="9852"/>
                  <a:pt x="142845" y="13246"/>
                </a:cubicBezTo>
                <a:cubicBezTo>
                  <a:pt x="148917" y="23277"/>
                  <a:pt x="152400" y="35064"/>
                  <a:pt x="152400" y="47655"/>
                </a:cubicBezTo>
                <a:cubicBezTo>
                  <a:pt x="152400" y="60246"/>
                  <a:pt x="148917" y="72033"/>
                  <a:pt x="142845" y="82064"/>
                </a:cubicBezTo>
                <a:cubicBezTo>
                  <a:pt x="140791" y="85427"/>
                  <a:pt x="141893" y="89833"/>
                  <a:pt x="145256" y="91886"/>
                </a:cubicBezTo>
                <a:cubicBezTo>
                  <a:pt x="148620" y="93940"/>
                  <a:pt x="153025" y="92839"/>
                  <a:pt x="155079" y="89475"/>
                </a:cubicBezTo>
                <a:cubicBezTo>
                  <a:pt x="162461" y="77272"/>
                  <a:pt x="166688" y="62954"/>
                  <a:pt x="166688" y="47685"/>
                </a:cubicBezTo>
                <a:cubicBezTo>
                  <a:pt x="166688" y="32415"/>
                  <a:pt x="162461" y="18038"/>
                  <a:pt x="155079" y="5834"/>
                </a:cubicBezTo>
                <a:cubicBezTo>
                  <a:pt x="153025" y="2471"/>
                  <a:pt x="148650" y="1369"/>
                  <a:pt x="145256" y="3423"/>
                </a:cubicBezTo>
                <a:close/>
                <a:moveTo>
                  <a:pt x="95250" y="64115"/>
                </a:moveTo>
                <a:cubicBezTo>
                  <a:pt x="100935" y="60811"/>
                  <a:pt x="104775" y="54679"/>
                  <a:pt x="104775" y="47625"/>
                </a:cubicBezTo>
                <a:cubicBezTo>
                  <a:pt x="104775" y="37118"/>
                  <a:pt x="96232" y="28575"/>
                  <a:pt x="85725" y="28575"/>
                </a:cubicBezTo>
                <a:cubicBezTo>
                  <a:pt x="75218" y="28575"/>
                  <a:pt x="66675" y="37118"/>
                  <a:pt x="66675" y="47625"/>
                </a:cubicBezTo>
                <a:cubicBezTo>
                  <a:pt x="66675" y="54679"/>
                  <a:pt x="70515" y="60841"/>
                  <a:pt x="76200" y="64115"/>
                </a:cubicBezTo>
                <a:lnTo>
                  <a:pt x="76200" y="142875"/>
                </a:lnTo>
                <a:cubicBezTo>
                  <a:pt x="76200" y="148144"/>
                  <a:pt x="80456" y="152400"/>
                  <a:pt x="85725" y="152400"/>
                </a:cubicBezTo>
                <a:cubicBezTo>
                  <a:pt x="90994" y="152400"/>
                  <a:pt x="95250" y="148144"/>
                  <a:pt x="95250" y="142875"/>
                </a:cubicBezTo>
                <a:lnTo>
                  <a:pt x="95250" y="64115"/>
                </a:lnTo>
                <a:close/>
                <a:moveTo>
                  <a:pt x="53638" y="27087"/>
                </a:moveTo>
                <a:cubicBezTo>
                  <a:pt x="55781" y="23753"/>
                  <a:pt x="54799" y="19348"/>
                  <a:pt x="51495" y="17205"/>
                </a:cubicBezTo>
                <a:cubicBezTo>
                  <a:pt x="48191" y="15061"/>
                  <a:pt x="43755" y="16044"/>
                  <a:pt x="41612" y="19348"/>
                </a:cubicBezTo>
                <a:cubicBezTo>
                  <a:pt x="36374" y="27503"/>
                  <a:pt x="33338" y="37207"/>
                  <a:pt x="33338" y="47625"/>
                </a:cubicBezTo>
                <a:cubicBezTo>
                  <a:pt x="33338" y="58043"/>
                  <a:pt x="36374" y="67747"/>
                  <a:pt x="41612" y="75902"/>
                </a:cubicBezTo>
                <a:cubicBezTo>
                  <a:pt x="43755" y="79236"/>
                  <a:pt x="48161" y="80189"/>
                  <a:pt x="51495" y="78045"/>
                </a:cubicBezTo>
                <a:cubicBezTo>
                  <a:pt x="54828" y="75902"/>
                  <a:pt x="55781" y="71497"/>
                  <a:pt x="53638" y="68163"/>
                </a:cubicBezTo>
                <a:cubicBezTo>
                  <a:pt x="49828" y="62240"/>
                  <a:pt x="47625" y="55185"/>
                  <a:pt x="47625" y="47625"/>
                </a:cubicBezTo>
                <a:cubicBezTo>
                  <a:pt x="47625" y="40065"/>
                  <a:pt x="49828" y="33010"/>
                  <a:pt x="53638" y="27087"/>
                </a:cubicBezTo>
                <a:close/>
                <a:moveTo>
                  <a:pt x="129838" y="19348"/>
                </a:moveTo>
                <a:cubicBezTo>
                  <a:pt x="127695" y="16014"/>
                  <a:pt x="123289" y="15061"/>
                  <a:pt x="119955" y="17205"/>
                </a:cubicBezTo>
                <a:cubicBezTo>
                  <a:pt x="116622" y="19348"/>
                  <a:pt x="115669" y="23753"/>
                  <a:pt x="117812" y="27087"/>
                </a:cubicBezTo>
                <a:cubicBezTo>
                  <a:pt x="121622" y="33010"/>
                  <a:pt x="123825" y="40065"/>
                  <a:pt x="123825" y="47625"/>
                </a:cubicBezTo>
                <a:cubicBezTo>
                  <a:pt x="123825" y="55185"/>
                  <a:pt x="121622" y="62240"/>
                  <a:pt x="117812" y="68163"/>
                </a:cubicBezTo>
                <a:cubicBezTo>
                  <a:pt x="115669" y="71497"/>
                  <a:pt x="116651" y="75902"/>
                  <a:pt x="119955" y="78045"/>
                </a:cubicBezTo>
                <a:cubicBezTo>
                  <a:pt x="123259" y="80189"/>
                  <a:pt x="127695" y="79206"/>
                  <a:pt x="129838" y="75902"/>
                </a:cubicBezTo>
                <a:cubicBezTo>
                  <a:pt x="135076" y="67747"/>
                  <a:pt x="138113" y="58043"/>
                  <a:pt x="138113" y="47625"/>
                </a:cubicBezTo>
                <a:cubicBezTo>
                  <a:pt x="138113" y="37207"/>
                  <a:pt x="135076" y="27503"/>
                  <a:pt x="129838" y="19348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27" name="Text 25"/>
          <p:cNvSpPr/>
          <p:nvPr/>
        </p:nvSpPr>
        <p:spPr>
          <a:xfrm>
            <a:off x="6705600" y="3514725"/>
            <a:ext cx="4905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Dielectric Optimization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05600" y="3781425"/>
            <a:ext cx="49053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Dielectric Constant toward target: 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Dk ≤ </a:t>
            </a:r>
            <a:r>
              <a:rPr lang="en-IN" alt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r>
              <a:rPr lang="en-IN" alt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reduce satellite signal degradation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4633913"/>
            <a:ext cx="11420475" cy="1304925"/>
          </a:xfrm>
          <a:custGeom>
            <a:avLst/>
            <a:gdLst/>
            <a:ahLst/>
            <a:cxnLst/>
            <a:rect l="l" t="t" r="r" b="b"/>
            <a:pathLst>
              <a:path w="11420475" h="1304925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1190627"/>
                </a:lnTo>
                <a:cubicBezTo>
                  <a:pt x="11420475" y="1253752"/>
                  <a:pt x="11369302" y="1304925"/>
                  <a:pt x="1130617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5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925" y="4791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1" name="Shape 29"/>
          <p:cNvSpPr/>
          <p:nvPr/>
        </p:nvSpPr>
        <p:spPr>
          <a:xfrm>
            <a:off x="628650" y="48958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1038225" y="4848225"/>
            <a:ext cx="1581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Methodology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2925" y="5286375"/>
            <a:ext cx="111823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</a:t>
            </a:r>
            <a:r>
              <a:rPr lang="en-US" sz="12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Multi-Target QSPR predictive modeling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RDKit-based structural inverse design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mathematically generate and validate new chemical candidates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physical synthesis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5724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730631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LEO Satellite Shielding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3695700" cy="2352675"/>
          </a:xfrm>
          <a:custGeom>
            <a:avLst/>
            <a:gdLst/>
            <a:ahLst/>
            <a:cxnLst/>
            <a:rect l="l" t="t" r="r" b="b"/>
            <a:pathLst>
              <a:path w="3695700" h="2352675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238382"/>
                </a:lnTo>
                <a:cubicBezTo>
                  <a:pt x="3695700" y="2301504"/>
                  <a:pt x="3644529" y="2352675"/>
                  <a:pt x="3581407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34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762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3691" y="335"/>
                </a:moveTo>
                <a:lnTo>
                  <a:pt x="111435" y="28129"/>
                </a:lnTo>
                <a:lnTo>
                  <a:pt x="112291" y="17227"/>
                </a:lnTo>
                <a:cubicBezTo>
                  <a:pt x="112663" y="12464"/>
                  <a:pt x="107528" y="9227"/>
                  <a:pt x="103361" y="11609"/>
                </a:cubicBezTo>
                <a:lnTo>
                  <a:pt x="37691" y="49634"/>
                </a:lnTo>
                <a:cubicBezTo>
                  <a:pt x="14362" y="63140"/>
                  <a:pt x="0" y="88032"/>
                  <a:pt x="0" y="114970"/>
                </a:cubicBezTo>
                <a:cubicBezTo>
                  <a:pt x="0" y="156679"/>
                  <a:pt x="33821" y="190500"/>
                  <a:pt x="75530" y="190500"/>
                </a:cubicBezTo>
                <a:cubicBezTo>
                  <a:pt x="102468" y="190500"/>
                  <a:pt x="127360" y="176138"/>
                  <a:pt x="140866" y="152809"/>
                </a:cubicBezTo>
                <a:lnTo>
                  <a:pt x="178891" y="87176"/>
                </a:lnTo>
                <a:cubicBezTo>
                  <a:pt x="181310" y="83046"/>
                  <a:pt x="178073" y="77874"/>
                  <a:pt x="173273" y="78246"/>
                </a:cubicBezTo>
                <a:lnTo>
                  <a:pt x="162371" y="79102"/>
                </a:lnTo>
                <a:lnTo>
                  <a:pt x="190165" y="6846"/>
                </a:lnTo>
                <a:cubicBezTo>
                  <a:pt x="190388" y="6288"/>
                  <a:pt x="190500" y="5655"/>
                  <a:pt x="190500" y="5060"/>
                </a:cubicBezTo>
                <a:cubicBezTo>
                  <a:pt x="190500" y="2270"/>
                  <a:pt x="188268" y="37"/>
                  <a:pt x="185477" y="37"/>
                </a:cubicBezTo>
                <a:cubicBezTo>
                  <a:pt x="184845" y="37"/>
                  <a:pt x="184249" y="149"/>
                  <a:pt x="183691" y="372"/>
                </a:cubicBezTo>
                <a:close/>
                <a:moveTo>
                  <a:pt x="71438" y="71438"/>
                </a:moveTo>
                <a:cubicBezTo>
                  <a:pt x="97722" y="71438"/>
                  <a:pt x="119063" y="92778"/>
                  <a:pt x="119063" y="119063"/>
                </a:cubicBezTo>
                <a:cubicBezTo>
                  <a:pt x="119063" y="145347"/>
                  <a:pt x="97722" y="166688"/>
                  <a:pt x="71438" y="166688"/>
                </a:cubicBezTo>
                <a:cubicBezTo>
                  <a:pt x="45153" y="166688"/>
                  <a:pt x="23813" y="145347"/>
                  <a:pt x="23812" y="119063"/>
                </a:cubicBezTo>
                <a:cubicBezTo>
                  <a:pt x="23812" y="92778"/>
                  <a:pt x="45153" y="71438"/>
                  <a:pt x="71437" y="71438"/>
                </a:cubicBezTo>
                <a:close/>
                <a:moveTo>
                  <a:pt x="71438" y="107156"/>
                </a:moveTo>
                <a:cubicBezTo>
                  <a:pt x="71438" y="100585"/>
                  <a:pt x="66102" y="95250"/>
                  <a:pt x="59531" y="95250"/>
                </a:cubicBezTo>
                <a:cubicBezTo>
                  <a:pt x="52960" y="95250"/>
                  <a:pt x="47625" y="100585"/>
                  <a:pt x="47625" y="107156"/>
                </a:cubicBezTo>
                <a:cubicBezTo>
                  <a:pt x="47625" y="113727"/>
                  <a:pt x="52960" y="119063"/>
                  <a:pt x="59531" y="119063"/>
                </a:cubicBezTo>
                <a:cubicBezTo>
                  <a:pt x="66102" y="119063"/>
                  <a:pt x="71438" y="113727"/>
                  <a:pt x="71438" y="107156"/>
                </a:cubicBezTo>
                <a:close/>
                <a:moveTo>
                  <a:pt x="77391" y="142875"/>
                </a:moveTo>
                <a:cubicBezTo>
                  <a:pt x="80676" y="142875"/>
                  <a:pt x="83344" y="140207"/>
                  <a:pt x="83344" y="136922"/>
                </a:cubicBezTo>
                <a:cubicBezTo>
                  <a:pt x="83344" y="133636"/>
                  <a:pt x="80676" y="130969"/>
                  <a:pt x="77391" y="130969"/>
                </a:cubicBezTo>
                <a:cubicBezTo>
                  <a:pt x="74105" y="130969"/>
                  <a:pt x="71438" y="133636"/>
                  <a:pt x="71438" y="136922"/>
                </a:cubicBezTo>
                <a:cubicBezTo>
                  <a:pt x="71438" y="140207"/>
                  <a:pt x="74105" y="142875"/>
                  <a:pt x="77391" y="142875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9" name="Text 7"/>
          <p:cNvSpPr/>
          <p:nvPr/>
        </p:nvSpPr>
        <p:spPr>
          <a:xfrm>
            <a:off x="542925" y="1914525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Environment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257425"/>
            <a:ext cx="34575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Satellites in Low Earth Orbit face </a:t>
            </a:r>
            <a:r>
              <a:rPr lang="en-US" sz="12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thermal cycling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high solar radiation, and the vacuum of space.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3114675"/>
            <a:ext cx="1133475" cy="266700"/>
          </a:xfrm>
          <a:custGeom>
            <a:avLst/>
            <a:gdLst/>
            <a:ahLst/>
            <a:cxnLst/>
            <a:rect l="l" t="t" r="r" b="b"/>
            <a:pathLst>
              <a:path w="1133475" h="266700">
                <a:moveTo>
                  <a:pt x="133350" y="0"/>
                </a:moveTo>
                <a:lnTo>
                  <a:pt x="1000125" y="0"/>
                </a:lnTo>
                <a:cubicBezTo>
                  <a:pt x="1073723" y="0"/>
                  <a:pt x="1133475" y="59752"/>
                  <a:pt x="1133475" y="133350"/>
                </a:cubicBezTo>
                <a:lnTo>
                  <a:pt x="1133475" y="133350"/>
                </a:lnTo>
                <a:cubicBezTo>
                  <a:pt x="1133475" y="206948"/>
                  <a:pt x="1073723" y="266700"/>
                  <a:pt x="1000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42925" y="3044190"/>
            <a:ext cx="1517650" cy="337185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-150°C to +120°C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48582" y="3114675"/>
            <a:ext cx="904875" cy="266700"/>
          </a:xfrm>
          <a:custGeom>
            <a:avLst/>
            <a:gdLst/>
            <a:ahLst/>
            <a:cxnLst/>
            <a:rect l="l" t="t" r="r" b="b"/>
            <a:pathLst>
              <a:path w="904875" h="266700">
                <a:moveTo>
                  <a:pt x="133350" y="0"/>
                </a:moveTo>
                <a:lnTo>
                  <a:pt x="771525" y="0"/>
                </a:lnTo>
                <a:cubicBezTo>
                  <a:pt x="845123" y="0"/>
                  <a:pt x="904875" y="59752"/>
                  <a:pt x="904875" y="133350"/>
                </a:cubicBezTo>
                <a:lnTo>
                  <a:pt x="904875" y="133350"/>
                </a:lnTo>
                <a:cubicBezTo>
                  <a:pt x="904875" y="206948"/>
                  <a:pt x="845123" y="266700"/>
                  <a:pt x="771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748582" y="3114675"/>
            <a:ext cx="9715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UV Radiation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6513" y="1185863"/>
            <a:ext cx="3695700" cy="2352675"/>
          </a:xfrm>
          <a:custGeom>
            <a:avLst/>
            <a:gdLst/>
            <a:ahLst/>
            <a:cxnLst/>
            <a:rect l="l" t="t" r="r" b="b"/>
            <a:pathLst>
              <a:path w="3695700" h="2352675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238382"/>
                </a:lnTo>
                <a:cubicBezTo>
                  <a:pt x="3695700" y="2301504"/>
                  <a:pt x="3644529" y="2352675"/>
                  <a:pt x="3581407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3675" y="134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25119" y="1476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18" name="Text 16"/>
          <p:cNvSpPr/>
          <p:nvPr/>
        </p:nvSpPr>
        <p:spPr>
          <a:xfrm>
            <a:off x="4403675" y="1914525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Signal Problem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03675" y="2257425"/>
            <a:ext cx="34575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Shielding materials must protect hardware 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blocking or distorting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critical high-frequency communication signals.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03675" y="3114675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403675" y="3114675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1-40 GHz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5527" y="3114675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165527" y="3114675"/>
            <a:ext cx="7620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Loss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7263" y="1185863"/>
            <a:ext cx="3695700" cy="2352675"/>
          </a:xfrm>
          <a:custGeom>
            <a:avLst/>
            <a:gdLst/>
            <a:ahLst/>
            <a:cxnLst/>
            <a:rect l="l" t="t" r="r" b="b"/>
            <a:pathLst>
              <a:path w="3695700" h="2352675">
                <a:moveTo>
                  <a:pt x="114293" y="0"/>
                </a:moveTo>
                <a:lnTo>
                  <a:pt x="3581407" y="0"/>
                </a:lnTo>
                <a:cubicBezTo>
                  <a:pt x="3644529" y="0"/>
                  <a:pt x="3695700" y="51171"/>
                  <a:pt x="3695700" y="114293"/>
                </a:cubicBezTo>
                <a:lnTo>
                  <a:pt x="3695700" y="2238382"/>
                </a:lnTo>
                <a:cubicBezTo>
                  <a:pt x="3695700" y="2301504"/>
                  <a:pt x="3644529" y="2352675"/>
                  <a:pt x="3581407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10000"/>
                </a:srgbClr>
              </a:gs>
              <a:gs pos="100000">
                <a:srgbClr val="4A5568">
                  <a:alpha val="5000"/>
                </a:srgbClr>
              </a:gs>
            </a:gsLst>
            <a:lin ang="2700000" scaled="1"/>
          </a:gradFill>
          <a:ln w="1270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4426" y="13430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8373963" y="14763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8264426" y="1914525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Polymer Compromise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4426" y="2257425"/>
            <a:ext cx="34575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polymers either have </a:t>
            </a: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heat resistance but poor signal transmission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 excellent signal properties but low thermal endurance.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4426" y="3114675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133350" y="0"/>
                </a:moveTo>
                <a:lnTo>
                  <a:pt x="571500" y="0"/>
                </a:lnTo>
                <a:cubicBezTo>
                  <a:pt x="645098" y="0"/>
                  <a:pt x="704850" y="59752"/>
                  <a:pt x="704850" y="133350"/>
                </a:cubicBezTo>
                <a:lnTo>
                  <a:pt x="704850" y="133350"/>
                </a:lnTo>
                <a:cubicBezTo>
                  <a:pt x="704850" y="206948"/>
                  <a:pt x="645098" y="266700"/>
                  <a:pt x="5715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8264426" y="3114675"/>
            <a:ext cx="7715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42946" y="3114675"/>
            <a:ext cx="1133475" cy="266700"/>
          </a:xfrm>
          <a:custGeom>
            <a:avLst/>
            <a:gdLst/>
            <a:ahLst/>
            <a:cxnLst/>
            <a:rect l="l" t="t" r="r" b="b"/>
            <a:pathLst>
              <a:path w="1133475" h="266700">
                <a:moveTo>
                  <a:pt x="133350" y="0"/>
                </a:moveTo>
                <a:lnTo>
                  <a:pt x="1000125" y="0"/>
                </a:lnTo>
                <a:cubicBezTo>
                  <a:pt x="1073723" y="0"/>
                  <a:pt x="1133475" y="59752"/>
                  <a:pt x="1133475" y="133350"/>
                </a:cubicBezTo>
                <a:lnTo>
                  <a:pt x="1133475" y="133350"/>
                </a:lnTo>
                <a:cubicBezTo>
                  <a:pt x="1133475" y="206948"/>
                  <a:pt x="1073723" y="266700"/>
                  <a:pt x="1000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9042946" y="3114675"/>
            <a:ext cx="12001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Ideal Material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5763" y="3662362"/>
            <a:ext cx="11420475" cy="1857375"/>
          </a:xfrm>
          <a:custGeom>
            <a:avLst/>
            <a:gdLst/>
            <a:ahLst/>
            <a:cxnLst/>
            <a:rect l="l" t="t" r="r" b="b"/>
            <a:pathLst>
              <a:path w="11420475" h="185737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1743072"/>
                </a:lnTo>
                <a:cubicBezTo>
                  <a:pt x="11420475" y="1806158"/>
                  <a:pt x="11369258" y="1857375"/>
                  <a:pt x="11306172" y="1857375"/>
                </a:cubicBezTo>
                <a:lnTo>
                  <a:pt x="114303" y="1857375"/>
                </a:lnTo>
                <a:cubicBezTo>
                  <a:pt x="51217" y="1857375"/>
                  <a:pt x="0" y="1806158"/>
                  <a:pt x="0" y="17430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20000"/>
                </a:srgbClr>
              </a:gs>
              <a:gs pos="50000">
                <a:srgbClr val="00D9C0">
                  <a:alpha val="20000"/>
                </a:srgbClr>
              </a:gs>
              <a:gs pos="100000">
                <a:srgbClr val="3A8DFF">
                  <a:alpha val="20000"/>
                </a:srgbClr>
              </a:gs>
            </a:gsLst>
            <a:lin ang="0" scaled="1"/>
          </a:gradFill>
          <a:ln w="12700">
            <a:solidFill>
              <a:srgbClr val="3A8D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1025" y="38576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5" name="Shape 33"/>
          <p:cNvSpPr/>
          <p:nvPr/>
        </p:nvSpPr>
        <p:spPr>
          <a:xfrm>
            <a:off x="762000" y="40100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1266825" y="3857625"/>
            <a:ext cx="104584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 Inverse Design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66825" y="4238625"/>
            <a:ext cx="104203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chemical informatics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"inverse design" custom polymer variations tailored specifically for space applications.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66825" y="4600575"/>
            <a:ext cx="2505075" cy="723900"/>
          </a:xfrm>
          <a:custGeom>
            <a:avLst/>
            <a:gdLst/>
            <a:ahLst/>
            <a:cxnLst/>
            <a:rect l="l" t="t" r="r" b="b"/>
            <a:pathLst>
              <a:path w="2505075" h="723900">
                <a:moveTo>
                  <a:pt x="76198" y="0"/>
                </a:moveTo>
                <a:lnTo>
                  <a:pt x="2428877" y="0"/>
                </a:lnTo>
                <a:cubicBezTo>
                  <a:pt x="2470932" y="0"/>
                  <a:pt x="2505075" y="34143"/>
                  <a:pt x="2505075" y="76198"/>
                </a:cubicBezTo>
                <a:lnTo>
                  <a:pt x="2505075" y="647702"/>
                </a:lnTo>
                <a:cubicBezTo>
                  <a:pt x="2505075" y="689757"/>
                  <a:pt x="2470932" y="723900"/>
                  <a:pt x="2428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333500" y="471487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47788" y="5019675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Samples/Polymer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81438" y="4600575"/>
            <a:ext cx="2505075" cy="723900"/>
          </a:xfrm>
          <a:custGeom>
            <a:avLst/>
            <a:gdLst/>
            <a:ahLst/>
            <a:cxnLst/>
            <a:rect l="l" t="t" r="r" b="b"/>
            <a:pathLst>
              <a:path w="2505075" h="723900">
                <a:moveTo>
                  <a:pt x="76198" y="0"/>
                </a:moveTo>
                <a:lnTo>
                  <a:pt x="2428877" y="0"/>
                </a:lnTo>
                <a:cubicBezTo>
                  <a:pt x="2470932" y="0"/>
                  <a:pt x="2505075" y="34143"/>
                  <a:pt x="2505075" y="76198"/>
                </a:cubicBezTo>
                <a:lnTo>
                  <a:pt x="2505075" y="647702"/>
                </a:lnTo>
                <a:cubicBezTo>
                  <a:pt x="2505075" y="689757"/>
                  <a:pt x="2470932" y="723900"/>
                  <a:pt x="2428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3948112" y="471487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962400" y="5019675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96050" y="4600575"/>
            <a:ext cx="2505075" cy="723900"/>
          </a:xfrm>
          <a:custGeom>
            <a:avLst/>
            <a:gdLst/>
            <a:ahLst/>
            <a:cxnLst/>
            <a:rect l="l" t="t" r="r" b="b"/>
            <a:pathLst>
              <a:path w="2505075" h="723900">
                <a:moveTo>
                  <a:pt x="76198" y="0"/>
                </a:moveTo>
                <a:lnTo>
                  <a:pt x="2428877" y="0"/>
                </a:lnTo>
                <a:cubicBezTo>
                  <a:pt x="2470932" y="0"/>
                  <a:pt x="2505075" y="34143"/>
                  <a:pt x="2505075" y="76198"/>
                </a:cubicBezTo>
                <a:lnTo>
                  <a:pt x="2505075" y="647702"/>
                </a:lnTo>
                <a:cubicBezTo>
                  <a:pt x="2505075" y="689757"/>
                  <a:pt x="2470932" y="723900"/>
                  <a:pt x="2428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562725" y="471487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77013" y="5019675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Polymers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10663" y="4600575"/>
            <a:ext cx="2505075" cy="723900"/>
          </a:xfrm>
          <a:custGeom>
            <a:avLst/>
            <a:gdLst/>
            <a:ahLst/>
            <a:cxnLst/>
            <a:rect l="l" t="t" r="r" b="b"/>
            <a:pathLst>
              <a:path w="2505075" h="723900">
                <a:moveTo>
                  <a:pt x="76198" y="0"/>
                </a:moveTo>
                <a:lnTo>
                  <a:pt x="2428877" y="0"/>
                </a:lnTo>
                <a:cubicBezTo>
                  <a:pt x="2470932" y="0"/>
                  <a:pt x="2505075" y="34143"/>
                  <a:pt x="2505075" y="76198"/>
                </a:cubicBezTo>
                <a:lnTo>
                  <a:pt x="2505075" y="647702"/>
                </a:lnTo>
                <a:cubicBezTo>
                  <a:pt x="2505075" y="689757"/>
                  <a:pt x="2470932" y="723900"/>
                  <a:pt x="24288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9177338" y="4714875"/>
            <a:ext cx="2371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191625" y="5019675"/>
            <a:ext cx="2343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47688" y="533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6248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751967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Foundational Data &amp; Feature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47763"/>
            <a:ext cx="5629275" cy="2752725"/>
          </a:xfrm>
          <a:custGeom>
            <a:avLst/>
            <a:gdLst/>
            <a:ahLst/>
            <a:cxnLst/>
            <a:rect l="l" t="t" r="r" b="b"/>
            <a:pathLst>
              <a:path w="5629275" h="2752725">
                <a:moveTo>
                  <a:pt x="114293" y="0"/>
                </a:moveTo>
                <a:lnTo>
                  <a:pt x="5514982" y="0"/>
                </a:lnTo>
                <a:cubicBezTo>
                  <a:pt x="5578062" y="0"/>
                  <a:pt x="5629275" y="51213"/>
                  <a:pt x="5629275" y="114293"/>
                </a:cubicBezTo>
                <a:lnTo>
                  <a:pt x="5629275" y="2638432"/>
                </a:lnTo>
                <a:cubicBezTo>
                  <a:pt x="5629275" y="2701512"/>
                  <a:pt x="5578062" y="2752725"/>
                  <a:pt x="551498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323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76275" y="1457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9" name="Text 7"/>
          <p:cNvSpPr/>
          <p:nvPr/>
        </p:nvSpPr>
        <p:spPr>
          <a:xfrm>
            <a:off x="1114425" y="1304925"/>
            <a:ext cx="2752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Scale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425" y="1571625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morphological sampling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1914525"/>
            <a:ext cx="2600325" cy="990600"/>
          </a:xfrm>
          <a:custGeom>
            <a:avLst/>
            <a:gdLst/>
            <a:ahLst/>
            <a:cxnLst/>
            <a:rect l="l" t="t" r="r" b="b"/>
            <a:pathLst>
              <a:path w="2600325" h="990600">
                <a:moveTo>
                  <a:pt x="76197" y="0"/>
                </a:moveTo>
                <a:lnTo>
                  <a:pt x="2524128" y="0"/>
                </a:lnTo>
                <a:cubicBezTo>
                  <a:pt x="2566210" y="0"/>
                  <a:pt x="2600325" y="34115"/>
                  <a:pt x="2600325" y="76197"/>
                </a:cubicBezTo>
                <a:lnTo>
                  <a:pt x="2600325" y="914403"/>
                </a:lnTo>
                <a:cubicBezTo>
                  <a:pt x="2600325" y="956485"/>
                  <a:pt x="2566210" y="990600"/>
                  <a:pt x="25241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585788" y="2028825"/>
            <a:ext cx="2514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888" y="2409825"/>
            <a:ext cx="2438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Samples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650" y="2638425"/>
            <a:ext cx="24288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240 × 3 polymers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57550" y="1914525"/>
            <a:ext cx="2600325" cy="990600"/>
          </a:xfrm>
          <a:custGeom>
            <a:avLst/>
            <a:gdLst/>
            <a:ahLst/>
            <a:cxnLst/>
            <a:rect l="l" t="t" r="r" b="b"/>
            <a:pathLst>
              <a:path w="2600325" h="990600">
                <a:moveTo>
                  <a:pt x="76197" y="0"/>
                </a:moveTo>
                <a:lnTo>
                  <a:pt x="2524128" y="0"/>
                </a:lnTo>
                <a:cubicBezTo>
                  <a:pt x="2566210" y="0"/>
                  <a:pt x="2600325" y="34115"/>
                  <a:pt x="2600325" y="76197"/>
                </a:cubicBezTo>
                <a:lnTo>
                  <a:pt x="2600325" y="914403"/>
                </a:lnTo>
                <a:cubicBezTo>
                  <a:pt x="2600325" y="956485"/>
                  <a:pt x="2566210" y="990600"/>
                  <a:pt x="25241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300413" y="2028825"/>
            <a:ext cx="2514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8513" y="2409825"/>
            <a:ext cx="2438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Features/Sample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43275" y="2638425"/>
            <a:ext cx="24288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Pre-optimization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963" y="1147763"/>
            <a:ext cx="5629275" cy="2752725"/>
          </a:xfrm>
          <a:custGeom>
            <a:avLst/>
            <a:gdLst/>
            <a:ahLst/>
            <a:cxnLst/>
            <a:rect l="l" t="t" r="r" b="b"/>
            <a:pathLst>
              <a:path w="5629275" h="2752725">
                <a:moveTo>
                  <a:pt x="114293" y="0"/>
                </a:moveTo>
                <a:lnTo>
                  <a:pt x="5514982" y="0"/>
                </a:lnTo>
                <a:cubicBezTo>
                  <a:pt x="5578062" y="0"/>
                  <a:pt x="5629275" y="51213"/>
                  <a:pt x="5629275" y="114293"/>
                </a:cubicBezTo>
                <a:lnTo>
                  <a:pt x="5629275" y="2638432"/>
                </a:lnTo>
                <a:cubicBezTo>
                  <a:pt x="5629275" y="2701512"/>
                  <a:pt x="5578062" y="2752725"/>
                  <a:pt x="5514982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7938" y="1343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21" name="Text 19"/>
          <p:cNvSpPr/>
          <p:nvPr/>
        </p:nvSpPr>
        <p:spPr>
          <a:xfrm>
            <a:off x="6572250" y="1304925"/>
            <a:ext cx="517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4125" y="168592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410325" y="1762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376988" y="176212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1325" y="1800225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Descriptors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96514" y="1800225"/>
            <a:ext cx="257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4125" y="221932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410325" y="2295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376988" y="229552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1325" y="2333625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Latent Dimensions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96514" y="2333625"/>
            <a:ext cx="257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4125" y="275272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410325" y="2828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6376988" y="282892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91325" y="2867025"/>
            <a:ext cx="1571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Physics/Morphological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96514" y="2867025"/>
            <a:ext cx="257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4125" y="3286125"/>
            <a:ext cx="5314950" cy="457200"/>
          </a:xfrm>
          <a:custGeom>
            <a:avLst/>
            <a:gdLst/>
            <a:ahLst/>
            <a:cxnLst/>
            <a:rect l="l" t="t" r="r" b="b"/>
            <a:pathLst>
              <a:path w="5314950" h="4572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380998"/>
                </a:lnTo>
                <a:cubicBezTo>
                  <a:pt x="5314950" y="423083"/>
                  <a:pt x="5280833" y="457200"/>
                  <a:pt x="52387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410325" y="3362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376988" y="336232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91325" y="3400425"/>
            <a:ext cx="139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Morgan Fingerprints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411396" y="3400425"/>
            <a:ext cx="238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4024313"/>
            <a:ext cx="2762250" cy="1457325"/>
          </a:xfrm>
          <a:custGeom>
            <a:avLst/>
            <a:gdLst/>
            <a:ahLst/>
            <a:cxnLst/>
            <a:rect l="l" t="t" r="r" b="b"/>
            <a:pathLst>
              <a:path w="2762250" h="1457325">
                <a:moveTo>
                  <a:pt x="114298" y="0"/>
                </a:moveTo>
                <a:lnTo>
                  <a:pt x="2647952" y="0"/>
                </a:lnTo>
                <a:cubicBezTo>
                  <a:pt x="2711035" y="0"/>
                  <a:pt x="2762250" y="51215"/>
                  <a:pt x="2762250" y="114298"/>
                </a:cubicBezTo>
                <a:lnTo>
                  <a:pt x="2762250" y="1343027"/>
                </a:lnTo>
                <a:cubicBezTo>
                  <a:pt x="2762250" y="1406110"/>
                  <a:pt x="2711035" y="1457325"/>
                  <a:pt x="2647952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A8DFF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353" y="41719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133543"/>
                </a:moveTo>
                <a:cubicBezTo>
                  <a:pt x="71058" y="135251"/>
                  <a:pt x="67174" y="136792"/>
                  <a:pt x="63323" y="138064"/>
                </a:cubicBezTo>
                <a:cubicBezTo>
                  <a:pt x="68915" y="149383"/>
                  <a:pt x="73703" y="150019"/>
                  <a:pt x="75009" y="150019"/>
                </a:cubicBezTo>
                <a:cubicBezTo>
                  <a:pt x="76315" y="150019"/>
                  <a:pt x="81070" y="149383"/>
                  <a:pt x="86696" y="138064"/>
                </a:cubicBezTo>
                <a:cubicBezTo>
                  <a:pt x="82879" y="136758"/>
                  <a:pt x="78961" y="135251"/>
                  <a:pt x="75009" y="133543"/>
                </a:cubicBezTo>
                <a:close/>
                <a:moveTo>
                  <a:pt x="138633" y="85725"/>
                </a:moveTo>
                <a:cubicBezTo>
                  <a:pt x="149684" y="100861"/>
                  <a:pt x="153468" y="116164"/>
                  <a:pt x="146536" y="128588"/>
                </a:cubicBezTo>
                <a:cubicBezTo>
                  <a:pt x="139772" y="140743"/>
                  <a:pt x="125607" y="145096"/>
                  <a:pt x="107960" y="143054"/>
                </a:cubicBezTo>
                <a:cubicBezTo>
                  <a:pt x="100593" y="160500"/>
                  <a:pt x="89308" y="171450"/>
                  <a:pt x="75009" y="171450"/>
                </a:cubicBezTo>
                <a:cubicBezTo>
                  <a:pt x="60711" y="171450"/>
                  <a:pt x="49426" y="160500"/>
                  <a:pt x="42059" y="143054"/>
                </a:cubicBezTo>
                <a:cubicBezTo>
                  <a:pt x="24412" y="145096"/>
                  <a:pt x="10247" y="140743"/>
                  <a:pt x="3483" y="128588"/>
                </a:cubicBezTo>
                <a:cubicBezTo>
                  <a:pt x="-3449" y="116164"/>
                  <a:pt x="335" y="100861"/>
                  <a:pt x="11385" y="85725"/>
                </a:cubicBezTo>
                <a:cubicBezTo>
                  <a:pt x="335" y="70589"/>
                  <a:pt x="-3449" y="55286"/>
                  <a:pt x="3483" y="42863"/>
                </a:cubicBezTo>
                <a:cubicBezTo>
                  <a:pt x="10247" y="30707"/>
                  <a:pt x="24412" y="26354"/>
                  <a:pt x="42059" y="28396"/>
                </a:cubicBezTo>
                <a:cubicBezTo>
                  <a:pt x="49426" y="10950"/>
                  <a:pt x="60677" y="0"/>
                  <a:pt x="75009" y="0"/>
                </a:cubicBezTo>
                <a:cubicBezTo>
                  <a:pt x="89342" y="0"/>
                  <a:pt x="100593" y="10950"/>
                  <a:pt x="107960" y="28396"/>
                </a:cubicBezTo>
                <a:cubicBezTo>
                  <a:pt x="125607" y="26354"/>
                  <a:pt x="139772" y="30673"/>
                  <a:pt x="146536" y="42863"/>
                </a:cubicBezTo>
                <a:cubicBezTo>
                  <a:pt x="153468" y="55286"/>
                  <a:pt x="149684" y="70589"/>
                  <a:pt x="138633" y="85725"/>
                </a:cubicBezTo>
                <a:close/>
                <a:moveTo>
                  <a:pt x="116599" y="108295"/>
                </a:moveTo>
                <a:cubicBezTo>
                  <a:pt x="116030" y="113050"/>
                  <a:pt x="115293" y="117671"/>
                  <a:pt x="114356" y="122091"/>
                </a:cubicBezTo>
                <a:cubicBezTo>
                  <a:pt x="125004" y="122560"/>
                  <a:pt x="127282" y="119178"/>
                  <a:pt x="127817" y="118173"/>
                </a:cubicBezTo>
                <a:cubicBezTo>
                  <a:pt x="128588" y="116767"/>
                  <a:pt x="130161" y="112179"/>
                  <a:pt x="123832" y="102066"/>
                </a:cubicBezTo>
                <a:cubicBezTo>
                  <a:pt x="121555" y="104176"/>
                  <a:pt x="119144" y="106252"/>
                  <a:pt x="116599" y="108295"/>
                </a:cubicBezTo>
                <a:close/>
                <a:moveTo>
                  <a:pt x="114356" y="49392"/>
                </a:moveTo>
                <a:cubicBezTo>
                  <a:pt x="115293" y="53779"/>
                  <a:pt x="116030" y="58400"/>
                  <a:pt x="116599" y="63189"/>
                </a:cubicBezTo>
                <a:cubicBezTo>
                  <a:pt x="119144" y="65231"/>
                  <a:pt x="121555" y="67308"/>
                  <a:pt x="123832" y="69417"/>
                </a:cubicBezTo>
                <a:cubicBezTo>
                  <a:pt x="130161" y="59304"/>
                  <a:pt x="128588" y="54683"/>
                  <a:pt x="127817" y="53310"/>
                </a:cubicBezTo>
                <a:cubicBezTo>
                  <a:pt x="127282" y="52339"/>
                  <a:pt x="125004" y="48957"/>
                  <a:pt x="114356" y="49392"/>
                </a:cubicBezTo>
                <a:close/>
                <a:moveTo>
                  <a:pt x="86696" y="33386"/>
                </a:moveTo>
                <a:cubicBezTo>
                  <a:pt x="81070" y="22067"/>
                  <a:pt x="76315" y="21431"/>
                  <a:pt x="75009" y="21431"/>
                </a:cubicBezTo>
                <a:cubicBezTo>
                  <a:pt x="73703" y="21431"/>
                  <a:pt x="68948" y="22067"/>
                  <a:pt x="63323" y="33386"/>
                </a:cubicBezTo>
                <a:cubicBezTo>
                  <a:pt x="67140" y="34692"/>
                  <a:pt x="71058" y="36199"/>
                  <a:pt x="75009" y="37907"/>
                </a:cubicBezTo>
                <a:cubicBezTo>
                  <a:pt x="78961" y="36199"/>
                  <a:pt x="82845" y="34658"/>
                  <a:pt x="86696" y="33386"/>
                </a:cubicBezTo>
                <a:close/>
                <a:moveTo>
                  <a:pt x="33453" y="63155"/>
                </a:moveTo>
                <a:cubicBezTo>
                  <a:pt x="34022" y="58367"/>
                  <a:pt x="34759" y="53779"/>
                  <a:pt x="35696" y="49359"/>
                </a:cubicBezTo>
                <a:cubicBezTo>
                  <a:pt x="25048" y="48890"/>
                  <a:pt x="22771" y="52272"/>
                  <a:pt x="22235" y="53277"/>
                </a:cubicBezTo>
                <a:cubicBezTo>
                  <a:pt x="21465" y="54683"/>
                  <a:pt x="19891" y="59271"/>
                  <a:pt x="26220" y="69384"/>
                </a:cubicBezTo>
                <a:cubicBezTo>
                  <a:pt x="28497" y="67274"/>
                  <a:pt x="30908" y="65198"/>
                  <a:pt x="33453" y="63155"/>
                </a:cubicBezTo>
                <a:close/>
                <a:moveTo>
                  <a:pt x="26186" y="102066"/>
                </a:moveTo>
                <a:cubicBezTo>
                  <a:pt x="19857" y="112179"/>
                  <a:pt x="21431" y="116800"/>
                  <a:pt x="22201" y="118173"/>
                </a:cubicBezTo>
                <a:cubicBezTo>
                  <a:pt x="22737" y="119144"/>
                  <a:pt x="25014" y="122526"/>
                  <a:pt x="35663" y="122091"/>
                </a:cubicBezTo>
                <a:cubicBezTo>
                  <a:pt x="34725" y="117704"/>
                  <a:pt x="33989" y="113083"/>
                  <a:pt x="33419" y="108295"/>
                </a:cubicBezTo>
                <a:cubicBezTo>
                  <a:pt x="30874" y="106252"/>
                  <a:pt x="28463" y="104176"/>
                  <a:pt x="26186" y="102066"/>
                </a:cubicBezTo>
                <a:close/>
                <a:moveTo>
                  <a:pt x="101798" y="85725"/>
                </a:moveTo>
                <a:cubicBezTo>
                  <a:pt x="101798" y="70940"/>
                  <a:pt x="89795" y="58936"/>
                  <a:pt x="75009" y="58936"/>
                </a:cubicBezTo>
                <a:cubicBezTo>
                  <a:pt x="60224" y="58936"/>
                  <a:pt x="48220" y="70940"/>
                  <a:pt x="48220" y="85725"/>
                </a:cubicBezTo>
                <a:cubicBezTo>
                  <a:pt x="48220" y="100510"/>
                  <a:pt x="60224" y="112514"/>
                  <a:pt x="75009" y="112514"/>
                </a:cubicBezTo>
                <a:cubicBezTo>
                  <a:pt x="89795" y="112514"/>
                  <a:pt x="101798" y="100510"/>
                  <a:pt x="101798" y="85725"/>
                </a:cubicBezTo>
                <a:close/>
                <a:moveTo>
                  <a:pt x="75009" y="75009"/>
                </a:moveTo>
                <a:cubicBezTo>
                  <a:pt x="80923" y="75009"/>
                  <a:pt x="85725" y="79811"/>
                  <a:pt x="85725" y="85725"/>
                </a:cubicBezTo>
                <a:cubicBezTo>
                  <a:pt x="85725" y="91639"/>
                  <a:pt x="80923" y="96441"/>
                  <a:pt x="75009" y="96441"/>
                </a:cubicBezTo>
                <a:cubicBezTo>
                  <a:pt x="69095" y="96441"/>
                  <a:pt x="64294" y="91639"/>
                  <a:pt x="64294" y="85725"/>
                </a:cubicBezTo>
                <a:cubicBezTo>
                  <a:pt x="64294" y="79811"/>
                  <a:pt x="69095" y="75009"/>
                  <a:pt x="75009" y="75009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44" name="Text 42"/>
          <p:cNvSpPr/>
          <p:nvPr/>
        </p:nvSpPr>
        <p:spPr>
          <a:xfrm>
            <a:off x="795338" y="4143375"/>
            <a:ext cx="742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4825" y="4448175"/>
            <a:ext cx="259080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RDKit molecular descriptors capturing topology, bonding, and electronic properties.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4825" y="5174456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38100" y="0"/>
                </a:moveTo>
                <a:lnTo>
                  <a:pt x="457200" y="0"/>
                </a:lnTo>
                <a:cubicBezTo>
                  <a:pt x="478228" y="0"/>
                  <a:pt x="495300" y="17072"/>
                  <a:pt x="495300" y="38100"/>
                </a:cubicBezTo>
                <a:lnTo>
                  <a:pt x="495300" y="152400"/>
                </a:lnTo>
                <a:cubicBezTo>
                  <a:pt x="495300" y="173428"/>
                  <a:pt x="478228" y="190500"/>
                  <a:pt x="4572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504825" y="5174456"/>
            <a:ext cx="5524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MolWt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42392" y="5174456"/>
            <a:ext cx="419100" cy="190500"/>
          </a:xfrm>
          <a:custGeom>
            <a:avLst/>
            <a:gdLst/>
            <a:ahLst/>
            <a:cxnLst/>
            <a:rect l="l" t="t" r="r" b="b"/>
            <a:pathLst>
              <a:path w="419100" h="190500">
                <a:moveTo>
                  <a:pt x="38100" y="0"/>
                </a:moveTo>
                <a:lnTo>
                  <a:pt x="381000" y="0"/>
                </a:lnTo>
                <a:cubicBezTo>
                  <a:pt x="402028" y="0"/>
                  <a:pt x="419100" y="17072"/>
                  <a:pt x="419100" y="38100"/>
                </a:cubicBezTo>
                <a:lnTo>
                  <a:pt x="419100" y="152400"/>
                </a:lnTo>
                <a:cubicBezTo>
                  <a:pt x="419100" y="173428"/>
                  <a:pt x="402028" y="190500"/>
                  <a:pt x="381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1042392" y="5174456"/>
            <a:ext cx="4762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Rings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497509" y="5174456"/>
            <a:ext cx="409575" cy="190500"/>
          </a:xfrm>
          <a:custGeom>
            <a:avLst/>
            <a:gdLst/>
            <a:ahLst/>
            <a:cxnLst/>
            <a:rect l="l" t="t" r="r" b="b"/>
            <a:pathLst>
              <a:path w="409575" h="190500">
                <a:moveTo>
                  <a:pt x="38100" y="0"/>
                </a:moveTo>
                <a:lnTo>
                  <a:pt x="371475" y="0"/>
                </a:lnTo>
                <a:cubicBezTo>
                  <a:pt x="392503" y="0"/>
                  <a:pt x="409575" y="17072"/>
                  <a:pt x="409575" y="38100"/>
                </a:cubicBezTo>
                <a:lnTo>
                  <a:pt x="409575" y="152400"/>
                </a:lnTo>
                <a:cubicBezTo>
                  <a:pt x="409575" y="173428"/>
                  <a:pt x="392503" y="190500"/>
                  <a:pt x="3714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1497509" y="5174456"/>
            <a:ext cx="46672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TPSA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945779" y="5174456"/>
            <a:ext cx="390525" cy="190500"/>
          </a:xfrm>
          <a:custGeom>
            <a:avLst/>
            <a:gdLst/>
            <a:ahLst/>
            <a:cxnLst/>
            <a:rect l="l" t="t" r="r" b="b"/>
            <a:pathLst>
              <a:path w="390525" h="190500">
                <a:moveTo>
                  <a:pt x="38100" y="0"/>
                </a:moveTo>
                <a:lnTo>
                  <a:pt x="352425" y="0"/>
                </a:lnTo>
                <a:cubicBezTo>
                  <a:pt x="373453" y="0"/>
                  <a:pt x="390525" y="17072"/>
                  <a:pt x="390525" y="38100"/>
                </a:cubicBezTo>
                <a:lnTo>
                  <a:pt x="390525" y="152400"/>
                </a:lnTo>
                <a:cubicBezTo>
                  <a:pt x="390525" y="173428"/>
                  <a:pt x="373453" y="190500"/>
                  <a:pt x="3524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53" name="Text 51"/>
          <p:cNvSpPr/>
          <p:nvPr/>
        </p:nvSpPr>
        <p:spPr>
          <a:xfrm>
            <a:off x="1945779" y="5174456"/>
            <a:ext cx="44767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LogP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71838" y="4024313"/>
            <a:ext cx="2762250" cy="1457325"/>
          </a:xfrm>
          <a:custGeom>
            <a:avLst/>
            <a:gdLst/>
            <a:ahLst/>
            <a:cxnLst/>
            <a:rect l="l" t="t" r="r" b="b"/>
            <a:pathLst>
              <a:path w="2762250" h="1457325">
                <a:moveTo>
                  <a:pt x="114298" y="0"/>
                </a:moveTo>
                <a:lnTo>
                  <a:pt x="2647952" y="0"/>
                </a:lnTo>
                <a:cubicBezTo>
                  <a:pt x="2711035" y="0"/>
                  <a:pt x="2762250" y="51215"/>
                  <a:pt x="2762250" y="114298"/>
                </a:cubicBezTo>
                <a:lnTo>
                  <a:pt x="2762250" y="1343027"/>
                </a:lnTo>
                <a:cubicBezTo>
                  <a:pt x="2762250" y="1406110"/>
                  <a:pt x="2711035" y="1457325"/>
                  <a:pt x="2647952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00D9C0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14713" y="4171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56" name="Text 54"/>
          <p:cNvSpPr/>
          <p:nvPr/>
        </p:nvSpPr>
        <p:spPr>
          <a:xfrm>
            <a:off x="3681413" y="4143375"/>
            <a:ext cx="504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390900" y="4448175"/>
            <a:ext cx="259080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polyBERT vector embeddings representing learned chemical sequence representations.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390900" y="5174456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38100" y="0"/>
                </a:moveTo>
                <a:lnTo>
                  <a:pt x="495300" y="0"/>
                </a:lnTo>
                <a:cubicBezTo>
                  <a:pt x="516328" y="0"/>
                  <a:pt x="533400" y="17072"/>
                  <a:pt x="533400" y="38100"/>
                </a:cubicBezTo>
                <a:lnTo>
                  <a:pt x="533400" y="152400"/>
                </a:lnTo>
                <a:cubicBezTo>
                  <a:pt x="533400" y="173428"/>
                  <a:pt x="516328" y="190500"/>
                  <a:pt x="4953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3390900" y="5174456"/>
            <a:ext cx="5905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40-dim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958977" y="5174456"/>
            <a:ext cx="714375" cy="190500"/>
          </a:xfrm>
          <a:custGeom>
            <a:avLst/>
            <a:gdLst/>
            <a:ahLst/>
            <a:cxnLst/>
            <a:rect l="l" t="t" r="r" b="b"/>
            <a:pathLst>
              <a:path w="714375" h="190500">
                <a:moveTo>
                  <a:pt x="38100" y="0"/>
                </a:moveTo>
                <a:lnTo>
                  <a:pt x="676275" y="0"/>
                </a:lnTo>
                <a:cubicBezTo>
                  <a:pt x="697303" y="0"/>
                  <a:pt x="714375" y="17072"/>
                  <a:pt x="714375" y="38100"/>
                </a:cubicBezTo>
                <a:lnTo>
                  <a:pt x="714375" y="152400"/>
                </a:lnTo>
                <a:cubicBezTo>
                  <a:pt x="714375" y="173428"/>
                  <a:pt x="697303" y="190500"/>
                  <a:pt x="6762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3958977" y="5174456"/>
            <a:ext cx="77152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709815" y="5174456"/>
            <a:ext cx="685800" cy="190500"/>
          </a:xfrm>
          <a:custGeom>
            <a:avLst/>
            <a:gdLst/>
            <a:ahLst/>
            <a:cxnLst/>
            <a:rect l="l" t="t" r="r" b="b"/>
            <a:pathLst>
              <a:path w="685800" h="190500">
                <a:moveTo>
                  <a:pt x="38100" y="0"/>
                </a:moveTo>
                <a:lnTo>
                  <a:pt x="647700" y="0"/>
                </a:lnTo>
                <a:cubicBezTo>
                  <a:pt x="668728" y="0"/>
                  <a:pt x="685800" y="17072"/>
                  <a:pt x="685800" y="38100"/>
                </a:cubicBezTo>
                <a:lnTo>
                  <a:pt x="685800" y="152400"/>
                </a:lnTo>
                <a:cubicBezTo>
                  <a:pt x="685800" y="173428"/>
                  <a:pt x="668728" y="190500"/>
                  <a:pt x="6477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4709815" y="5174456"/>
            <a:ext cx="7429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57913" y="4024313"/>
            <a:ext cx="2762250" cy="1457325"/>
          </a:xfrm>
          <a:custGeom>
            <a:avLst/>
            <a:gdLst/>
            <a:ahLst/>
            <a:cxnLst/>
            <a:rect l="l" t="t" r="r" b="b"/>
            <a:pathLst>
              <a:path w="2762250" h="1457325">
                <a:moveTo>
                  <a:pt x="114298" y="0"/>
                </a:moveTo>
                <a:lnTo>
                  <a:pt x="2647952" y="0"/>
                </a:lnTo>
                <a:cubicBezTo>
                  <a:pt x="2711035" y="0"/>
                  <a:pt x="2762250" y="51215"/>
                  <a:pt x="2762250" y="114298"/>
                </a:cubicBezTo>
                <a:lnTo>
                  <a:pt x="2762250" y="1343027"/>
                </a:lnTo>
                <a:cubicBezTo>
                  <a:pt x="2762250" y="1406110"/>
                  <a:pt x="2711035" y="1457325"/>
                  <a:pt x="2647952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A8DFF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0788" y="4171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3A8DFF"/>
          </a:solidFill>
        </p:spPr>
      </p:sp>
      <p:sp>
        <p:nvSpPr>
          <p:cNvPr id="66" name="Text 64"/>
          <p:cNvSpPr/>
          <p:nvPr/>
        </p:nvSpPr>
        <p:spPr>
          <a:xfrm>
            <a:off x="6567488" y="4143375"/>
            <a:ext cx="600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276975" y="4448175"/>
            <a:ext cx="259080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Morphological limits including crystallinity, free volume, and chain rigidity.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276975" y="4957763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38100" y="0"/>
                </a:moveTo>
                <a:lnTo>
                  <a:pt x="295275" y="0"/>
                </a:lnTo>
                <a:cubicBezTo>
                  <a:pt x="316303" y="0"/>
                  <a:pt x="333375" y="17072"/>
                  <a:pt x="333375" y="38100"/>
                </a:cubicBezTo>
                <a:lnTo>
                  <a:pt x="333375" y="152400"/>
                </a:lnTo>
                <a:cubicBezTo>
                  <a:pt x="333375" y="173428"/>
                  <a:pt x="316303" y="190500"/>
                  <a:pt x="2952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6276975" y="4957763"/>
            <a:ext cx="39052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FVF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650831" y="4957763"/>
            <a:ext cx="504825" cy="190500"/>
          </a:xfrm>
          <a:custGeom>
            <a:avLst/>
            <a:gdLst/>
            <a:ahLst/>
            <a:cxnLst/>
            <a:rect l="l" t="t" r="r" b="b"/>
            <a:pathLst>
              <a:path w="504825" h="190500">
                <a:moveTo>
                  <a:pt x="38100" y="0"/>
                </a:moveTo>
                <a:lnTo>
                  <a:pt x="466725" y="0"/>
                </a:lnTo>
                <a:cubicBezTo>
                  <a:pt x="487753" y="0"/>
                  <a:pt x="504825" y="17072"/>
                  <a:pt x="504825" y="38100"/>
                </a:cubicBezTo>
                <a:lnTo>
                  <a:pt x="504825" y="152400"/>
                </a:lnTo>
                <a:cubicBezTo>
                  <a:pt x="504825" y="173428"/>
                  <a:pt x="487753" y="190500"/>
                  <a:pt x="4667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71" name="Text 69"/>
          <p:cNvSpPr/>
          <p:nvPr/>
        </p:nvSpPr>
        <p:spPr>
          <a:xfrm>
            <a:off x="6650831" y="4957763"/>
            <a:ext cx="56197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Cryst%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194649" y="4957763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38100" y="0"/>
                </a:moveTo>
                <a:lnTo>
                  <a:pt x="476250" y="0"/>
                </a:lnTo>
                <a:cubicBezTo>
                  <a:pt x="497278" y="0"/>
                  <a:pt x="514350" y="17072"/>
                  <a:pt x="514350" y="38100"/>
                </a:cubicBezTo>
                <a:lnTo>
                  <a:pt x="514350" y="152400"/>
                </a:lnTo>
                <a:cubicBezTo>
                  <a:pt x="514350" y="173428"/>
                  <a:pt x="497278" y="190500"/>
                  <a:pt x="4762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73" name="Text 71"/>
          <p:cNvSpPr/>
          <p:nvPr/>
        </p:nvSpPr>
        <p:spPr>
          <a:xfrm>
            <a:off x="7194649" y="4957763"/>
            <a:ext cx="57150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Rigidity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43988" y="4024313"/>
            <a:ext cx="2762250" cy="1457325"/>
          </a:xfrm>
          <a:custGeom>
            <a:avLst/>
            <a:gdLst/>
            <a:ahLst/>
            <a:cxnLst/>
            <a:rect l="l" t="t" r="r" b="b"/>
            <a:pathLst>
              <a:path w="2762250" h="1457325">
                <a:moveTo>
                  <a:pt x="114298" y="0"/>
                </a:moveTo>
                <a:lnTo>
                  <a:pt x="2647952" y="0"/>
                </a:lnTo>
                <a:cubicBezTo>
                  <a:pt x="2711035" y="0"/>
                  <a:pt x="2762250" y="51215"/>
                  <a:pt x="2762250" y="114298"/>
                </a:cubicBezTo>
                <a:lnTo>
                  <a:pt x="2762250" y="1343027"/>
                </a:lnTo>
                <a:cubicBezTo>
                  <a:pt x="2762250" y="1406110"/>
                  <a:pt x="2711035" y="1457325"/>
                  <a:pt x="2647952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00D9C0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86863" y="4171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85725"/>
                </a:moveTo>
                <a:cubicBezTo>
                  <a:pt x="16073" y="47249"/>
                  <a:pt x="47249" y="16073"/>
                  <a:pt x="85725" y="16073"/>
                </a:cubicBezTo>
                <a:cubicBezTo>
                  <a:pt x="106855" y="16073"/>
                  <a:pt x="125775" y="25483"/>
                  <a:pt x="138566" y="40351"/>
                </a:cubicBezTo>
                <a:cubicBezTo>
                  <a:pt x="141446" y="43733"/>
                  <a:pt x="146536" y="44101"/>
                  <a:pt x="149885" y="41222"/>
                </a:cubicBezTo>
                <a:cubicBezTo>
                  <a:pt x="153233" y="38342"/>
                  <a:pt x="153635" y="33252"/>
                  <a:pt x="150755" y="29903"/>
                </a:cubicBezTo>
                <a:cubicBezTo>
                  <a:pt x="135050" y="11586"/>
                  <a:pt x="111744" y="0"/>
                  <a:pt x="85725" y="0"/>
                </a:cubicBezTo>
                <a:cubicBezTo>
                  <a:pt x="38375" y="0"/>
                  <a:pt x="0" y="38375"/>
                  <a:pt x="0" y="85725"/>
                </a:cubicBezTo>
                <a:lnTo>
                  <a:pt x="0" y="99120"/>
                </a:lnTo>
                <a:cubicBezTo>
                  <a:pt x="0" y="103573"/>
                  <a:pt x="3583" y="107156"/>
                  <a:pt x="8037" y="107156"/>
                </a:cubicBezTo>
                <a:cubicBezTo>
                  <a:pt x="12490" y="107156"/>
                  <a:pt x="16073" y="103573"/>
                  <a:pt x="16073" y="99120"/>
                </a:cubicBezTo>
                <a:lnTo>
                  <a:pt x="16073" y="85725"/>
                </a:lnTo>
                <a:close/>
                <a:moveTo>
                  <a:pt x="169608" y="68011"/>
                </a:moveTo>
                <a:cubicBezTo>
                  <a:pt x="168704" y="63658"/>
                  <a:pt x="164418" y="60878"/>
                  <a:pt x="160098" y="61816"/>
                </a:cubicBezTo>
                <a:cubicBezTo>
                  <a:pt x="155778" y="62753"/>
                  <a:pt x="152966" y="67006"/>
                  <a:pt x="153903" y="71326"/>
                </a:cubicBezTo>
                <a:cubicBezTo>
                  <a:pt x="154874" y="75980"/>
                  <a:pt x="155410" y="80803"/>
                  <a:pt x="155410" y="85758"/>
                </a:cubicBezTo>
                <a:lnTo>
                  <a:pt x="155410" y="99153"/>
                </a:lnTo>
                <a:cubicBezTo>
                  <a:pt x="155410" y="103607"/>
                  <a:pt x="158993" y="107190"/>
                  <a:pt x="163447" y="107190"/>
                </a:cubicBezTo>
                <a:cubicBezTo>
                  <a:pt x="167900" y="107190"/>
                  <a:pt x="171483" y="103607"/>
                  <a:pt x="171483" y="99153"/>
                </a:cubicBezTo>
                <a:lnTo>
                  <a:pt x="171483" y="85758"/>
                </a:lnTo>
                <a:cubicBezTo>
                  <a:pt x="171483" y="79697"/>
                  <a:pt x="170847" y="73770"/>
                  <a:pt x="169642" y="68044"/>
                </a:cubicBezTo>
                <a:close/>
                <a:moveTo>
                  <a:pt x="85725" y="26789"/>
                </a:moveTo>
                <a:cubicBezTo>
                  <a:pt x="79363" y="26789"/>
                  <a:pt x="73201" y="27794"/>
                  <a:pt x="67475" y="29669"/>
                </a:cubicBezTo>
                <a:cubicBezTo>
                  <a:pt x="62385" y="31343"/>
                  <a:pt x="61213" y="37605"/>
                  <a:pt x="64696" y="41690"/>
                </a:cubicBezTo>
                <a:cubicBezTo>
                  <a:pt x="67073" y="44470"/>
                  <a:pt x="70991" y="45307"/>
                  <a:pt x="74541" y="44336"/>
                </a:cubicBezTo>
                <a:cubicBezTo>
                  <a:pt x="78090" y="43365"/>
                  <a:pt x="81841" y="42863"/>
                  <a:pt x="85725" y="42863"/>
                </a:cubicBezTo>
                <a:cubicBezTo>
                  <a:pt x="109400" y="42863"/>
                  <a:pt x="128588" y="62050"/>
                  <a:pt x="128588" y="85725"/>
                </a:cubicBezTo>
                <a:lnTo>
                  <a:pt x="128588" y="94063"/>
                </a:lnTo>
                <a:cubicBezTo>
                  <a:pt x="128588" y="102502"/>
                  <a:pt x="128085" y="110907"/>
                  <a:pt x="127114" y="119278"/>
                </a:cubicBezTo>
                <a:cubicBezTo>
                  <a:pt x="126545" y="124167"/>
                  <a:pt x="130262" y="128588"/>
                  <a:pt x="135218" y="128588"/>
                </a:cubicBezTo>
                <a:cubicBezTo>
                  <a:pt x="139169" y="128588"/>
                  <a:pt x="142551" y="125708"/>
                  <a:pt x="143020" y="121790"/>
                </a:cubicBezTo>
                <a:cubicBezTo>
                  <a:pt x="144125" y="112615"/>
                  <a:pt x="144694" y="103372"/>
                  <a:pt x="144694" y="94097"/>
                </a:cubicBezTo>
                <a:lnTo>
                  <a:pt x="144694" y="85758"/>
                </a:lnTo>
                <a:cubicBezTo>
                  <a:pt x="144694" y="53210"/>
                  <a:pt x="118307" y="26823"/>
                  <a:pt x="85758" y="26823"/>
                </a:cubicBezTo>
                <a:close/>
                <a:moveTo>
                  <a:pt x="50464" y="49794"/>
                </a:moveTo>
                <a:cubicBezTo>
                  <a:pt x="47417" y="46245"/>
                  <a:pt x="41992" y="45977"/>
                  <a:pt x="39112" y="49660"/>
                </a:cubicBezTo>
                <a:cubicBezTo>
                  <a:pt x="31377" y="59639"/>
                  <a:pt x="26789" y="72130"/>
                  <a:pt x="26789" y="85725"/>
                </a:cubicBezTo>
                <a:lnTo>
                  <a:pt x="26789" y="94063"/>
                </a:lnTo>
                <a:cubicBezTo>
                  <a:pt x="26789" y="102167"/>
                  <a:pt x="25918" y="110270"/>
                  <a:pt x="24177" y="118140"/>
                </a:cubicBezTo>
                <a:cubicBezTo>
                  <a:pt x="23039" y="123364"/>
                  <a:pt x="26823" y="128554"/>
                  <a:pt x="32180" y="128554"/>
                </a:cubicBezTo>
                <a:cubicBezTo>
                  <a:pt x="35696" y="128554"/>
                  <a:pt x="38844" y="126210"/>
                  <a:pt x="39614" y="122761"/>
                </a:cubicBezTo>
                <a:cubicBezTo>
                  <a:pt x="41757" y="113351"/>
                  <a:pt x="42863" y="103741"/>
                  <a:pt x="42863" y="94030"/>
                </a:cubicBezTo>
                <a:lnTo>
                  <a:pt x="42863" y="85692"/>
                </a:lnTo>
                <a:cubicBezTo>
                  <a:pt x="42863" y="76583"/>
                  <a:pt x="45709" y="68145"/>
                  <a:pt x="50531" y="61213"/>
                </a:cubicBezTo>
                <a:cubicBezTo>
                  <a:pt x="52942" y="57730"/>
                  <a:pt x="53210" y="52975"/>
                  <a:pt x="50464" y="49761"/>
                </a:cubicBezTo>
                <a:close/>
                <a:moveTo>
                  <a:pt x="85725" y="53578"/>
                </a:moveTo>
                <a:cubicBezTo>
                  <a:pt x="67977" y="53578"/>
                  <a:pt x="53578" y="67977"/>
                  <a:pt x="53578" y="85725"/>
                </a:cubicBezTo>
                <a:lnTo>
                  <a:pt x="53578" y="94063"/>
                </a:lnTo>
                <a:cubicBezTo>
                  <a:pt x="53578" y="106085"/>
                  <a:pt x="52038" y="118006"/>
                  <a:pt x="48957" y="129592"/>
                </a:cubicBezTo>
                <a:cubicBezTo>
                  <a:pt x="47685" y="134381"/>
                  <a:pt x="51201" y="139303"/>
                  <a:pt x="56157" y="139303"/>
                </a:cubicBezTo>
                <a:cubicBezTo>
                  <a:pt x="59338" y="139303"/>
                  <a:pt x="62151" y="137227"/>
                  <a:pt x="62988" y="134146"/>
                </a:cubicBezTo>
                <a:cubicBezTo>
                  <a:pt x="66504" y="121087"/>
                  <a:pt x="68312" y="107625"/>
                  <a:pt x="68312" y="94063"/>
                </a:cubicBezTo>
                <a:lnTo>
                  <a:pt x="68312" y="85725"/>
                </a:lnTo>
                <a:cubicBezTo>
                  <a:pt x="68312" y="76114"/>
                  <a:pt x="76114" y="68312"/>
                  <a:pt x="85725" y="68312"/>
                </a:cubicBezTo>
                <a:cubicBezTo>
                  <a:pt x="95336" y="68312"/>
                  <a:pt x="103138" y="76114"/>
                  <a:pt x="103138" y="85725"/>
                </a:cubicBezTo>
                <a:lnTo>
                  <a:pt x="103138" y="94063"/>
                </a:lnTo>
                <a:cubicBezTo>
                  <a:pt x="103138" y="106219"/>
                  <a:pt x="101966" y="118307"/>
                  <a:pt x="99655" y="130195"/>
                </a:cubicBezTo>
                <a:cubicBezTo>
                  <a:pt x="98751" y="134849"/>
                  <a:pt x="102234" y="139303"/>
                  <a:pt x="106955" y="139303"/>
                </a:cubicBezTo>
                <a:cubicBezTo>
                  <a:pt x="110371" y="139303"/>
                  <a:pt x="113318" y="136959"/>
                  <a:pt x="113987" y="133610"/>
                </a:cubicBezTo>
                <a:cubicBezTo>
                  <a:pt x="116566" y="120618"/>
                  <a:pt x="117872" y="107391"/>
                  <a:pt x="117872" y="94063"/>
                </a:cubicBezTo>
                <a:lnTo>
                  <a:pt x="117872" y="85725"/>
                </a:lnTo>
                <a:cubicBezTo>
                  <a:pt x="117872" y="67977"/>
                  <a:pt x="103473" y="53578"/>
                  <a:pt x="85725" y="53578"/>
                </a:cubicBezTo>
                <a:close/>
                <a:moveTo>
                  <a:pt x="93762" y="85725"/>
                </a:moveTo>
                <a:cubicBezTo>
                  <a:pt x="93762" y="81271"/>
                  <a:pt x="90179" y="77688"/>
                  <a:pt x="85725" y="77688"/>
                </a:cubicBezTo>
                <a:cubicBezTo>
                  <a:pt x="81271" y="77688"/>
                  <a:pt x="77688" y="81271"/>
                  <a:pt x="77688" y="85725"/>
                </a:cubicBezTo>
                <a:lnTo>
                  <a:pt x="77688" y="94063"/>
                </a:lnTo>
                <a:cubicBezTo>
                  <a:pt x="77688" y="114121"/>
                  <a:pt x="74005" y="134012"/>
                  <a:pt x="66805" y="152731"/>
                </a:cubicBezTo>
                <a:lnTo>
                  <a:pt x="64830" y="157855"/>
                </a:lnTo>
                <a:cubicBezTo>
                  <a:pt x="63222" y="162007"/>
                  <a:pt x="65298" y="166661"/>
                  <a:pt x="69451" y="168235"/>
                </a:cubicBezTo>
                <a:cubicBezTo>
                  <a:pt x="73603" y="169809"/>
                  <a:pt x="78258" y="167767"/>
                  <a:pt x="79831" y="163614"/>
                </a:cubicBezTo>
                <a:lnTo>
                  <a:pt x="81807" y="158491"/>
                </a:lnTo>
                <a:cubicBezTo>
                  <a:pt x="89710" y="137930"/>
                  <a:pt x="93762" y="116097"/>
                  <a:pt x="93762" y="94063"/>
                </a:cubicBezTo>
                <a:lnTo>
                  <a:pt x="93762" y="85725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76" name="Text 74"/>
          <p:cNvSpPr/>
          <p:nvPr/>
        </p:nvSpPr>
        <p:spPr>
          <a:xfrm>
            <a:off x="9453563" y="4143375"/>
            <a:ext cx="600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Morgan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163050" y="4448175"/>
            <a:ext cx="2590800" cy="647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ECFP4 circular fingerprints (radius=2) mapping local chemical bond environments.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163050" y="5174456"/>
            <a:ext cx="457200" cy="190500"/>
          </a:xfrm>
          <a:custGeom>
            <a:avLst/>
            <a:gdLst/>
            <a:ahLst/>
            <a:cxnLst/>
            <a:rect l="l" t="t" r="r" b="b"/>
            <a:pathLst>
              <a:path w="457200" h="1905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152400"/>
                </a:lnTo>
                <a:cubicBezTo>
                  <a:pt x="457200" y="173428"/>
                  <a:pt x="440128" y="190500"/>
                  <a:pt x="4191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79" name="Text 77"/>
          <p:cNvSpPr/>
          <p:nvPr/>
        </p:nvSpPr>
        <p:spPr>
          <a:xfrm>
            <a:off x="9163050" y="5174456"/>
            <a:ext cx="5143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ECFP4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660136" y="5174456"/>
            <a:ext cx="457200" cy="190500"/>
          </a:xfrm>
          <a:custGeom>
            <a:avLst/>
            <a:gdLst/>
            <a:ahLst/>
            <a:cxnLst/>
            <a:rect l="l" t="t" r="r" b="b"/>
            <a:pathLst>
              <a:path w="457200" h="1905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152400"/>
                </a:lnTo>
                <a:cubicBezTo>
                  <a:pt x="457200" y="173428"/>
                  <a:pt x="440128" y="190500"/>
                  <a:pt x="4191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81" name="Text 79"/>
          <p:cNvSpPr/>
          <p:nvPr/>
        </p:nvSpPr>
        <p:spPr>
          <a:xfrm>
            <a:off x="9660136" y="5174456"/>
            <a:ext cx="514350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64-bit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0154692" y="5174456"/>
            <a:ext cx="333375" cy="190500"/>
          </a:xfrm>
          <a:custGeom>
            <a:avLst/>
            <a:gdLst/>
            <a:ahLst/>
            <a:cxnLst/>
            <a:rect l="l" t="t" r="r" b="b"/>
            <a:pathLst>
              <a:path w="333375" h="190500">
                <a:moveTo>
                  <a:pt x="38100" y="0"/>
                </a:moveTo>
                <a:lnTo>
                  <a:pt x="295275" y="0"/>
                </a:lnTo>
                <a:cubicBezTo>
                  <a:pt x="316303" y="0"/>
                  <a:pt x="333375" y="17072"/>
                  <a:pt x="333375" y="38100"/>
                </a:cubicBezTo>
                <a:lnTo>
                  <a:pt x="333375" y="152400"/>
                </a:lnTo>
                <a:cubicBezTo>
                  <a:pt x="333375" y="173428"/>
                  <a:pt x="316303" y="190500"/>
                  <a:pt x="2952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83" name="Text 81"/>
          <p:cNvSpPr/>
          <p:nvPr/>
        </p:nvSpPr>
        <p:spPr>
          <a:xfrm>
            <a:off x="10154692" y="5174456"/>
            <a:ext cx="390525" cy="190500"/>
          </a:xfrm>
          <a:prstGeom prst="rect">
            <a:avLst/>
          </a:prstGeom>
          <a:noFill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R=2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0185" y="3405505"/>
            <a:ext cx="6281420" cy="3288665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5467350" y="3405505"/>
            <a:ext cx="5895975" cy="317182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4305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CORE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658749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Predictive QSPR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47763"/>
            <a:ext cx="4467225" cy="5019675"/>
          </a:xfrm>
          <a:custGeom>
            <a:avLst/>
            <a:gdLst/>
            <a:ahLst/>
            <a:cxnLst/>
            <a:rect l="l" t="t" r="r" b="b"/>
            <a:pathLst>
              <a:path w="4467225" h="5019675">
                <a:moveTo>
                  <a:pt x="114316" y="0"/>
                </a:moveTo>
                <a:lnTo>
                  <a:pt x="4352909" y="0"/>
                </a:lnTo>
                <a:cubicBezTo>
                  <a:pt x="4416044" y="0"/>
                  <a:pt x="4467225" y="51181"/>
                  <a:pt x="4467225" y="114316"/>
                </a:cubicBezTo>
                <a:lnTo>
                  <a:pt x="4467225" y="4905359"/>
                </a:lnTo>
                <a:cubicBezTo>
                  <a:pt x="4467225" y="4968494"/>
                  <a:pt x="4416044" y="5019675"/>
                  <a:pt x="4352909" y="5019675"/>
                </a:cubicBezTo>
                <a:lnTo>
                  <a:pt x="114316" y="5019675"/>
                </a:lnTo>
                <a:cubicBezTo>
                  <a:pt x="51181" y="5019675"/>
                  <a:pt x="0" y="4968494"/>
                  <a:pt x="0" y="490535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831" y="13430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3A8DFF"/>
          </a:solidFill>
        </p:spPr>
      </p:sp>
      <p:sp>
        <p:nvSpPr>
          <p:cNvPr id="8" name="Text 6"/>
          <p:cNvSpPr/>
          <p:nvPr/>
        </p:nvSpPr>
        <p:spPr>
          <a:xfrm>
            <a:off x="781050" y="1304925"/>
            <a:ext cx="4010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1685925"/>
            <a:ext cx="4152900" cy="609600"/>
          </a:xfrm>
          <a:custGeom>
            <a:avLst/>
            <a:gdLst/>
            <a:ahLst/>
            <a:cxnLst/>
            <a:rect l="l" t="t" r="r" b="b"/>
            <a:pathLst>
              <a:path w="4152900" h="609600">
                <a:moveTo>
                  <a:pt x="76200" y="0"/>
                </a:moveTo>
                <a:lnTo>
                  <a:pt x="4076700" y="0"/>
                </a:lnTo>
                <a:cubicBezTo>
                  <a:pt x="4118756" y="0"/>
                  <a:pt x="4152900" y="34144"/>
                  <a:pt x="4152900" y="76200"/>
                </a:cubicBezTo>
                <a:lnTo>
                  <a:pt x="4152900" y="533400"/>
                </a:lnTo>
                <a:cubicBezTo>
                  <a:pt x="4152900" y="575456"/>
                  <a:pt x="4118756" y="609600"/>
                  <a:pt x="40767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57225" y="1800225"/>
            <a:ext cx="819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91111" y="1819275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120 features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7225" y="2105025"/>
            <a:ext cx="3924300" cy="76200"/>
          </a:xfrm>
          <a:custGeom>
            <a:avLst/>
            <a:gdLst/>
            <a:ahLst/>
            <a:cxnLst/>
            <a:rect l="l" t="t" r="r" b="b"/>
            <a:pathLst>
              <a:path w="3924300" h="76200">
                <a:moveTo>
                  <a:pt x="38100" y="0"/>
                </a:moveTo>
                <a:lnTo>
                  <a:pt x="3886200" y="0"/>
                </a:lnTo>
                <a:cubicBezTo>
                  <a:pt x="3907228" y="0"/>
                  <a:pt x="3924300" y="17072"/>
                  <a:pt x="3924300" y="38100"/>
                </a:cubicBezTo>
                <a:lnTo>
                  <a:pt x="3924300" y="38100"/>
                </a:lnTo>
                <a:cubicBezTo>
                  <a:pt x="3924300" y="59128"/>
                  <a:pt x="3907228" y="76200"/>
                  <a:pt x="3886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57225" y="2105025"/>
            <a:ext cx="3924300" cy="76200"/>
          </a:xfrm>
          <a:custGeom>
            <a:avLst/>
            <a:gdLst/>
            <a:ahLst/>
            <a:cxnLst/>
            <a:rect l="l" t="t" r="r" b="b"/>
            <a:pathLst>
              <a:path w="3924300" h="76200">
                <a:moveTo>
                  <a:pt x="38100" y="0"/>
                </a:moveTo>
                <a:lnTo>
                  <a:pt x="3886200" y="0"/>
                </a:lnTo>
                <a:cubicBezTo>
                  <a:pt x="3907228" y="0"/>
                  <a:pt x="3924300" y="17072"/>
                  <a:pt x="3924300" y="38100"/>
                </a:cubicBezTo>
                <a:lnTo>
                  <a:pt x="3924300" y="38100"/>
                </a:lnTo>
                <a:cubicBezTo>
                  <a:pt x="3924300" y="59128"/>
                  <a:pt x="3907228" y="76200"/>
                  <a:pt x="3886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0" scaled="1"/>
          </a:gradFill>
        </p:spPr>
      </p:sp>
      <p:sp>
        <p:nvSpPr>
          <p:cNvPr id="14" name="Shape 12"/>
          <p:cNvSpPr/>
          <p:nvPr/>
        </p:nvSpPr>
        <p:spPr>
          <a:xfrm>
            <a:off x="2549723" y="23717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15" name="Shape 13"/>
          <p:cNvSpPr/>
          <p:nvPr/>
        </p:nvSpPr>
        <p:spPr>
          <a:xfrm>
            <a:off x="542925" y="2638425"/>
            <a:ext cx="4152900" cy="609600"/>
          </a:xfrm>
          <a:custGeom>
            <a:avLst/>
            <a:gdLst/>
            <a:ahLst/>
            <a:cxnLst/>
            <a:rect l="l" t="t" r="r" b="b"/>
            <a:pathLst>
              <a:path w="4152900" h="609600">
                <a:moveTo>
                  <a:pt x="76200" y="0"/>
                </a:moveTo>
                <a:lnTo>
                  <a:pt x="4076700" y="0"/>
                </a:lnTo>
                <a:cubicBezTo>
                  <a:pt x="4118756" y="0"/>
                  <a:pt x="4152900" y="34144"/>
                  <a:pt x="4152900" y="76200"/>
                </a:cubicBezTo>
                <a:lnTo>
                  <a:pt x="4152900" y="533400"/>
                </a:lnTo>
                <a:cubicBezTo>
                  <a:pt x="4152900" y="575456"/>
                  <a:pt x="4118756" y="609600"/>
                  <a:pt x="40767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57225" y="2752725"/>
            <a:ext cx="1414780" cy="233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Layer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71317" y="2771775"/>
            <a:ext cx="781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 neurons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7225" y="3057525"/>
            <a:ext cx="3924300" cy="76200"/>
          </a:xfrm>
          <a:custGeom>
            <a:avLst/>
            <a:gdLst/>
            <a:ahLst/>
            <a:cxnLst/>
            <a:rect l="l" t="t" r="r" b="b"/>
            <a:pathLst>
              <a:path w="3924300" h="76200">
                <a:moveTo>
                  <a:pt x="38100" y="0"/>
                </a:moveTo>
                <a:lnTo>
                  <a:pt x="3886200" y="0"/>
                </a:lnTo>
                <a:cubicBezTo>
                  <a:pt x="3907228" y="0"/>
                  <a:pt x="3924300" y="17072"/>
                  <a:pt x="3924300" y="38100"/>
                </a:cubicBezTo>
                <a:lnTo>
                  <a:pt x="3924300" y="38100"/>
                </a:lnTo>
                <a:cubicBezTo>
                  <a:pt x="3924300" y="59128"/>
                  <a:pt x="3907228" y="76200"/>
                  <a:pt x="3886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57225" y="3057525"/>
            <a:ext cx="3343275" cy="76200"/>
          </a:xfrm>
          <a:custGeom>
            <a:avLst/>
            <a:gdLst/>
            <a:ahLst/>
            <a:cxnLst/>
            <a:rect l="l" t="t" r="r" b="b"/>
            <a:pathLst>
              <a:path w="3343275" h="76200">
                <a:moveTo>
                  <a:pt x="38100" y="0"/>
                </a:moveTo>
                <a:lnTo>
                  <a:pt x="3305175" y="0"/>
                </a:lnTo>
                <a:cubicBezTo>
                  <a:pt x="3326203" y="0"/>
                  <a:pt x="3343275" y="17072"/>
                  <a:pt x="3343275" y="38100"/>
                </a:cubicBezTo>
                <a:lnTo>
                  <a:pt x="3343275" y="38100"/>
                </a:lnTo>
                <a:cubicBezTo>
                  <a:pt x="3343275" y="59128"/>
                  <a:pt x="3326203" y="76200"/>
                  <a:pt x="3305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0" scaled="1"/>
          </a:gradFill>
        </p:spPr>
      </p:sp>
      <p:sp>
        <p:nvSpPr>
          <p:cNvPr id="20" name="Shape 18"/>
          <p:cNvSpPr/>
          <p:nvPr/>
        </p:nvSpPr>
        <p:spPr>
          <a:xfrm>
            <a:off x="2549723" y="3324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21" name="Shape 19"/>
          <p:cNvSpPr/>
          <p:nvPr/>
        </p:nvSpPr>
        <p:spPr>
          <a:xfrm>
            <a:off x="542925" y="3590925"/>
            <a:ext cx="4152900" cy="609600"/>
          </a:xfrm>
          <a:custGeom>
            <a:avLst/>
            <a:gdLst/>
            <a:ahLst/>
            <a:cxnLst/>
            <a:rect l="l" t="t" r="r" b="b"/>
            <a:pathLst>
              <a:path w="4152900" h="609600">
                <a:moveTo>
                  <a:pt x="76200" y="0"/>
                </a:moveTo>
                <a:lnTo>
                  <a:pt x="4076700" y="0"/>
                </a:lnTo>
                <a:cubicBezTo>
                  <a:pt x="4118756" y="0"/>
                  <a:pt x="4152900" y="34144"/>
                  <a:pt x="4152900" y="76200"/>
                </a:cubicBezTo>
                <a:lnTo>
                  <a:pt x="4152900" y="533400"/>
                </a:lnTo>
                <a:cubicBezTo>
                  <a:pt x="4152900" y="575456"/>
                  <a:pt x="4118756" y="609600"/>
                  <a:pt x="40767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57225" y="3705225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Layer 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99892" y="3724275"/>
            <a:ext cx="752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neurons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7225" y="4010025"/>
            <a:ext cx="3924300" cy="76200"/>
          </a:xfrm>
          <a:custGeom>
            <a:avLst/>
            <a:gdLst/>
            <a:ahLst/>
            <a:cxnLst/>
            <a:rect l="l" t="t" r="r" b="b"/>
            <a:pathLst>
              <a:path w="3924300" h="76200">
                <a:moveTo>
                  <a:pt x="38100" y="0"/>
                </a:moveTo>
                <a:lnTo>
                  <a:pt x="3886200" y="0"/>
                </a:lnTo>
                <a:cubicBezTo>
                  <a:pt x="3907228" y="0"/>
                  <a:pt x="3924300" y="17072"/>
                  <a:pt x="3924300" y="38100"/>
                </a:cubicBezTo>
                <a:lnTo>
                  <a:pt x="3924300" y="38100"/>
                </a:lnTo>
                <a:cubicBezTo>
                  <a:pt x="3924300" y="59128"/>
                  <a:pt x="3907228" y="76200"/>
                  <a:pt x="3886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57225" y="4010025"/>
            <a:ext cx="2552700" cy="76200"/>
          </a:xfrm>
          <a:custGeom>
            <a:avLst/>
            <a:gdLst/>
            <a:ahLst/>
            <a:cxnLst/>
            <a:rect l="l" t="t" r="r" b="b"/>
            <a:pathLst>
              <a:path w="2552700" h="76200">
                <a:moveTo>
                  <a:pt x="38100" y="0"/>
                </a:moveTo>
                <a:lnTo>
                  <a:pt x="2514600" y="0"/>
                </a:lnTo>
                <a:cubicBezTo>
                  <a:pt x="2535628" y="0"/>
                  <a:pt x="2552700" y="17072"/>
                  <a:pt x="2552700" y="38100"/>
                </a:cubicBezTo>
                <a:lnTo>
                  <a:pt x="2552700" y="38100"/>
                </a:lnTo>
                <a:cubicBezTo>
                  <a:pt x="2552700" y="59128"/>
                  <a:pt x="2535628" y="76200"/>
                  <a:pt x="2514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0" scaled="1"/>
          </a:gradFill>
        </p:spPr>
      </p:sp>
      <p:sp>
        <p:nvSpPr>
          <p:cNvPr id="26" name="Shape 24"/>
          <p:cNvSpPr/>
          <p:nvPr/>
        </p:nvSpPr>
        <p:spPr>
          <a:xfrm>
            <a:off x="2549723" y="42767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27" name="Shape 25"/>
          <p:cNvSpPr/>
          <p:nvPr/>
        </p:nvSpPr>
        <p:spPr>
          <a:xfrm>
            <a:off x="542925" y="4543425"/>
            <a:ext cx="4152900" cy="609600"/>
          </a:xfrm>
          <a:custGeom>
            <a:avLst/>
            <a:gdLst/>
            <a:ahLst/>
            <a:cxnLst/>
            <a:rect l="l" t="t" r="r" b="b"/>
            <a:pathLst>
              <a:path w="4152900" h="609600">
                <a:moveTo>
                  <a:pt x="76200" y="0"/>
                </a:moveTo>
                <a:lnTo>
                  <a:pt x="4076700" y="0"/>
                </a:lnTo>
                <a:cubicBezTo>
                  <a:pt x="4118756" y="0"/>
                  <a:pt x="4152900" y="34144"/>
                  <a:pt x="4152900" y="76200"/>
                </a:cubicBezTo>
                <a:lnTo>
                  <a:pt x="4152900" y="533400"/>
                </a:lnTo>
                <a:cubicBezTo>
                  <a:pt x="4152900" y="575456"/>
                  <a:pt x="4118756" y="609600"/>
                  <a:pt x="40767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57225" y="4657725"/>
            <a:ext cx="1076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Layer 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43201" y="4676775"/>
            <a:ext cx="704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neurons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7225" y="4962525"/>
            <a:ext cx="3924300" cy="76200"/>
          </a:xfrm>
          <a:custGeom>
            <a:avLst/>
            <a:gdLst/>
            <a:ahLst/>
            <a:cxnLst/>
            <a:rect l="l" t="t" r="r" b="b"/>
            <a:pathLst>
              <a:path w="3924300" h="76200">
                <a:moveTo>
                  <a:pt x="38100" y="0"/>
                </a:moveTo>
                <a:lnTo>
                  <a:pt x="3886200" y="0"/>
                </a:lnTo>
                <a:cubicBezTo>
                  <a:pt x="3907228" y="0"/>
                  <a:pt x="3924300" y="17072"/>
                  <a:pt x="3924300" y="38100"/>
                </a:cubicBezTo>
                <a:lnTo>
                  <a:pt x="3924300" y="38100"/>
                </a:lnTo>
                <a:cubicBezTo>
                  <a:pt x="3924300" y="59128"/>
                  <a:pt x="3907228" y="76200"/>
                  <a:pt x="3886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57225" y="4962525"/>
            <a:ext cx="1771650" cy="76200"/>
          </a:xfrm>
          <a:custGeom>
            <a:avLst/>
            <a:gdLst/>
            <a:ahLst/>
            <a:cxnLst/>
            <a:rect l="l" t="t" r="r" b="b"/>
            <a:pathLst>
              <a:path w="1771650" h="76200">
                <a:moveTo>
                  <a:pt x="38100" y="0"/>
                </a:moveTo>
                <a:lnTo>
                  <a:pt x="1733550" y="0"/>
                </a:lnTo>
                <a:cubicBezTo>
                  <a:pt x="1754578" y="0"/>
                  <a:pt x="1771650" y="17072"/>
                  <a:pt x="1771650" y="38100"/>
                </a:cubicBezTo>
                <a:lnTo>
                  <a:pt x="1771650" y="38100"/>
                </a:lnTo>
                <a:cubicBezTo>
                  <a:pt x="1771650" y="59128"/>
                  <a:pt x="1754578" y="76200"/>
                  <a:pt x="17335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0" scaled="1"/>
          </a:gradFill>
        </p:spPr>
      </p:sp>
      <p:sp>
        <p:nvSpPr>
          <p:cNvPr id="32" name="Shape 30"/>
          <p:cNvSpPr/>
          <p:nvPr/>
        </p:nvSpPr>
        <p:spPr>
          <a:xfrm>
            <a:off x="2549723" y="5229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33" name="Shape 31"/>
          <p:cNvSpPr/>
          <p:nvPr/>
        </p:nvSpPr>
        <p:spPr>
          <a:xfrm>
            <a:off x="547688" y="5500688"/>
            <a:ext cx="4143375" cy="466725"/>
          </a:xfrm>
          <a:custGeom>
            <a:avLst/>
            <a:gdLst/>
            <a:ahLst/>
            <a:cxnLst/>
            <a:rect l="l" t="t" r="r" b="b"/>
            <a:pathLst>
              <a:path w="4143375" h="466725">
                <a:moveTo>
                  <a:pt x="76202" y="0"/>
                </a:moveTo>
                <a:lnTo>
                  <a:pt x="4067173" y="0"/>
                </a:lnTo>
                <a:cubicBezTo>
                  <a:pt x="4109258" y="0"/>
                  <a:pt x="4143375" y="34117"/>
                  <a:pt x="4143375" y="76202"/>
                </a:cubicBezTo>
                <a:lnTo>
                  <a:pt x="4143375" y="390523"/>
                </a:lnTo>
                <a:cubicBezTo>
                  <a:pt x="4143375" y="432608"/>
                  <a:pt x="4109258" y="466725"/>
                  <a:pt x="40671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20000"/>
                </a:srgbClr>
              </a:gs>
              <a:gs pos="100000">
                <a:srgbClr val="00D9C0">
                  <a:alpha val="20000"/>
                </a:srgbClr>
              </a:gs>
            </a:gsLst>
            <a:lin ang="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750" y="561975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82207" y="5638800"/>
            <a:ext cx="561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targets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18633" y="1147763"/>
            <a:ext cx="6791325" cy="2257425"/>
          </a:xfrm>
          <a:custGeom>
            <a:avLst/>
            <a:gdLst/>
            <a:ahLst/>
            <a:cxnLst/>
            <a:rect l="l" t="t" r="r" b="b"/>
            <a:pathLst>
              <a:path w="6791325" h="2257425">
                <a:moveTo>
                  <a:pt x="114293" y="0"/>
                </a:moveTo>
                <a:lnTo>
                  <a:pt x="6677032" y="0"/>
                </a:lnTo>
                <a:cubicBezTo>
                  <a:pt x="6740112" y="0"/>
                  <a:pt x="6791325" y="51213"/>
                  <a:pt x="6791325" y="114293"/>
                </a:cubicBezTo>
                <a:lnTo>
                  <a:pt x="6791325" y="2143132"/>
                </a:lnTo>
                <a:cubicBezTo>
                  <a:pt x="6791325" y="2206212"/>
                  <a:pt x="6740112" y="2257425"/>
                  <a:pt x="667703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75796" y="13430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38" name="Text 36"/>
          <p:cNvSpPr/>
          <p:nvPr/>
        </p:nvSpPr>
        <p:spPr>
          <a:xfrm>
            <a:off x="5413921" y="1304925"/>
            <a:ext cx="633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75796" y="1685925"/>
            <a:ext cx="3181350" cy="723900"/>
          </a:xfrm>
          <a:custGeom>
            <a:avLst/>
            <a:gdLst/>
            <a:ahLst/>
            <a:cxnLst/>
            <a:rect l="l" t="t" r="r" b="b"/>
            <a:pathLst>
              <a:path w="3181350" h="723900">
                <a:moveTo>
                  <a:pt x="76198" y="0"/>
                </a:moveTo>
                <a:lnTo>
                  <a:pt x="3105152" y="0"/>
                </a:lnTo>
                <a:cubicBezTo>
                  <a:pt x="3147207" y="0"/>
                  <a:pt x="3181350" y="34143"/>
                  <a:pt x="3181350" y="76198"/>
                </a:cubicBezTo>
                <a:lnTo>
                  <a:pt x="3181350" y="647702"/>
                </a:lnTo>
                <a:cubicBezTo>
                  <a:pt x="3181350" y="689757"/>
                  <a:pt x="3147207" y="723900"/>
                  <a:pt x="3105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5290096" y="1800225"/>
            <a:ext cx="3019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Train/Test Split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90096" y="2028825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80/20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69511" y="1685925"/>
            <a:ext cx="3181350" cy="723900"/>
          </a:xfrm>
          <a:custGeom>
            <a:avLst/>
            <a:gdLst/>
            <a:ahLst/>
            <a:cxnLst/>
            <a:rect l="l" t="t" r="r" b="b"/>
            <a:pathLst>
              <a:path w="3181350" h="723900">
                <a:moveTo>
                  <a:pt x="76198" y="0"/>
                </a:moveTo>
                <a:lnTo>
                  <a:pt x="3105152" y="0"/>
                </a:lnTo>
                <a:cubicBezTo>
                  <a:pt x="3147207" y="0"/>
                  <a:pt x="3181350" y="34143"/>
                  <a:pt x="3181350" y="76198"/>
                </a:cubicBezTo>
                <a:lnTo>
                  <a:pt x="3181350" y="647702"/>
                </a:lnTo>
                <a:cubicBezTo>
                  <a:pt x="3181350" y="689757"/>
                  <a:pt x="3147207" y="723900"/>
                  <a:pt x="3105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8583811" y="1800225"/>
            <a:ext cx="3019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3811" y="2028825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75796" y="2524125"/>
            <a:ext cx="3181350" cy="723900"/>
          </a:xfrm>
          <a:custGeom>
            <a:avLst/>
            <a:gdLst/>
            <a:ahLst/>
            <a:cxnLst/>
            <a:rect l="l" t="t" r="r" b="b"/>
            <a:pathLst>
              <a:path w="3181350" h="723900">
                <a:moveTo>
                  <a:pt x="76198" y="0"/>
                </a:moveTo>
                <a:lnTo>
                  <a:pt x="3105152" y="0"/>
                </a:lnTo>
                <a:cubicBezTo>
                  <a:pt x="3147207" y="0"/>
                  <a:pt x="3181350" y="34143"/>
                  <a:pt x="3181350" y="76198"/>
                </a:cubicBezTo>
                <a:lnTo>
                  <a:pt x="3181350" y="647702"/>
                </a:lnTo>
                <a:cubicBezTo>
                  <a:pt x="3181350" y="689757"/>
                  <a:pt x="3147207" y="723900"/>
                  <a:pt x="3105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5290096" y="2638425"/>
            <a:ext cx="3019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90096" y="2867025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69511" y="2524125"/>
            <a:ext cx="3181350" cy="723900"/>
          </a:xfrm>
          <a:custGeom>
            <a:avLst/>
            <a:gdLst/>
            <a:ahLst/>
            <a:cxnLst/>
            <a:rect l="l" t="t" r="r" b="b"/>
            <a:pathLst>
              <a:path w="3181350" h="723900">
                <a:moveTo>
                  <a:pt x="76198" y="0"/>
                </a:moveTo>
                <a:lnTo>
                  <a:pt x="3105152" y="0"/>
                </a:lnTo>
                <a:cubicBezTo>
                  <a:pt x="3147207" y="0"/>
                  <a:pt x="3181350" y="34143"/>
                  <a:pt x="3181350" y="76198"/>
                </a:cubicBezTo>
                <a:lnTo>
                  <a:pt x="3181350" y="647702"/>
                </a:lnTo>
                <a:cubicBezTo>
                  <a:pt x="3181350" y="689757"/>
                  <a:pt x="3147207" y="723900"/>
                  <a:pt x="3105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8583811" y="2638425"/>
            <a:ext cx="3019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Iterations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83811" y="2867025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629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63912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Transitioning to Structural Inverse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85863"/>
            <a:ext cx="5610225" cy="2771775"/>
          </a:xfrm>
          <a:custGeom>
            <a:avLst/>
            <a:gdLst/>
            <a:ahLst/>
            <a:cxnLst/>
            <a:rect l="l" t="t" r="r" b="b"/>
            <a:pathLst>
              <a:path w="5610225" h="2771775">
                <a:moveTo>
                  <a:pt x="114308" y="0"/>
                </a:moveTo>
                <a:lnTo>
                  <a:pt x="5495917" y="0"/>
                </a:lnTo>
                <a:cubicBezTo>
                  <a:pt x="5559048" y="0"/>
                  <a:pt x="5610225" y="51177"/>
                  <a:pt x="5610225" y="114308"/>
                </a:cubicBezTo>
                <a:lnTo>
                  <a:pt x="5610225" y="2657467"/>
                </a:lnTo>
                <a:cubicBezTo>
                  <a:pt x="5610225" y="2720598"/>
                  <a:pt x="5559048" y="2771775"/>
                  <a:pt x="5495917" y="2771775"/>
                </a:cubicBezTo>
                <a:lnTo>
                  <a:pt x="114308" y="2771775"/>
                </a:lnTo>
                <a:cubicBezTo>
                  <a:pt x="51177" y="2771775"/>
                  <a:pt x="0" y="2720598"/>
                  <a:pt x="0" y="2657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10000"/>
                </a:srgbClr>
              </a:gs>
              <a:gs pos="100000">
                <a:srgbClr val="4A5568">
                  <a:alpha val="5000"/>
                </a:srgbClr>
              </a:gs>
            </a:gsLst>
            <a:lin ang="2700000" scaled="1"/>
          </a:gradFill>
          <a:ln w="1270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143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A5568"/>
          </a:solidFill>
        </p:spPr>
      </p:sp>
      <p:sp>
        <p:nvSpPr>
          <p:cNvPr id="9" name="Text 7"/>
          <p:cNvSpPr/>
          <p:nvPr/>
        </p:nvSpPr>
        <p:spPr>
          <a:xfrm>
            <a:off x="1152525" y="1457325"/>
            <a:ext cx="1819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QSPR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009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709166" y="2047875"/>
            <a:ext cx="123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0125" y="1990725"/>
            <a:ext cx="375221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Known molecular structure (SMILES)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2447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94581" y="248602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2428875"/>
            <a:ext cx="40290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Process: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Extract features, feed to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2886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92646" y="2924175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125" y="2867025"/>
            <a:ext cx="1952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Predicted properties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3343275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76201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342899"/>
                </a:lnTo>
                <a:cubicBezTo>
                  <a:pt x="5219700" y="384984"/>
                  <a:pt x="5185584" y="419100"/>
                  <a:pt x="51434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95325" y="345757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"Given this molecule, what are its properties?"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6013" y="1185863"/>
            <a:ext cx="5610225" cy="2771775"/>
          </a:xfrm>
          <a:custGeom>
            <a:avLst/>
            <a:gdLst/>
            <a:ahLst/>
            <a:cxnLst/>
            <a:rect l="l" t="t" r="r" b="b"/>
            <a:pathLst>
              <a:path w="5610225" h="2771775">
                <a:moveTo>
                  <a:pt x="114308" y="0"/>
                </a:moveTo>
                <a:lnTo>
                  <a:pt x="5495917" y="0"/>
                </a:lnTo>
                <a:cubicBezTo>
                  <a:pt x="5559048" y="0"/>
                  <a:pt x="5610225" y="51177"/>
                  <a:pt x="5610225" y="114308"/>
                </a:cubicBezTo>
                <a:lnTo>
                  <a:pt x="5610225" y="2657467"/>
                </a:lnTo>
                <a:cubicBezTo>
                  <a:pt x="5610225" y="2720598"/>
                  <a:pt x="5559048" y="2771775"/>
                  <a:pt x="5495917" y="2771775"/>
                </a:cubicBezTo>
                <a:lnTo>
                  <a:pt x="114308" y="2771775"/>
                </a:lnTo>
                <a:cubicBezTo>
                  <a:pt x="51177" y="2771775"/>
                  <a:pt x="0" y="2720598"/>
                  <a:pt x="0" y="2657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27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52462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86841"/>
                </a:moveTo>
                <a:cubicBezTo>
                  <a:pt x="-1153" y="91492"/>
                  <a:pt x="-1153" y="99045"/>
                  <a:pt x="3497" y="103696"/>
                </a:cubicBezTo>
                <a:lnTo>
                  <a:pt x="63029" y="163227"/>
                </a:lnTo>
                <a:cubicBezTo>
                  <a:pt x="67680" y="167878"/>
                  <a:pt x="75233" y="167878"/>
                  <a:pt x="79883" y="163227"/>
                </a:cubicBezTo>
                <a:cubicBezTo>
                  <a:pt x="84534" y="158576"/>
                  <a:pt x="84534" y="151023"/>
                  <a:pt x="79883" y="146372"/>
                </a:cubicBezTo>
                <a:lnTo>
                  <a:pt x="40667" y="107156"/>
                </a:ln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40667" y="83344"/>
                </a:lnTo>
                <a:lnTo>
                  <a:pt x="79883" y="44128"/>
                </a:lnTo>
                <a:cubicBezTo>
                  <a:pt x="84534" y="39477"/>
                  <a:pt x="84534" y="31924"/>
                  <a:pt x="79883" y="27273"/>
                </a:cubicBezTo>
                <a:cubicBezTo>
                  <a:pt x="75233" y="22622"/>
                  <a:pt x="67680" y="22622"/>
                  <a:pt x="63029" y="27273"/>
                </a:cubicBezTo>
                <a:lnTo>
                  <a:pt x="3497" y="86804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24" name="Text 22"/>
          <p:cNvSpPr/>
          <p:nvPr/>
        </p:nvSpPr>
        <p:spPr>
          <a:xfrm>
            <a:off x="6962775" y="1457325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Inverse Design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1275" y="2009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519416" y="2047875"/>
            <a:ext cx="123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0375" y="1990725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Desired performance targets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91275" y="24479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504831" y="248602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10375" y="2428875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Process: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generates candidates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1275" y="2886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502896" y="2924175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0375" y="2867025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Novel molecular structure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1275" y="3343275"/>
            <a:ext cx="5219700" cy="419100"/>
          </a:xfrm>
          <a:custGeom>
            <a:avLst/>
            <a:gdLst/>
            <a:ahLst/>
            <a:cxnLst/>
            <a:rect l="l" t="t" r="r" b="b"/>
            <a:pathLst>
              <a:path w="5219700" h="419100">
                <a:moveTo>
                  <a:pt x="76201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342899"/>
                </a:lnTo>
                <a:cubicBezTo>
                  <a:pt x="5219700" y="384984"/>
                  <a:pt x="5185584" y="419100"/>
                  <a:pt x="51434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505575" y="3457575"/>
            <a:ext cx="5057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"Given these targets, what molecule should I create?"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5763" y="4119562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114294" y="0"/>
                </a:moveTo>
                <a:lnTo>
                  <a:pt x="3581406" y="0"/>
                </a:lnTo>
                <a:cubicBezTo>
                  <a:pt x="3644529" y="0"/>
                  <a:pt x="3695700" y="51171"/>
                  <a:pt x="3695700" y="114294"/>
                </a:cubicBezTo>
                <a:lnTo>
                  <a:pt x="3695700" y="2181231"/>
                </a:lnTo>
                <a:cubicBezTo>
                  <a:pt x="3695700" y="2244354"/>
                  <a:pt x="3644529" y="2295525"/>
                  <a:pt x="3581406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925" y="4276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39366" y="43815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39" name="Text 37"/>
          <p:cNvSpPr/>
          <p:nvPr/>
        </p:nvSpPr>
        <p:spPr>
          <a:xfrm>
            <a:off x="1038225" y="4333875"/>
            <a:ext cx="876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Input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2925" y="4772025"/>
            <a:ext cx="3457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starts with known </a:t>
            </a:r>
            <a:r>
              <a:rPr lang="en-US" sz="1200" b="1" dirty="0">
                <a:solidFill>
                  <a:srgbClr val="E2E8F0">
                    <a:alpha val="85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SMILES strings 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base polymers.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2925" y="5381625"/>
            <a:ext cx="3381375" cy="266700"/>
          </a:xfrm>
          <a:custGeom>
            <a:avLst/>
            <a:gdLst/>
            <a:ahLst/>
            <a:cxnLst/>
            <a:rect l="l" t="t" r="r" b="b"/>
            <a:pathLst>
              <a:path w="3381375" h="26670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228599"/>
                </a:lnTo>
                <a:cubicBezTo>
                  <a:pt x="3381375" y="249642"/>
                  <a:pt x="3364317" y="266700"/>
                  <a:pt x="3343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42925" y="5381625"/>
            <a:ext cx="34480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Polyimide: O=C1c2cc...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2925" y="5686425"/>
            <a:ext cx="3381375" cy="266700"/>
          </a:xfrm>
          <a:custGeom>
            <a:avLst/>
            <a:gdLst/>
            <a:ahLst/>
            <a:cxnLst/>
            <a:rect l="l" t="t" r="r" b="b"/>
            <a:pathLst>
              <a:path w="3381375" h="26670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228599"/>
                </a:lnTo>
                <a:cubicBezTo>
                  <a:pt x="3381375" y="249642"/>
                  <a:pt x="3364317" y="266700"/>
                  <a:pt x="3343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542925" y="5686425"/>
            <a:ext cx="34480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PEEK: c1ccc(Oc2...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2925" y="5991225"/>
            <a:ext cx="3381375" cy="266700"/>
          </a:xfrm>
          <a:custGeom>
            <a:avLst/>
            <a:gdLst/>
            <a:ahLst/>
            <a:cxnLst/>
            <a:rect l="l" t="t" r="r" b="b"/>
            <a:pathLst>
              <a:path w="3381375" h="266700">
                <a:moveTo>
                  <a:pt x="38101" y="0"/>
                </a:moveTo>
                <a:lnTo>
                  <a:pt x="3343274" y="0"/>
                </a:lnTo>
                <a:cubicBezTo>
                  <a:pt x="3364317" y="0"/>
                  <a:pt x="3381375" y="17058"/>
                  <a:pt x="3381375" y="38101"/>
                </a:cubicBezTo>
                <a:lnTo>
                  <a:pt x="3381375" y="228599"/>
                </a:lnTo>
                <a:cubicBezTo>
                  <a:pt x="3381375" y="249642"/>
                  <a:pt x="3364317" y="266700"/>
                  <a:pt x="33432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542925" y="5991225"/>
            <a:ext cx="34480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PTFE: FC(F)(F)C...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46513" y="4119562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114294" y="0"/>
                </a:moveTo>
                <a:lnTo>
                  <a:pt x="3581406" y="0"/>
                </a:lnTo>
                <a:cubicBezTo>
                  <a:pt x="3644529" y="0"/>
                  <a:pt x="3695700" y="51171"/>
                  <a:pt x="3695700" y="114294"/>
                </a:cubicBezTo>
                <a:lnTo>
                  <a:pt x="3695700" y="2181231"/>
                </a:lnTo>
                <a:cubicBezTo>
                  <a:pt x="3695700" y="2244354"/>
                  <a:pt x="3644529" y="2295525"/>
                  <a:pt x="3581406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03675" y="4276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49" name="Shape 47"/>
          <p:cNvSpPr/>
          <p:nvPr/>
        </p:nvSpPr>
        <p:spPr>
          <a:xfrm>
            <a:off x="4510832" y="4381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50" name="Text 48"/>
          <p:cNvSpPr/>
          <p:nvPr/>
        </p:nvSpPr>
        <p:spPr>
          <a:xfrm>
            <a:off x="4898975" y="4333875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Goal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03675" y="4772025"/>
            <a:ext cx="3457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</a:t>
            </a:r>
            <a:r>
              <a:rPr lang="en-US" sz="1200" b="1" dirty="0">
                <a:solidFill>
                  <a:srgbClr val="E2E8F0">
                    <a:alpha val="85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novel mutated SMILES 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improve upon original polymer's weaknesses.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422725" y="5400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53" name="Text 51"/>
          <p:cNvSpPr/>
          <p:nvPr/>
        </p:nvSpPr>
        <p:spPr>
          <a:xfrm>
            <a:off x="4670375" y="5381625"/>
            <a:ext cx="1504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dielectric constant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22725" y="5667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55" name="Text 53"/>
          <p:cNvSpPr/>
          <p:nvPr/>
        </p:nvSpPr>
        <p:spPr>
          <a:xfrm>
            <a:off x="4670375" y="5648325"/>
            <a:ext cx="1657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Maintained thermal stability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22725" y="5934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57" name="Text 55"/>
          <p:cNvSpPr/>
          <p:nvPr/>
        </p:nvSpPr>
        <p:spPr>
          <a:xfrm>
            <a:off x="4670375" y="5915025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Synthetically accessible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07263" y="4119562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114294" y="0"/>
                </a:moveTo>
                <a:lnTo>
                  <a:pt x="3581406" y="0"/>
                </a:lnTo>
                <a:cubicBezTo>
                  <a:pt x="3644529" y="0"/>
                  <a:pt x="3695700" y="51171"/>
                  <a:pt x="3695700" y="114294"/>
                </a:cubicBezTo>
                <a:lnTo>
                  <a:pt x="3695700" y="2181231"/>
                </a:lnTo>
                <a:cubicBezTo>
                  <a:pt x="3695700" y="2244354"/>
                  <a:pt x="3644529" y="2295525"/>
                  <a:pt x="3581406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64426" y="4276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60" name="Shape 58"/>
          <p:cNvSpPr/>
          <p:nvPr/>
        </p:nvSpPr>
        <p:spPr>
          <a:xfrm>
            <a:off x="8382298" y="43815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133543"/>
                </a:moveTo>
                <a:cubicBezTo>
                  <a:pt x="71058" y="135251"/>
                  <a:pt x="67174" y="136792"/>
                  <a:pt x="63323" y="138064"/>
                </a:cubicBezTo>
                <a:cubicBezTo>
                  <a:pt x="68915" y="149383"/>
                  <a:pt x="73703" y="150019"/>
                  <a:pt x="75009" y="150019"/>
                </a:cubicBezTo>
                <a:cubicBezTo>
                  <a:pt x="76315" y="150019"/>
                  <a:pt x="81070" y="149383"/>
                  <a:pt x="86696" y="138064"/>
                </a:cubicBezTo>
                <a:cubicBezTo>
                  <a:pt x="82879" y="136758"/>
                  <a:pt x="78961" y="135251"/>
                  <a:pt x="75009" y="133543"/>
                </a:cubicBezTo>
                <a:close/>
                <a:moveTo>
                  <a:pt x="138633" y="85725"/>
                </a:moveTo>
                <a:cubicBezTo>
                  <a:pt x="149684" y="100861"/>
                  <a:pt x="153468" y="116164"/>
                  <a:pt x="146536" y="128588"/>
                </a:cubicBezTo>
                <a:cubicBezTo>
                  <a:pt x="139772" y="140743"/>
                  <a:pt x="125607" y="145096"/>
                  <a:pt x="107960" y="143054"/>
                </a:cubicBezTo>
                <a:cubicBezTo>
                  <a:pt x="100593" y="160500"/>
                  <a:pt x="89308" y="171450"/>
                  <a:pt x="75009" y="171450"/>
                </a:cubicBezTo>
                <a:cubicBezTo>
                  <a:pt x="60711" y="171450"/>
                  <a:pt x="49426" y="160500"/>
                  <a:pt x="42059" y="143054"/>
                </a:cubicBezTo>
                <a:cubicBezTo>
                  <a:pt x="24412" y="145096"/>
                  <a:pt x="10247" y="140743"/>
                  <a:pt x="3483" y="128588"/>
                </a:cubicBezTo>
                <a:cubicBezTo>
                  <a:pt x="-3449" y="116164"/>
                  <a:pt x="335" y="100861"/>
                  <a:pt x="11385" y="85725"/>
                </a:cubicBezTo>
                <a:cubicBezTo>
                  <a:pt x="335" y="70589"/>
                  <a:pt x="-3449" y="55286"/>
                  <a:pt x="3483" y="42863"/>
                </a:cubicBezTo>
                <a:cubicBezTo>
                  <a:pt x="10247" y="30707"/>
                  <a:pt x="24412" y="26354"/>
                  <a:pt x="42059" y="28396"/>
                </a:cubicBezTo>
                <a:cubicBezTo>
                  <a:pt x="49426" y="10950"/>
                  <a:pt x="60677" y="0"/>
                  <a:pt x="75009" y="0"/>
                </a:cubicBezTo>
                <a:cubicBezTo>
                  <a:pt x="89342" y="0"/>
                  <a:pt x="100593" y="10950"/>
                  <a:pt x="107960" y="28396"/>
                </a:cubicBezTo>
                <a:cubicBezTo>
                  <a:pt x="125607" y="26354"/>
                  <a:pt x="139772" y="30673"/>
                  <a:pt x="146536" y="42863"/>
                </a:cubicBezTo>
                <a:cubicBezTo>
                  <a:pt x="153468" y="55286"/>
                  <a:pt x="149684" y="70589"/>
                  <a:pt x="138633" y="85725"/>
                </a:cubicBezTo>
                <a:close/>
                <a:moveTo>
                  <a:pt x="116599" y="108295"/>
                </a:moveTo>
                <a:cubicBezTo>
                  <a:pt x="116030" y="113050"/>
                  <a:pt x="115293" y="117671"/>
                  <a:pt x="114356" y="122091"/>
                </a:cubicBezTo>
                <a:cubicBezTo>
                  <a:pt x="125004" y="122560"/>
                  <a:pt x="127282" y="119178"/>
                  <a:pt x="127817" y="118173"/>
                </a:cubicBezTo>
                <a:cubicBezTo>
                  <a:pt x="128588" y="116767"/>
                  <a:pt x="130161" y="112179"/>
                  <a:pt x="123832" y="102066"/>
                </a:cubicBezTo>
                <a:cubicBezTo>
                  <a:pt x="121555" y="104176"/>
                  <a:pt x="119144" y="106252"/>
                  <a:pt x="116599" y="108295"/>
                </a:cubicBezTo>
                <a:close/>
                <a:moveTo>
                  <a:pt x="114356" y="49392"/>
                </a:moveTo>
                <a:cubicBezTo>
                  <a:pt x="115293" y="53779"/>
                  <a:pt x="116030" y="58400"/>
                  <a:pt x="116599" y="63189"/>
                </a:cubicBezTo>
                <a:cubicBezTo>
                  <a:pt x="119144" y="65231"/>
                  <a:pt x="121555" y="67308"/>
                  <a:pt x="123832" y="69417"/>
                </a:cubicBezTo>
                <a:cubicBezTo>
                  <a:pt x="130161" y="59304"/>
                  <a:pt x="128588" y="54683"/>
                  <a:pt x="127817" y="53310"/>
                </a:cubicBezTo>
                <a:cubicBezTo>
                  <a:pt x="127282" y="52339"/>
                  <a:pt x="125004" y="48957"/>
                  <a:pt x="114356" y="49392"/>
                </a:cubicBezTo>
                <a:close/>
                <a:moveTo>
                  <a:pt x="86696" y="33386"/>
                </a:moveTo>
                <a:cubicBezTo>
                  <a:pt x="81070" y="22067"/>
                  <a:pt x="76315" y="21431"/>
                  <a:pt x="75009" y="21431"/>
                </a:cubicBezTo>
                <a:cubicBezTo>
                  <a:pt x="73703" y="21431"/>
                  <a:pt x="68948" y="22067"/>
                  <a:pt x="63323" y="33386"/>
                </a:cubicBezTo>
                <a:cubicBezTo>
                  <a:pt x="67140" y="34692"/>
                  <a:pt x="71058" y="36199"/>
                  <a:pt x="75009" y="37907"/>
                </a:cubicBezTo>
                <a:cubicBezTo>
                  <a:pt x="78961" y="36199"/>
                  <a:pt x="82845" y="34658"/>
                  <a:pt x="86696" y="33386"/>
                </a:cubicBezTo>
                <a:close/>
                <a:moveTo>
                  <a:pt x="33453" y="63155"/>
                </a:moveTo>
                <a:cubicBezTo>
                  <a:pt x="34022" y="58367"/>
                  <a:pt x="34759" y="53779"/>
                  <a:pt x="35696" y="49359"/>
                </a:cubicBezTo>
                <a:cubicBezTo>
                  <a:pt x="25048" y="48890"/>
                  <a:pt x="22771" y="52272"/>
                  <a:pt x="22235" y="53277"/>
                </a:cubicBezTo>
                <a:cubicBezTo>
                  <a:pt x="21465" y="54683"/>
                  <a:pt x="19891" y="59271"/>
                  <a:pt x="26220" y="69384"/>
                </a:cubicBezTo>
                <a:cubicBezTo>
                  <a:pt x="28497" y="67274"/>
                  <a:pt x="30908" y="65198"/>
                  <a:pt x="33453" y="63155"/>
                </a:cubicBezTo>
                <a:close/>
                <a:moveTo>
                  <a:pt x="26186" y="102066"/>
                </a:moveTo>
                <a:cubicBezTo>
                  <a:pt x="19857" y="112179"/>
                  <a:pt x="21431" y="116800"/>
                  <a:pt x="22201" y="118173"/>
                </a:cubicBezTo>
                <a:cubicBezTo>
                  <a:pt x="22737" y="119144"/>
                  <a:pt x="25014" y="122526"/>
                  <a:pt x="35663" y="122091"/>
                </a:cubicBezTo>
                <a:cubicBezTo>
                  <a:pt x="34725" y="117704"/>
                  <a:pt x="33989" y="113083"/>
                  <a:pt x="33419" y="108295"/>
                </a:cubicBezTo>
                <a:cubicBezTo>
                  <a:pt x="30874" y="106252"/>
                  <a:pt x="28463" y="104176"/>
                  <a:pt x="26186" y="102066"/>
                </a:cubicBezTo>
                <a:close/>
                <a:moveTo>
                  <a:pt x="101798" y="85725"/>
                </a:moveTo>
                <a:cubicBezTo>
                  <a:pt x="101798" y="70940"/>
                  <a:pt x="89795" y="58936"/>
                  <a:pt x="75009" y="58936"/>
                </a:cubicBezTo>
                <a:cubicBezTo>
                  <a:pt x="60224" y="58936"/>
                  <a:pt x="48220" y="70940"/>
                  <a:pt x="48220" y="85725"/>
                </a:cubicBezTo>
                <a:cubicBezTo>
                  <a:pt x="48220" y="100510"/>
                  <a:pt x="60224" y="112514"/>
                  <a:pt x="75009" y="112514"/>
                </a:cubicBezTo>
                <a:cubicBezTo>
                  <a:pt x="89795" y="112514"/>
                  <a:pt x="101798" y="100510"/>
                  <a:pt x="101798" y="85725"/>
                </a:cubicBezTo>
                <a:close/>
                <a:moveTo>
                  <a:pt x="75009" y="75009"/>
                </a:moveTo>
                <a:cubicBezTo>
                  <a:pt x="80923" y="75009"/>
                  <a:pt x="85725" y="79811"/>
                  <a:pt x="85725" y="85725"/>
                </a:cubicBezTo>
                <a:cubicBezTo>
                  <a:pt x="85725" y="91639"/>
                  <a:pt x="80923" y="96441"/>
                  <a:pt x="75009" y="96441"/>
                </a:cubicBezTo>
                <a:cubicBezTo>
                  <a:pt x="69095" y="96441"/>
                  <a:pt x="64294" y="91639"/>
                  <a:pt x="64294" y="85725"/>
                </a:cubicBezTo>
                <a:cubicBezTo>
                  <a:pt x="64294" y="79811"/>
                  <a:pt x="69095" y="75009"/>
                  <a:pt x="75009" y="750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8759726" y="4333875"/>
            <a:ext cx="1752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Engine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264426" y="4772025"/>
            <a:ext cx="3457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</a:t>
            </a:r>
            <a:r>
              <a:rPr lang="en-US" sz="1200" b="1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RDKit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industry standard for chemical informatics.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93001" y="54006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64" name="Text 62"/>
          <p:cNvSpPr/>
          <p:nvPr/>
        </p:nvSpPr>
        <p:spPr>
          <a:xfrm>
            <a:off x="8531126" y="5381625"/>
            <a:ext cx="141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Molecular manipulation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93001" y="5667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66" name="Text 64"/>
          <p:cNvSpPr/>
          <p:nvPr/>
        </p:nvSpPr>
        <p:spPr>
          <a:xfrm>
            <a:off x="8531126" y="5648325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Reaction simulation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93001" y="59340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68" name="Text 66"/>
          <p:cNvSpPr/>
          <p:nvPr/>
        </p:nvSpPr>
        <p:spPr>
          <a:xfrm>
            <a:off x="8531126" y="5915025"/>
            <a:ext cx="1323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Descriptor calculation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61975" y="533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57163" y="0"/>
                </a:moveTo>
                <a:cubicBezTo>
                  <a:pt x="165065" y="0"/>
                  <a:pt x="171450" y="6385"/>
                  <a:pt x="171450" y="14288"/>
                </a:cubicBezTo>
                <a:cubicBezTo>
                  <a:pt x="171450" y="40094"/>
                  <a:pt x="160556" y="61079"/>
                  <a:pt x="145822" y="78804"/>
                </a:cubicBezTo>
                <a:cubicBezTo>
                  <a:pt x="135062" y="91708"/>
                  <a:pt x="121801" y="103406"/>
                  <a:pt x="108496" y="114300"/>
                </a:cubicBezTo>
                <a:cubicBezTo>
                  <a:pt x="121801" y="125239"/>
                  <a:pt x="135062" y="136892"/>
                  <a:pt x="145822" y="149796"/>
                </a:cubicBezTo>
                <a:cubicBezTo>
                  <a:pt x="160556" y="167476"/>
                  <a:pt x="171450" y="188506"/>
                  <a:pt x="171450" y="214313"/>
                </a:cubicBez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cubicBezTo>
                  <a:pt x="0" y="188506"/>
                  <a:pt x="10894" y="167521"/>
                  <a:pt x="25628" y="149796"/>
                </a:cubicBezTo>
                <a:cubicBezTo>
                  <a:pt x="36388" y="136892"/>
                  <a:pt x="49649" y="125239"/>
                  <a:pt x="62954" y="114300"/>
                </a:cubicBezTo>
                <a:cubicBezTo>
                  <a:pt x="49649" y="103361"/>
                  <a:pt x="36388" y="91708"/>
                  <a:pt x="25628" y="78804"/>
                </a:cubicBezTo>
                <a:cubicBezTo>
                  <a:pt x="10894" y="61079"/>
                  <a:pt x="0" y="40094"/>
                  <a:pt x="0" y="14288"/>
                </a:cubicBezTo>
                <a:cubicBezTo>
                  <a:pt x="0" y="6385"/>
                  <a:pt x="6385" y="0"/>
                  <a:pt x="14288" y="0"/>
                </a:cubicBezTo>
                <a:cubicBezTo>
                  <a:pt x="22190" y="0"/>
                  <a:pt x="28575" y="6385"/>
                  <a:pt x="28575" y="14288"/>
                </a:cubicBezTo>
                <a:lnTo>
                  <a:pt x="142875" y="14288"/>
                </a:lnTo>
                <a:cubicBezTo>
                  <a:pt x="142875" y="6385"/>
                  <a:pt x="149260" y="0"/>
                  <a:pt x="157163" y="0"/>
                </a:cubicBezTo>
                <a:close/>
                <a:moveTo>
                  <a:pt x="126578" y="171450"/>
                </a:moveTo>
                <a:lnTo>
                  <a:pt x="44916" y="171450"/>
                </a:lnTo>
                <a:cubicBezTo>
                  <a:pt x="41255" y="176138"/>
                  <a:pt x="38174" y="180871"/>
                  <a:pt x="35719" y="185738"/>
                </a:cubicBezTo>
                <a:lnTo>
                  <a:pt x="135821" y="185738"/>
                </a:lnTo>
                <a:cubicBezTo>
                  <a:pt x="133320" y="180871"/>
                  <a:pt x="130239" y="176138"/>
                  <a:pt x="126623" y="171450"/>
                </a:cubicBezTo>
                <a:close/>
                <a:moveTo>
                  <a:pt x="106263" y="150019"/>
                </a:moveTo>
                <a:cubicBezTo>
                  <a:pt x="99879" y="144214"/>
                  <a:pt x="92958" y="138499"/>
                  <a:pt x="85725" y="132606"/>
                </a:cubicBezTo>
                <a:cubicBezTo>
                  <a:pt x="78492" y="138455"/>
                  <a:pt x="71571" y="144214"/>
                  <a:pt x="65187" y="150019"/>
                </a:cubicBezTo>
                <a:lnTo>
                  <a:pt x="106263" y="150019"/>
                </a:lnTo>
                <a:close/>
                <a:moveTo>
                  <a:pt x="44872" y="57150"/>
                </a:moveTo>
                <a:lnTo>
                  <a:pt x="126534" y="57150"/>
                </a:lnTo>
                <a:cubicBezTo>
                  <a:pt x="130195" y="52462"/>
                  <a:pt x="133276" y="47729"/>
                  <a:pt x="135731" y="42863"/>
                </a:cubicBezTo>
                <a:lnTo>
                  <a:pt x="35674" y="42863"/>
                </a:lnTo>
                <a:cubicBezTo>
                  <a:pt x="38174" y="47729"/>
                  <a:pt x="41255" y="52462"/>
                  <a:pt x="44872" y="57150"/>
                </a:cubicBezTo>
                <a:close/>
                <a:moveTo>
                  <a:pt x="65187" y="78581"/>
                </a:moveTo>
                <a:cubicBezTo>
                  <a:pt x="71571" y="84386"/>
                  <a:pt x="78492" y="90101"/>
                  <a:pt x="85725" y="95994"/>
                </a:cubicBezTo>
                <a:cubicBezTo>
                  <a:pt x="92958" y="90145"/>
                  <a:pt x="99879" y="84386"/>
                  <a:pt x="106263" y="78581"/>
                </a:cubicBezTo>
                <a:lnTo>
                  <a:pt x="65187" y="7858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4124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CHEMICAL INFORMATICS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42195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RDKit Mutation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09663"/>
            <a:ext cx="11420475" cy="1000125"/>
          </a:xfrm>
          <a:custGeom>
            <a:avLst/>
            <a:gdLst/>
            <a:ahLst/>
            <a:cxnLst/>
            <a:rect l="l" t="t" r="r" b="b"/>
            <a:pathLst>
              <a:path w="11420475" h="1000125">
                <a:moveTo>
                  <a:pt x="114304" y="0"/>
                </a:moveTo>
                <a:lnTo>
                  <a:pt x="11306171" y="0"/>
                </a:lnTo>
                <a:cubicBezTo>
                  <a:pt x="11369299" y="0"/>
                  <a:pt x="11420475" y="51176"/>
                  <a:pt x="11420475" y="114304"/>
                </a:cubicBezTo>
                <a:lnTo>
                  <a:pt x="11420475" y="885821"/>
                </a:lnTo>
                <a:cubicBezTo>
                  <a:pt x="11420475" y="948949"/>
                  <a:pt x="11369299" y="1000125"/>
                  <a:pt x="113061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D9C0">
                  <a:alpha val="10000"/>
                </a:srgbClr>
              </a:gs>
            </a:gsLst>
            <a:lin ang="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4825" y="1228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38175" y="1362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9" name="Text 7"/>
          <p:cNvSpPr/>
          <p:nvPr/>
        </p:nvSpPr>
        <p:spPr>
          <a:xfrm>
            <a:off x="1114425" y="1228725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Mutation Strategy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4425" y="1533525"/>
            <a:ext cx="10648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algorithm automatically applies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chemical reactions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the base polymer's aromatic rings, generating structurally valid derivatives with predictable property modifications.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2195513"/>
            <a:ext cx="5648325" cy="1590675"/>
          </a:xfrm>
          <a:custGeom>
            <a:avLst/>
            <a:gdLst/>
            <a:ahLst/>
            <a:cxnLst/>
            <a:rect l="l" t="t" r="r" b="b"/>
            <a:pathLst>
              <a:path w="5648325" h="1590675">
                <a:moveTo>
                  <a:pt x="114306" y="0"/>
                </a:moveTo>
                <a:lnTo>
                  <a:pt x="5534019" y="0"/>
                </a:lnTo>
                <a:cubicBezTo>
                  <a:pt x="5597149" y="0"/>
                  <a:pt x="5648325" y="51176"/>
                  <a:pt x="5648325" y="114306"/>
                </a:cubicBezTo>
                <a:lnTo>
                  <a:pt x="5648325" y="1476369"/>
                </a:lnTo>
                <a:cubicBezTo>
                  <a:pt x="5648325" y="1539499"/>
                  <a:pt x="5597149" y="1590675"/>
                  <a:pt x="5534019" y="1590675"/>
                </a:cubicBezTo>
                <a:lnTo>
                  <a:pt x="114306" y="1590675"/>
                </a:lnTo>
                <a:cubicBezTo>
                  <a:pt x="51176" y="1590675"/>
                  <a:pt x="0" y="1539499"/>
                  <a:pt x="0" y="14763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825" y="2352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54100" y="2409825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0125" y="2314575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Fluorination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2581275"/>
            <a:ext cx="1647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dielectric constant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4825" y="2847975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04825" y="2847975"/>
            <a:ext cx="547687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[cH1:1]&gt;&gt;[c:1](F)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825" y="3267075"/>
            <a:ext cx="5476875" cy="400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hydrogen with Fluorine atom, increasing electronegativity and reducing polarizability.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57913" y="2195513"/>
            <a:ext cx="5648325" cy="1590675"/>
          </a:xfrm>
          <a:custGeom>
            <a:avLst/>
            <a:gdLst/>
            <a:ahLst/>
            <a:cxnLst/>
            <a:rect l="l" t="t" r="r" b="b"/>
            <a:pathLst>
              <a:path w="5648325" h="1590675">
                <a:moveTo>
                  <a:pt x="114306" y="0"/>
                </a:moveTo>
                <a:lnTo>
                  <a:pt x="5534019" y="0"/>
                </a:lnTo>
                <a:cubicBezTo>
                  <a:pt x="5597149" y="0"/>
                  <a:pt x="5648325" y="51176"/>
                  <a:pt x="5648325" y="114306"/>
                </a:cubicBezTo>
                <a:lnTo>
                  <a:pt x="5648325" y="1476369"/>
                </a:lnTo>
                <a:cubicBezTo>
                  <a:pt x="5648325" y="1539499"/>
                  <a:pt x="5597149" y="1590675"/>
                  <a:pt x="5534019" y="1590675"/>
                </a:cubicBezTo>
                <a:lnTo>
                  <a:pt x="114306" y="1590675"/>
                </a:lnTo>
                <a:cubicBezTo>
                  <a:pt x="51176" y="1590675"/>
                  <a:pt x="0" y="1539499"/>
                  <a:pt x="0" y="14763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6975" y="2352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340525" y="2409825"/>
            <a:ext cx="342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CF₃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2275" y="2314575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Trifluoromethylation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2275" y="2581275"/>
            <a:ext cx="160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dielectric reduction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6975" y="2847975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276975" y="2847975"/>
            <a:ext cx="547687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[cH1:1]&gt;&gt;[c:1](C(F)(F)F)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76975" y="3267075"/>
            <a:ext cx="5476875" cy="400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CF₃ group for maximum dielectric constant reduction while maintaining thermal stability.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3910013"/>
            <a:ext cx="5648325" cy="1390650"/>
          </a:xfrm>
          <a:custGeom>
            <a:avLst/>
            <a:gdLst/>
            <a:ahLst/>
            <a:cxnLst/>
            <a:rect l="l" t="t" r="r" b="b"/>
            <a:pathLst>
              <a:path w="5648325" h="1390650">
                <a:moveTo>
                  <a:pt x="114298" y="0"/>
                </a:moveTo>
                <a:lnTo>
                  <a:pt x="5534027" y="0"/>
                </a:lnTo>
                <a:cubicBezTo>
                  <a:pt x="5597152" y="0"/>
                  <a:pt x="5648325" y="51173"/>
                  <a:pt x="5648325" y="114298"/>
                </a:cubicBezTo>
                <a:lnTo>
                  <a:pt x="5648325" y="1276352"/>
                </a:lnTo>
                <a:cubicBezTo>
                  <a:pt x="5648325" y="1339477"/>
                  <a:pt x="5597152" y="1390650"/>
                  <a:pt x="553402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825" y="4067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549176" y="4124325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CH₃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0125" y="4029075"/>
            <a:ext cx="1571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Methylation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0125" y="4295775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property tuning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825" y="4562475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504825" y="4562475"/>
            <a:ext cx="547687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[cH1:1]&gt;&gt;[c:1](C)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4825" y="4981575"/>
            <a:ext cx="547687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methyl group for subtle property modifications and steric effects.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57913" y="3910013"/>
            <a:ext cx="5648325" cy="1390650"/>
          </a:xfrm>
          <a:custGeom>
            <a:avLst/>
            <a:gdLst/>
            <a:ahLst/>
            <a:cxnLst/>
            <a:rect l="l" t="t" r="r" b="b"/>
            <a:pathLst>
              <a:path w="5648325" h="1390650">
                <a:moveTo>
                  <a:pt x="114298" y="0"/>
                </a:moveTo>
                <a:lnTo>
                  <a:pt x="5534027" y="0"/>
                </a:lnTo>
                <a:cubicBezTo>
                  <a:pt x="5597152" y="0"/>
                  <a:pt x="5648325" y="51173"/>
                  <a:pt x="5648325" y="114298"/>
                </a:cubicBezTo>
                <a:lnTo>
                  <a:pt x="5648325" y="1276352"/>
                </a:lnTo>
                <a:cubicBezTo>
                  <a:pt x="5648325" y="1339477"/>
                  <a:pt x="5597152" y="1390650"/>
                  <a:pt x="553402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6975" y="4067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392019" y="4124325"/>
            <a:ext cx="238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72275" y="4029075"/>
            <a:ext cx="1485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Chlorination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72275" y="4295775"/>
            <a:ext cx="1466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halogenation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76975" y="4562475"/>
            <a:ext cx="5410200" cy="342900"/>
          </a:xfrm>
          <a:custGeom>
            <a:avLst/>
            <a:gdLst/>
            <a:ahLst/>
            <a:cxnLst/>
            <a:rect l="l" t="t" r="r" b="b"/>
            <a:pathLst>
              <a:path w="5410200" h="342900">
                <a:moveTo>
                  <a:pt x="76199" y="0"/>
                </a:moveTo>
                <a:lnTo>
                  <a:pt x="5334001" y="0"/>
                </a:lnTo>
                <a:cubicBezTo>
                  <a:pt x="5376084" y="0"/>
                  <a:pt x="5410200" y="34116"/>
                  <a:pt x="5410200" y="76199"/>
                </a:cubicBezTo>
                <a:lnTo>
                  <a:pt x="5410200" y="266701"/>
                </a:lnTo>
                <a:cubicBezTo>
                  <a:pt x="5410200" y="308784"/>
                  <a:pt x="5376084" y="342900"/>
                  <a:pt x="53340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276975" y="4562475"/>
            <a:ext cx="5476875" cy="342900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[cH1:1]&gt;&gt;[c:1](Cl)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76975" y="4981575"/>
            <a:ext cx="547687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Replaces hydrogen with Chlorine, offering different electronic effects than fluorine.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5763" y="5386388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20000"/>
                </a:srgbClr>
              </a:gs>
              <a:gs pos="50000">
                <a:srgbClr val="00D9C0">
                  <a:alpha val="20000"/>
                </a:srgbClr>
              </a:gs>
              <a:gs pos="100000">
                <a:srgbClr val="3A8DFF">
                  <a:alpha val="20000"/>
                </a:srgbClr>
              </a:gs>
            </a:gsLst>
            <a:lin ang="0" scaled="1"/>
          </a:gradFill>
          <a:ln w="12700">
            <a:solidFill>
              <a:srgbClr val="3A8DF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4825" y="5581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45" name="Shape 43"/>
          <p:cNvSpPr/>
          <p:nvPr/>
        </p:nvSpPr>
        <p:spPr>
          <a:xfrm>
            <a:off x="638175" y="571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1114425" y="5562600"/>
            <a:ext cx="3581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Generation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4425" y="5829300"/>
            <a:ext cx="3562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Balancing computational cost with chemical diversity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458301" y="5505450"/>
            <a:ext cx="1228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553551" y="5886450"/>
            <a:ext cx="1133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Candidates/Run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340321"/>
            <a:ext cx="476449" cy="476449"/>
          </a:xfrm>
          <a:custGeom>
            <a:avLst/>
            <a:gdLst/>
            <a:ahLst/>
            <a:cxnLst/>
            <a:rect l="l" t="t" r="r" b="b"/>
            <a:pathLst>
              <a:path w="476449" h="476449">
                <a:moveTo>
                  <a:pt x="102098" y="0"/>
                </a:moveTo>
                <a:lnTo>
                  <a:pt x="374351" y="0"/>
                </a:lnTo>
                <a:cubicBezTo>
                  <a:pt x="430738" y="0"/>
                  <a:pt x="476449" y="45711"/>
                  <a:pt x="476449" y="102098"/>
                </a:cubicBezTo>
                <a:lnTo>
                  <a:pt x="476449" y="374351"/>
                </a:lnTo>
                <a:cubicBezTo>
                  <a:pt x="476449" y="430738"/>
                  <a:pt x="430738" y="476449"/>
                  <a:pt x="374351" y="476449"/>
                </a:cubicBezTo>
                <a:lnTo>
                  <a:pt x="102098" y="476449"/>
                </a:lnTo>
                <a:cubicBezTo>
                  <a:pt x="45711" y="476449"/>
                  <a:pt x="0" y="430738"/>
                  <a:pt x="0" y="374351"/>
                </a:cubicBezTo>
                <a:lnTo>
                  <a:pt x="0" y="102098"/>
                </a:lnTo>
                <a:cubicBezTo>
                  <a:pt x="0" y="45711"/>
                  <a:pt x="45711" y="0"/>
                  <a:pt x="1020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476449" y="476449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02096" y="0"/>
                </a:moveTo>
                <a:cubicBezTo>
                  <a:pt x="103931" y="0"/>
                  <a:pt x="105765" y="399"/>
                  <a:pt x="107440" y="1157"/>
                </a:cubicBezTo>
                <a:lnTo>
                  <a:pt x="182577" y="33022"/>
                </a:lnTo>
                <a:cubicBezTo>
                  <a:pt x="191351" y="36731"/>
                  <a:pt x="197891" y="45385"/>
                  <a:pt x="197851" y="55834"/>
                </a:cubicBezTo>
                <a:cubicBezTo>
                  <a:pt x="197652" y="95396"/>
                  <a:pt x="181380" y="167781"/>
                  <a:pt x="112665" y="200683"/>
                </a:cubicBezTo>
                <a:cubicBezTo>
                  <a:pt x="106005" y="203874"/>
                  <a:pt x="98268" y="203874"/>
                  <a:pt x="91608" y="200683"/>
                </a:cubicBezTo>
                <a:cubicBezTo>
                  <a:pt x="22852" y="167781"/>
                  <a:pt x="6620" y="95396"/>
                  <a:pt x="6421" y="55834"/>
                </a:cubicBezTo>
                <a:cubicBezTo>
                  <a:pt x="6381" y="45385"/>
                  <a:pt x="12922" y="36731"/>
                  <a:pt x="21695" y="33022"/>
                </a:cubicBezTo>
                <a:lnTo>
                  <a:pt x="96792" y="1157"/>
                </a:lnTo>
                <a:cubicBezTo>
                  <a:pt x="98467" y="399"/>
                  <a:pt x="100262" y="0"/>
                  <a:pt x="102096" y="0"/>
                </a:cubicBezTo>
                <a:close/>
                <a:moveTo>
                  <a:pt x="102096" y="26641"/>
                </a:moveTo>
                <a:lnTo>
                  <a:pt x="102096" y="177432"/>
                </a:lnTo>
                <a:cubicBezTo>
                  <a:pt x="157133" y="150791"/>
                  <a:pt x="171929" y="91767"/>
                  <a:pt x="172288" y="56432"/>
                </a:cubicBezTo>
                <a:lnTo>
                  <a:pt x="102096" y="26681"/>
                </a:lnTo>
                <a:lnTo>
                  <a:pt x="102096" y="2668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952899" y="340321"/>
            <a:ext cx="3692483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kern="0" spc="54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899" y="578546"/>
            <a:ext cx="3777563" cy="3403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Enforcing Chemical Reality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899" y="952899"/>
            <a:ext cx="3709499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Tanimoto Similarity Constraints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575" y="1297474"/>
            <a:ext cx="5674853" cy="2220595"/>
          </a:xfrm>
          <a:custGeom>
            <a:avLst/>
            <a:gdLst/>
            <a:ahLst/>
            <a:cxnLst/>
            <a:rect l="l" t="t" r="r" b="b"/>
            <a:pathLst>
              <a:path w="5674853" h="2220595">
                <a:moveTo>
                  <a:pt x="102103" y="0"/>
                </a:moveTo>
                <a:lnTo>
                  <a:pt x="5572750" y="0"/>
                </a:lnTo>
                <a:cubicBezTo>
                  <a:pt x="5629140" y="0"/>
                  <a:pt x="5674853" y="45713"/>
                  <a:pt x="5674853" y="102103"/>
                </a:cubicBezTo>
                <a:lnTo>
                  <a:pt x="5674853" y="2118492"/>
                </a:lnTo>
                <a:cubicBezTo>
                  <a:pt x="5674853" y="2174882"/>
                  <a:pt x="5629140" y="2220595"/>
                  <a:pt x="5572750" y="2220595"/>
                </a:cubicBezTo>
                <a:lnTo>
                  <a:pt x="102103" y="2220595"/>
                </a:lnTo>
                <a:cubicBezTo>
                  <a:pt x="45713" y="2220595"/>
                  <a:pt x="0" y="2174882"/>
                  <a:pt x="0" y="2118492"/>
                </a:cubicBezTo>
                <a:lnTo>
                  <a:pt x="0" y="102103"/>
                </a:lnTo>
                <a:cubicBezTo>
                  <a:pt x="0" y="45751"/>
                  <a:pt x="45751" y="0"/>
                  <a:pt x="1021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10000"/>
                </a:srgbClr>
              </a:gs>
              <a:gs pos="100000">
                <a:srgbClr val="4A5568">
                  <a:alpha val="5000"/>
                </a:srgbClr>
              </a:gs>
            </a:gsLst>
            <a:lin ang="2700000" scaled="1"/>
          </a:gradFill>
          <a:ln w="1270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957" y="1437856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04070" y="1556969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85080" y="0"/>
                </a:moveTo>
                <a:cubicBezTo>
                  <a:pt x="89966" y="0"/>
                  <a:pt x="94452" y="2692"/>
                  <a:pt x="96779" y="6979"/>
                </a:cubicBezTo>
                <a:lnTo>
                  <a:pt x="168565" y="139917"/>
                </a:lnTo>
                <a:cubicBezTo>
                  <a:pt x="170792" y="144038"/>
                  <a:pt x="170692" y="149023"/>
                  <a:pt x="168299" y="153045"/>
                </a:cubicBezTo>
                <a:cubicBezTo>
                  <a:pt x="165906" y="157066"/>
                  <a:pt x="161553" y="159525"/>
                  <a:pt x="156867" y="159525"/>
                </a:cubicBezTo>
                <a:lnTo>
                  <a:pt x="13294" y="159525"/>
                </a:lnTo>
                <a:cubicBezTo>
                  <a:pt x="8608" y="159525"/>
                  <a:pt x="4287" y="157066"/>
                  <a:pt x="1861" y="153045"/>
                </a:cubicBezTo>
                <a:cubicBezTo>
                  <a:pt x="-565" y="149023"/>
                  <a:pt x="-631" y="144038"/>
                  <a:pt x="1595" y="139917"/>
                </a:cubicBezTo>
                <a:lnTo>
                  <a:pt x="73382" y="6979"/>
                </a:lnTo>
                <a:cubicBezTo>
                  <a:pt x="75708" y="2692"/>
                  <a:pt x="80195" y="0"/>
                  <a:pt x="85080" y="0"/>
                </a:cubicBezTo>
                <a:close/>
                <a:moveTo>
                  <a:pt x="85080" y="55834"/>
                </a:moveTo>
                <a:cubicBezTo>
                  <a:pt x="80660" y="55834"/>
                  <a:pt x="77104" y="59390"/>
                  <a:pt x="77104" y="63810"/>
                </a:cubicBezTo>
                <a:lnTo>
                  <a:pt x="77104" y="101033"/>
                </a:lnTo>
                <a:cubicBezTo>
                  <a:pt x="77104" y="105453"/>
                  <a:pt x="80660" y="109009"/>
                  <a:pt x="85080" y="109009"/>
                </a:cubicBezTo>
                <a:cubicBezTo>
                  <a:pt x="89500" y="109009"/>
                  <a:pt x="93057" y="105453"/>
                  <a:pt x="93057" y="101033"/>
                </a:cubicBezTo>
                <a:lnTo>
                  <a:pt x="93057" y="63810"/>
                </a:lnTo>
                <a:cubicBezTo>
                  <a:pt x="93057" y="59390"/>
                  <a:pt x="89500" y="55834"/>
                  <a:pt x="85080" y="55834"/>
                </a:cubicBezTo>
                <a:close/>
                <a:moveTo>
                  <a:pt x="93954" y="127620"/>
                </a:moveTo>
                <a:cubicBezTo>
                  <a:pt x="94156" y="124327"/>
                  <a:pt x="92513" y="121193"/>
                  <a:pt x="89690" y="119485"/>
                </a:cubicBezTo>
                <a:cubicBezTo>
                  <a:pt x="86866" y="117777"/>
                  <a:pt x="83328" y="117777"/>
                  <a:pt x="80504" y="119485"/>
                </a:cubicBezTo>
                <a:cubicBezTo>
                  <a:pt x="77681" y="121193"/>
                  <a:pt x="76038" y="124327"/>
                  <a:pt x="76240" y="127620"/>
                </a:cubicBezTo>
                <a:cubicBezTo>
                  <a:pt x="76038" y="130914"/>
                  <a:pt x="77681" y="134048"/>
                  <a:pt x="80504" y="135756"/>
                </a:cubicBezTo>
                <a:cubicBezTo>
                  <a:pt x="83328" y="137464"/>
                  <a:pt x="86866" y="137464"/>
                  <a:pt x="89690" y="135756"/>
                </a:cubicBezTo>
                <a:cubicBezTo>
                  <a:pt x="92513" y="134048"/>
                  <a:pt x="94156" y="130914"/>
                  <a:pt x="93954" y="127620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10" name="Text 8"/>
          <p:cNvSpPr/>
          <p:nvPr/>
        </p:nvSpPr>
        <p:spPr>
          <a:xfrm>
            <a:off x="995439" y="1522936"/>
            <a:ext cx="1037979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957" y="1948338"/>
            <a:ext cx="5462152" cy="442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Randomly mutating chemistry can create </a:t>
            </a:r>
            <a:r>
              <a:rPr lang="en-US" sz="1070" b="1" dirty="0">
                <a:solidFill>
                  <a:srgbClr val="E2E8F0">
                    <a:alpha val="90000"/>
                  </a:srgbClr>
                </a:solidFill>
                <a:highlight>
                  <a:srgbClr val="4A5568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theoretical molecules </a:t>
            </a:r>
            <a:r>
              <a:rPr lang="en-US" sz="107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are impossible to actually manufacture or synthesize in practice.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1973" y="2526883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136128"/>
                </a:moveTo>
                <a:cubicBezTo>
                  <a:pt x="105630" y="136128"/>
                  <a:pt x="136128" y="105630"/>
                  <a:pt x="136128" y="68064"/>
                </a:cubicBezTo>
                <a:cubicBezTo>
                  <a:pt x="136128" y="30499"/>
                  <a:pt x="105630" y="0"/>
                  <a:pt x="68064" y="0"/>
                </a:cubicBezTo>
                <a:cubicBezTo>
                  <a:pt x="30499" y="0"/>
                  <a:pt x="0" y="30499"/>
                  <a:pt x="0" y="68064"/>
                </a:cubicBezTo>
                <a:cubicBezTo>
                  <a:pt x="0" y="105630"/>
                  <a:pt x="30499" y="136128"/>
                  <a:pt x="68064" y="136128"/>
                </a:cubicBezTo>
                <a:close/>
                <a:moveTo>
                  <a:pt x="44401" y="44401"/>
                </a:moveTo>
                <a:cubicBezTo>
                  <a:pt x="46900" y="41902"/>
                  <a:pt x="50942" y="41902"/>
                  <a:pt x="53414" y="44401"/>
                </a:cubicBezTo>
                <a:lnTo>
                  <a:pt x="68038" y="59024"/>
                </a:lnTo>
                <a:lnTo>
                  <a:pt x="82661" y="44401"/>
                </a:lnTo>
                <a:cubicBezTo>
                  <a:pt x="85160" y="41902"/>
                  <a:pt x="89201" y="41902"/>
                  <a:pt x="91674" y="44401"/>
                </a:cubicBezTo>
                <a:cubicBezTo>
                  <a:pt x="94147" y="46900"/>
                  <a:pt x="94173" y="50942"/>
                  <a:pt x="91674" y="53414"/>
                </a:cubicBezTo>
                <a:lnTo>
                  <a:pt x="77051" y="68038"/>
                </a:lnTo>
                <a:lnTo>
                  <a:pt x="91674" y="82661"/>
                </a:lnTo>
                <a:cubicBezTo>
                  <a:pt x="94173" y="85160"/>
                  <a:pt x="94173" y="89201"/>
                  <a:pt x="91674" y="91674"/>
                </a:cubicBezTo>
                <a:cubicBezTo>
                  <a:pt x="89175" y="94147"/>
                  <a:pt x="85133" y="94173"/>
                  <a:pt x="82661" y="91674"/>
                </a:cubicBezTo>
                <a:lnTo>
                  <a:pt x="68038" y="77051"/>
                </a:lnTo>
                <a:lnTo>
                  <a:pt x="53414" y="91674"/>
                </a:lnTo>
                <a:cubicBezTo>
                  <a:pt x="50915" y="94173"/>
                  <a:pt x="46874" y="94173"/>
                  <a:pt x="44401" y="91674"/>
                </a:cubicBezTo>
                <a:cubicBezTo>
                  <a:pt x="41929" y="89175"/>
                  <a:pt x="41902" y="85133"/>
                  <a:pt x="44401" y="82661"/>
                </a:cubicBezTo>
                <a:lnTo>
                  <a:pt x="59024" y="68038"/>
                </a:lnTo>
                <a:lnTo>
                  <a:pt x="44401" y="53414"/>
                </a:lnTo>
                <a:cubicBezTo>
                  <a:pt x="41902" y="50915"/>
                  <a:pt x="41902" y="46874"/>
                  <a:pt x="44401" y="4440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3" name="Text 11"/>
          <p:cNvSpPr/>
          <p:nvPr/>
        </p:nvSpPr>
        <p:spPr>
          <a:xfrm>
            <a:off x="723182" y="2492851"/>
            <a:ext cx="1548461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Unstable chemical structures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973" y="2765108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136128"/>
                </a:moveTo>
                <a:cubicBezTo>
                  <a:pt x="105630" y="136128"/>
                  <a:pt x="136128" y="105630"/>
                  <a:pt x="136128" y="68064"/>
                </a:cubicBezTo>
                <a:cubicBezTo>
                  <a:pt x="136128" y="30499"/>
                  <a:pt x="105630" y="0"/>
                  <a:pt x="68064" y="0"/>
                </a:cubicBezTo>
                <a:cubicBezTo>
                  <a:pt x="30499" y="0"/>
                  <a:pt x="0" y="30499"/>
                  <a:pt x="0" y="68064"/>
                </a:cubicBezTo>
                <a:cubicBezTo>
                  <a:pt x="0" y="105630"/>
                  <a:pt x="30499" y="136128"/>
                  <a:pt x="68064" y="136128"/>
                </a:cubicBezTo>
                <a:close/>
                <a:moveTo>
                  <a:pt x="44401" y="44401"/>
                </a:moveTo>
                <a:cubicBezTo>
                  <a:pt x="46900" y="41902"/>
                  <a:pt x="50942" y="41902"/>
                  <a:pt x="53414" y="44401"/>
                </a:cubicBezTo>
                <a:lnTo>
                  <a:pt x="68038" y="59024"/>
                </a:lnTo>
                <a:lnTo>
                  <a:pt x="82661" y="44401"/>
                </a:lnTo>
                <a:cubicBezTo>
                  <a:pt x="85160" y="41902"/>
                  <a:pt x="89201" y="41902"/>
                  <a:pt x="91674" y="44401"/>
                </a:cubicBezTo>
                <a:cubicBezTo>
                  <a:pt x="94147" y="46900"/>
                  <a:pt x="94173" y="50942"/>
                  <a:pt x="91674" y="53414"/>
                </a:cubicBezTo>
                <a:lnTo>
                  <a:pt x="77051" y="68038"/>
                </a:lnTo>
                <a:lnTo>
                  <a:pt x="91674" y="82661"/>
                </a:lnTo>
                <a:cubicBezTo>
                  <a:pt x="94173" y="85160"/>
                  <a:pt x="94173" y="89201"/>
                  <a:pt x="91674" y="91674"/>
                </a:cubicBezTo>
                <a:cubicBezTo>
                  <a:pt x="89175" y="94147"/>
                  <a:pt x="85133" y="94173"/>
                  <a:pt x="82661" y="91674"/>
                </a:cubicBezTo>
                <a:lnTo>
                  <a:pt x="68038" y="77051"/>
                </a:lnTo>
                <a:lnTo>
                  <a:pt x="53414" y="91674"/>
                </a:lnTo>
                <a:cubicBezTo>
                  <a:pt x="50915" y="94173"/>
                  <a:pt x="46874" y="94173"/>
                  <a:pt x="44401" y="91674"/>
                </a:cubicBezTo>
                <a:cubicBezTo>
                  <a:pt x="41929" y="89175"/>
                  <a:pt x="41902" y="85133"/>
                  <a:pt x="44401" y="82661"/>
                </a:cubicBezTo>
                <a:lnTo>
                  <a:pt x="59024" y="68038"/>
                </a:lnTo>
                <a:lnTo>
                  <a:pt x="44401" y="53414"/>
                </a:lnTo>
                <a:cubicBezTo>
                  <a:pt x="41902" y="50915"/>
                  <a:pt x="41902" y="46874"/>
                  <a:pt x="44401" y="4440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5" name="Text 13"/>
          <p:cNvSpPr/>
          <p:nvPr/>
        </p:nvSpPr>
        <p:spPr>
          <a:xfrm>
            <a:off x="723182" y="2731076"/>
            <a:ext cx="1659065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Impossible synthesis pathways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1973" y="3003333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68064" y="136128"/>
                </a:moveTo>
                <a:cubicBezTo>
                  <a:pt x="105630" y="136128"/>
                  <a:pt x="136128" y="105630"/>
                  <a:pt x="136128" y="68064"/>
                </a:cubicBezTo>
                <a:cubicBezTo>
                  <a:pt x="136128" y="30499"/>
                  <a:pt x="105630" y="0"/>
                  <a:pt x="68064" y="0"/>
                </a:cubicBezTo>
                <a:cubicBezTo>
                  <a:pt x="30499" y="0"/>
                  <a:pt x="0" y="30499"/>
                  <a:pt x="0" y="68064"/>
                </a:cubicBezTo>
                <a:cubicBezTo>
                  <a:pt x="0" y="105630"/>
                  <a:pt x="30499" y="136128"/>
                  <a:pt x="68064" y="136128"/>
                </a:cubicBezTo>
                <a:close/>
                <a:moveTo>
                  <a:pt x="44401" y="44401"/>
                </a:moveTo>
                <a:cubicBezTo>
                  <a:pt x="46900" y="41902"/>
                  <a:pt x="50942" y="41902"/>
                  <a:pt x="53414" y="44401"/>
                </a:cubicBezTo>
                <a:lnTo>
                  <a:pt x="68038" y="59024"/>
                </a:lnTo>
                <a:lnTo>
                  <a:pt x="82661" y="44401"/>
                </a:lnTo>
                <a:cubicBezTo>
                  <a:pt x="85160" y="41902"/>
                  <a:pt x="89201" y="41902"/>
                  <a:pt x="91674" y="44401"/>
                </a:cubicBezTo>
                <a:cubicBezTo>
                  <a:pt x="94147" y="46900"/>
                  <a:pt x="94173" y="50942"/>
                  <a:pt x="91674" y="53414"/>
                </a:cubicBezTo>
                <a:lnTo>
                  <a:pt x="77051" y="68038"/>
                </a:lnTo>
                <a:lnTo>
                  <a:pt x="91674" y="82661"/>
                </a:lnTo>
                <a:cubicBezTo>
                  <a:pt x="94173" y="85160"/>
                  <a:pt x="94173" y="89201"/>
                  <a:pt x="91674" y="91674"/>
                </a:cubicBezTo>
                <a:cubicBezTo>
                  <a:pt x="89175" y="94147"/>
                  <a:pt x="85133" y="94173"/>
                  <a:pt x="82661" y="91674"/>
                </a:cubicBezTo>
                <a:lnTo>
                  <a:pt x="68038" y="77051"/>
                </a:lnTo>
                <a:lnTo>
                  <a:pt x="53414" y="91674"/>
                </a:lnTo>
                <a:cubicBezTo>
                  <a:pt x="50915" y="94173"/>
                  <a:pt x="46874" y="94173"/>
                  <a:pt x="44401" y="91674"/>
                </a:cubicBezTo>
                <a:cubicBezTo>
                  <a:pt x="41929" y="89175"/>
                  <a:pt x="41902" y="85133"/>
                  <a:pt x="44401" y="82661"/>
                </a:cubicBezTo>
                <a:lnTo>
                  <a:pt x="59024" y="68038"/>
                </a:lnTo>
                <a:lnTo>
                  <a:pt x="44401" y="53414"/>
                </a:lnTo>
                <a:cubicBezTo>
                  <a:pt x="41902" y="50915"/>
                  <a:pt x="41902" y="46874"/>
                  <a:pt x="44401" y="44401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7" name="Text 15"/>
          <p:cNvSpPr/>
          <p:nvPr/>
        </p:nvSpPr>
        <p:spPr>
          <a:xfrm>
            <a:off x="723182" y="2969301"/>
            <a:ext cx="1420840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commercial availability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67786" y="1297474"/>
            <a:ext cx="5674853" cy="2220595"/>
          </a:xfrm>
          <a:custGeom>
            <a:avLst/>
            <a:gdLst/>
            <a:ahLst/>
            <a:cxnLst/>
            <a:rect l="l" t="t" r="r" b="b"/>
            <a:pathLst>
              <a:path w="5674853" h="2220595">
                <a:moveTo>
                  <a:pt x="102103" y="0"/>
                </a:moveTo>
                <a:lnTo>
                  <a:pt x="5572750" y="0"/>
                </a:lnTo>
                <a:cubicBezTo>
                  <a:pt x="5629140" y="0"/>
                  <a:pt x="5674853" y="45713"/>
                  <a:pt x="5674853" y="102103"/>
                </a:cubicBezTo>
                <a:lnTo>
                  <a:pt x="5674853" y="2118492"/>
                </a:lnTo>
                <a:cubicBezTo>
                  <a:pt x="5674853" y="2174882"/>
                  <a:pt x="5629140" y="2220595"/>
                  <a:pt x="5572750" y="2220595"/>
                </a:cubicBezTo>
                <a:lnTo>
                  <a:pt x="102103" y="2220595"/>
                </a:lnTo>
                <a:cubicBezTo>
                  <a:pt x="45713" y="2220595"/>
                  <a:pt x="0" y="2174882"/>
                  <a:pt x="0" y="2118492"/>
                </a:cubicBezTo>
                <a:lnTo>
                  <a:pt x="0" y="102103"/>
                </a:lnTo>
                <a:cubicBezTo>
                  <a:pt x="0" y="45751"/>
                  <a:pt x="45751" y="0"/>
                  <a:pt x="1021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8169" y="1437856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20" name="Shape 18"/>
          <p:cNvSpPr/>
          <p:nvPr/>
        </p:nvSpPr>
        <p:spPr>
          <a:xfrm>
            <a:off x="6427281" y="1556969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15953" y="85080"/>
                </a:moveTo>
                <a:cubicBezTo>
                  <a:pt x="15953" y="46894"/>
                  <a:pt x="46894" y="15953"/>
                  <a:pt x="85080" y="15953"/>
                </a:cubicBezTo>
                <a:cubicBezTo>
                  <a:pt x="106051" y="15953"/>
                  <a:pt x="124829" y="25291"/>
                  <a:pt x="137524" y="40048"/>
                </a:cubicBezTo>
                <a:cubicBezTo>
                  <a:pt x="140382" y="43404"/>
                  <a:pt x="145434" y="43770"/>
                  <a:pt x="148758" y="40912"/>
                </a:cubicBezTo>
                <a:cubicBezTo>
                  <a:pt x="152081" y="38053"/>
                  <a:pt x="152480" y="33002"/>
                  <a:pt x="149622" y="29678"/>
                </a:cubicBezTo>
                <a:cubicBezTo>
                  <a:pt x="134035" y="11499"/>
                  <a:pt x="110903" y="0"/>
                  <a:pt x="85080" y="0"/>
                </a:cubicBezTo>
                <a:cubicBezTo>
                  <a:pt x="38087" y="0"/>
                  <a:pt x="0" y="38087"/>
                  <a:pt x="0" y="85080"/>
                </a:cubicBezTo>
                <a:lnTo>
                  <a:pt x="0" y="98374"/>
                </a:lnTo>
                <a:cubicBezTo>
                  <a:pt x="0" y="102794"/>
                  <a:pt x="3556" y="106350"/>
                  <a:pt x="7976" y="106350"/>
                </a:cubicBezTo>
                <a:cubicBezTo>
                  <a:pt x="12396" y="106350"/>
                  <a:pt x="15953" y="102794"/>
                  <a:pt x="15953" y="98374"/>
                </a:cubicBezTo>
                <a:lnTo>
                  <a:pt x="15953" y="85080"/>
                </a:lnTo>
                <a:close/>
                <a:moveTo>
                  <a:pt x="168333" y="67499"/>
                </a:moveTo>
                <a:cubicBezTo>
                  <a:pt x="167435" y="63179"/>
                  <a:pt x="163181" y="60420"/>
                  <a:pt x="158894" y="61351"/>
                </a:cubicBezTo>
                <a:cubicBezTo>
                  <a:pt x="154607" y="62281"/>
                  <a:pt x="151815" y="66502"/>
                  <a:pt x="152746" y="70789"/>
                </a:cubicBezTo>
                <a:cubicBezTo>
                  <a:pt x="153709" y="75409"/>
                  <a:pt x="154241" y="80195"/>
                  <a:pt x="154241" y="85113"/>
                </a:cubicBezTo>
                <a:lnTo>
                  <a:pt x="154241" y="98407"/>
                </a:lnTo>
                <a:cubicBezTo>
                  <a:pt x="154241" y="102827"/>
                  <a:pt x="157797" y="106384"/>
                  <a:pt x="162217" y="106384"/>
                </a:cubicBezTo>
                <a:cubicBezTo>
                  <a:pt x="166638" y="106384"/>
                  <a:pt x="170194" y="102827"/>
                  <a:pt x="170194" y="98407"/>
                </a:cubicBezTo>
                <a:lnTo>
                  <a:pt x="170194" y="85113"/>
                </a:lnTo>
                <a:cubicBezTo>
                  <a:pt x="170194" y="79098"/>
                  <a:pt x="169562" y="73216"/>
                  <a:pt x="168366" y="67532"/>
                </a:cubicBezTo>
                <a:close/>
                <a:moveTo>
                  <a:pt x="85080" y="26588"/>
                </a:moveTo>
                <a:cubicBezTo>
                  <a:pt x="78766" y="26588"/>
                  <a:pt x="72651" y="27585"/>
                  <a:pt x="66967" y="29446"/>
                </a:cubicBezTo>
                <a:cubicBezTo>
                  <a:pt x="61916" y="31107"/>
                  <a:pt x="60753" y="37322"/>
                  <a:pt x="64209" y="41377"/>
                </a:cubicBezTo>
                <a:cubicBezTo>
                  <a:pt x="66569" y="44135"/>
                  <a:pt x="70457" y="44966"/>
                  <a:pt x="73980" y="44002"/>
                </a:cubicBezTo>
                <a:cubicBezTo>
                  <a:pt x="77503" y="43039"/>
                  <a:pt x="81225" y="42540"/>
                  <a:pt x="85080" y="42540"/>
                </a:cubicBezTo>
                <a:cubicBezTo>
                  <a:pt x="108577" y="42540"/>
                  <a:pt x="127620" y="61583"/>
                  <a:pt x="127620" y="85080"/>
                </a:cubicBezTo>
                <a:lnTo>
                  <a:pt x="127620" y="93356"/>
                </a:lnTo>
                <a:cubicBezTo>
                  <a:pt x="127620" y="101731"/>
                  <a:pt x="127122" y="110073"/>
                  <a:pt x="126158" y="118381"/>
                </a:cubicBezTo>
                <a:cubicBezTo>
                  <a:pt x="125593" y="123233"/>
                  <a:pt x="129282" y="127620"/>
                  <a:pt x="134201" y="127620"/>
                </a:cubicBezTo>
                <a:cubicBezTo>
                  <a:pt x="138122" y="127620"/>
                  <a:pt x="141479" y="124762"/>
                  <a:pt x="141944" y="120874"/>
                </a:cubicBezTo>
                <a:cubicBezTo>
                  <a:pt x="143041" y="111768"/>
                  <a:pt x="143606" y="102595"/>
                  <a:pt x="143606" y="93389"/>
                </a:cubicBezTo>
                <a:lnTo>
                  <a:pt x="143606" y="85113"/>
                </a:lnTo>
                <a:cubicBezTo>
                  <a:pt x="143606" y="52810"/>
                  <a:pt x="117417" y="26621"/>
                  <a:pt x="85113" y="26621"/>
                </a:cubicBezTo>
                <a:close/>
                <a:moveTo>
                  <a:pt x="50084" y="49420"/>
                </a:moveTo>
                <a:cubicBezTo>
                  <a:pt x="47060" y="45897"/>
                  <a:pt x="41676" y="45631"/>
                  <a:pt x="38818" y="49287"/>
                </a:cubicBezTo>
                <a:cubicBezTo>
                  <a:pt x="31141" y="59191"/>
                  <a:pt x="26588" y="71587"/>
                  <a:pt x="26588" y="85080"/>
                </a:cubicBezTo>
                <a:lnTo>
                  <a:pt x="26588" y="93356"/>
                </a:lnTo>
                <a:cubicBezTo>
                  <a:pt x="26588" y="101398"/>
                  <a:pt x="25723" y="109441"/>
                  <a:pt x="23995" y="117251"/>
                </a:cubicBezTo>
                <a:cubicBezTo>
                  <a:pt x="22865" y="122436"/>
                  <a:pt x="26621" y="127587"/>
                  <a:pt x="31938" y="127587"/>
                </a:cubicBezTo>
                <a:cubicBezTo>
                  <a:pt x="35428" y="127587"/>
                  <a:pt x="38552" y="125261"/>
                  <a:pt x="39316" y="121838"/>
                </a:cubicBezTo>
                <a:cubicBezTo>
                  <a:pt x="41443" y="112499"/>
                  <a:pt x="42540" y="102960"/>
                  <a:pt x="42540" y="93322"/>
                </a:cubicBezTo>
                <a:lnTo>
                  <a:pt x="42540" y="85047"/>
                </a:lnTo>
                <a:cubicBezTo>
                  <a:pt x="42540" y="76007"/>
                  <a:pt x="45365" y="67632"/>
                  <a:pt x="50151" y="60753"/>
                </a:cubicBezTo>
                <a:cubicBezTo>
                  <a:pt x="52544" y="57296"/>
                  <a:pt x="52810" y="52577"/>
                  <a:pt x="50084" y="49386"/>
                </a:cubicBezTo>
                <a:close/>
                <a:moveTo>
                  <a:pt x="85080" y="53175"/>
                </a:moveTo>
                <a:cubicBezTo>
                  <a:pt x="67466" y="53175"/>
                  <a:pt x="53175" y="67466"/>
                  <a:pt x="53175" y="85080"/>
                </a:cubicBezTo>
                <a:lnTo>
                  <a:pt x="53175" y="93356"/>
                </a:lnTo>
                <a:cubicBezTo>
                  <a:pt x="53175" y="105287"/>
                  <a:pt x="51646" y="117118"/>
                  <a:pt x="48589" y="128617"/>
                </a:cubicBezTo>
                <a:cubicBezTo>
                  <a:pt x="47326" y="133370"/>
                  <a:pt x="50816" y="138255"/>
                  <a:pt x="55734" y="138255"/>
                </a:cubicBezTo>
                <a:cubicBezTo>
                  <a:pt x="58891" y="138255"/>
                  <a:pt x="61683" y="136195"/>
                  <a:pt x="62514" y="133137"/>
                </a:cubicBezTo>
                <a:cubicBezTo>
                  <a:pt x="66004" y="120176"/>
                  <a:pt x="67798" y="106816"/>
                  <a:pt x="67798" y="93356"/>
                </a:cubicBezTo>
                <a:lnTo>
                  <a:pt x="67798" y="85080"/>
                </a:lnTo>
                <a:cubicBezTo>
                  <a:pt x="67798" y="75542"/>
                  <a:pt x="75542" y="67798"/>
                  <a:pt x="85080" y="67798"/>
                </a:cubicBezTo>
                <a:cubicBezTo>
                  <a:pt x="94619" y="67798"/>
                  <a:pt x="102362" y="75542"/>
                  <a:pt x="102362" y="85080"/>
                </a:cubicBezTo>
                <a:lnTo>
                  <a:pt x="102362" y="93356"/>
                </a:lnTo>
                <a:cubicBezTo>
                  <a:pt x="102362" y="105420"/>
                  <a:pt x="101199" y="117417"/>
                  <a:pt x="98906" y="129216"/>
                </a:cubicBezTo>
                <a:cubicBezTo>
                  <a:pt x="98008" y="133835"/>
                  <a:pt x="101465" y="138255"/>
                  <a:pt x="106151" y="138255"/>
                </a:cubicBezTo>
                <a:cubicBezTo>
                  <a:pt x="109541" y="138255"/>
                  <a:pt x="112465" y="135929"/>
                  <a:pt x="113130" y="132606"/>
                </a:cubicBezTo>
                <a:cubicBezTo>
                  <a:pt x="115689" y="119711"/>
                  <a:pt x="116985" y="106583"/>
                  <a:pt x="116985" y="93356"/>
                </a:cubicBezTo>
                <a:lnTo>
                  <a:pt x="116985" y="85080"/>
                </a:lnTo>
                <a:cubicBezTo>
                  <a:pt x="116985" y="67466"/>
                  <a:pt x="102695" y="53175"/>
                  <a:pt x="85080" y="53175"/>
                </a:cubicBezTo>
                <a:close/>
                <a:moveTo>
                  <a:pt x="93057" y="85080"/>
                </a:moveTo>
                <a:cubicBezTo>
                  <a:pt x="93057" y="80660"/>
                  <a:pt x="89500" y="77104"/>
                  <a:pt x="85080" y="77104"/>
                </a:cubicBezTo>
                <a:cubicBezTo>
                  <a:pt x="80660" y="77104"/>
                  <a:pt x="77104" y="80660"/>
                  <a:pt x="77104" y="85080"/>
                </a:cubicBezTo>
                <a:lnTo>
                  <a:pt x="77104" y="93356"/>
                </a:lnTo>
                <a:cubicBezTo>
                  <a:pt x="77104" y="113263"/>
                  <a:pt x="73448" y="133004"/>
                  <a:pt x="66303" y="151582"/>
                </a:cubicBezTo>
                <a:lnTo>
                  <a:pt x="64342" y="156667"/>
                </a:lnTo>
                <a:cubicBezTo>
                  <a:pt x="62747" y="160788"/>
                  <a:pt x="64807" y="165408"/>
                  <a:pt x="68928" y="166970"/>
                </a:cubicBezTo>
                <a:cubicBezTo>
                  <a:pt x="73049" y="168532"/>
                  <a:pt x="77669" y="166505"/>
                  <a:pt x="79231" y="162384"/>
                </a:cubicBezTo>
                <a:lnTo>
                  <a:pt x="81192" y="157299"/>
                </a:lnTo>
                <a:cubicBezTo>
                  <a:pt x="89035" y="136893"/>
                  <a:pt x="93057" y="115224"/>
                  <a:pt x="93057" y="93356"/>
                </a:cubicBezTo>
                <a:lnTo>
                  <a:pt x="93057" y="8508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6818650" y="1522936"/>
            <a:ext cx="1020963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8169" y="1948338"/>
            <a:ext cx="5462152" cy="4424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r>
              <a:rPr lang="en-US" sz="1070" b="1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Tanimoto Similarity</a:t>
            </a:r>
            <a:r>
              <a:rPr lang="en-US" sz="107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compare 64-bit Morgan Fingerprints of base polymer vs. new candidate.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8169" y="2492851"/>
            <a:ext cx="5394088" cy="884835"/>
          </a:xfrm>
          <a:custGeom>
            <a:avLst/>
            <a:gdLst/>
            <a:ahLst/>
            <a:cxnLst/>
            <a:rect l="l" t="t" r="r" b="b"/>
            <a:pathLst>
              <a:path w="5394088" h="884835">
                <a:moveTo>
                  <a:pt x="68061" y="0"/>
                </a:moveTo>
                <a:lnTo>
                  <a:pt x="5326026" y="0"/>
                </a:lnTo>
                <a:cubicBezTo>
                  <a:pt x="5363616" y="0"/>
                  <a:pt x="5394088" y="30472"/>
                  <a:pt x="5394088" y="68061"/>
                </a:cubicBezTo>
                <a:lnTo>
                  <a:pt x="5394088" y="816773"/>
                </a:lnTo>
                <a:cubicBezTo>
                  <a:pt x="5394088" y="854362"/>
                  <a:pt x="5363616" y="884835"/>
                  <a:pt x="5326026" y="884835"/>
                </a:cubicBezTo>
                <a:lnTo>
                  <a:pt x="68061" y="884835"/>
                </a:lnTo>
                <a:cubicBezTo>
                  <a:pt x="30472" y="884835"/>
                  <a:pt x="0" y="854362"/>
                  <a:pt x="0" y="816773"/>
                </a:cubicBezTo>
                <a:lnTo>
                  <a:pt x="0" y="68061"/>
                </a:lnTo>
                <a:cubicBezTo>
                  <a:pt x="0" y="30472"/>
                  <a:pt x="30472" y="0"/>
                  <a:pt x="6806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6410265" y="2594948"/>
            <a:ext cx="5249452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Formula: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6233" y="2833172"/>
            <a:ext cx="5257960" cy="2041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 = |A ∩ B| / |A ∪ B|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0487" y="3105429"/>
            <a:ext cx="5249452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Intersection / Union of fingerprint bits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4575" y="3628673"/>
            <a:ext cx="11502850" cy="1829225"/>
          </a:xfrm>
          <a:custGeom>
            <a:avLst/>
            <a:gdLst/>
            <a:ahLst/>
            <a:cxnLst/>
            <a:rect l="l" t="t" r="r" b="b"/>
            <a:pathLst>
              <a:path w="11502850" h="1829225">
                <a:moveTo>
                  <a:pt x="102089" y="0"/>
                </a:moveTo>
                <a:lnTo>
                  <a:pt x="11400761" y="0"/>
                </a:lnTo>
                <a:cubicBezTo>
                  <a:pt x="11457143" y="0"/>
                  <a:pt x="11502850" y="45707"/>
                  <a:pt x="11502850" y="102089"/>
                </a:cubicBezTo>
                <a:lnTo>
                  <a:pt x="11502850" y="1727136"/>
                </a:lnTo>
                <a:cubicBezTo>
                  <a:pt x="11502850" y="1783519"/>
                  <a:pt x="11457143" y="1829225"/>
                  <a:pt x="11400761" y="1829225"/>
                </a:cubicBezTo>
                <a:lnTo>
                  <a:pt x="102089" y="1829225"/>
                </a:lnTo>
                <a:cubicBezTo>
                  <a:pt x="45707" y="1829225"/>
                  <a:pt x="0" y="1783519"/>
                  <a:pt x="0" y="1727136"/>
                </a:cubicBezTo>
                <a:lnTo>
                  <a:pt x="0" y="102089"/>
                </a:lnTo>
                <a:cubicBezTo>
                  <a:pt x="0" y="45745"/>
                  <a:pt x="45745" y="0"/>
                  <a:pt x="102089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20000"/>
                </a:srgbClr>
              </a:gs>
              <a:gs pos="50000">
                <a:srgbClr val="00D9C0">
                  <a:alpha val="20000"/>
                </a:srgbClr>
              </a:gs>
              <a:gs pos="100000">
                <a:srgbClr val="3A8DFF">
                  <a:alpha val="20000"/>
                </a:srgbClr>
              </a:gs>
            </a:gsLst>
            <a:lin ang="0" scaled="1"/>
          </a:gradFill>
          <a:ln w="12700">
            <a:solidFill>
              <a:srgbClr val="3A8D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227" y="3803087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10635" y="21270"/>
                </a:moveTo>
                <a:cubicBezTo>
                  <a:pt x="4753" y="21270"/>
                  <a:pt x="0" y="26023"/>
                  <a:pt x="0" y="31905"/>
                </a:cubicBezTo>
                <a:cubicBezTo>
                  <a:pt x="0" y="37788"/>
                  <a:pt x="4753" y="42540"/>
                  <a:pt x="10635" y="42540"/>
                </a:cubicBezTo>
                <a:lnTo>
                  <a:pt x="39449" y="42540"/>
                </a:lnTo>
                <a:cubicBezTo>
                  <a:pt x="43537" y="51945"/>
                  <a:pt x="52909" y="58493"/>
                  <a:pt x="63810" y="58493"/>
                </a:cubicBezTo>
                <a:cubicBezTo>
                  <a:pt x="74711" y="58493"/>
                  <a:pt x="84083" y="51945"/>
                  <a:pt x="88171" y="42540"/>
                </a:cubicBezTo>
                <a:lnTo>
                  <a:pt x="159525" y="42540"/>
                </a:lnTo>
                <a:cubicBezTo>
                  <a:pt x="165408" y="42540"/>
                  <a:pt x="170161" y="37788"/>
                  <a:pt x="170161" y="31905"/>
                </a:cubicBezTo>
                <a:cubicBezTo>
                  <a:pt x="170161" y="26023"/>
                  <a:pt x="165408" y="21270"/>
                  <a:pt x="159525" y="21270"/>
                </a:cubicBezTo>
                <a:lnTo>
                  <a:pt x="88171" y="21270"/>
                </a:lnTo>
                <a:cubicBezTo>
                  <a:pt x="84083" y="11865"/>
                  <a:pt x="74711" y="5318"/>
                  <a:pt x="63810" y="5318"/>
                </a:cubicBezTo>
                <a:cubicBezTo>
                  <a:pt x="52909" y="5318"/>
                  <a:pt x="43537" y="11865"/>
                  <a:pt x="39449" y="21270"/>
                </a:cubicBezTo>
                <a:lnTo>
                  <a:pt x="10635" y="21270"/>
                </a:lnTo>
                <a:close/>
                <a:moveTo>
                  <a:pt x="10635" y="74445"/>
                </a:moveTo>
                <a:cubicBezTo>
                  <a:pt x="4753" y="74445"/>
                  <a:pt x="0" y="79198"/>
                  <a:pt x="0" y="85080"/>
                </a:cubicBezTo>
                <a:cubicBezTo>
                  <a:pt x="0" y="90963"/>
                  <a:pt x="4753" y="95715"/>
                  <a:pt x="10635" y="95715"/>
                </a:cubicBezTo>
                <a:lnTo>
                  <a:pt x="92624" y="95715"/>
                </a:lnTo>
                <a:cubicBezTo>
                  <a:pt x="96712" y="105121"/>
                  <a:pt x="106084" y="111668"/>
                  <a:pt x="116985" y="111668"/>
                </a:cubicBezTo>
                <a:cubicBezTo>
                  <a:pt x="127886" y="111668"/>
                  <a:pt x="137258" y="105121"/>
                  <a:pt x="141346" y="95715"/>
                </a:cubicBezTo>
                <a:lnTo>
                  <a:pt x="159525" y="95715"/>
                </a:lnTo>
                <a:cubicBezTo>
                  <a:pt x="165408" y="95715"/>
                  <a:pt x="170161" y="90963"/>
                  <a:pt x="170161" y="85080"/>
                </a:cubicBezTo>
                <a:cubicBezTo>
                  <a:pt x="170161" y="79198"/>
                  <a:pt x="165408" y="74445"/>
                  <a:pt x="159525" y="74445"/>
                </a:cubicBezTo>
                <a:lnTo>
                  <a:pt x="141346" y="74445"/>
                </a:lnTo>
                <a:cubicBezTo>
                  <a:pt x="137258" y="65040"/>
                  <a:pt x="127886" y="58493"/>
                  <a:pt x="116985" y="58493"/>
                </a:cubicBezTo>
                <a:cubicBezTo>
                  <a:pt x="106084" y="58493"/>
                  <a:pt x="96712" y="65040"/>
                  <a:pt x="92624" y="74445"/>
                </a:cubicBezTo>
                <a:lnTo>
                  <a:pt x="10635" y="74445"/>
                </a:lnTo>
                <a:close/>
                <a:moveTo>
                  <a:pt x="10635" y="127620"/>
                </a:moveTo>
                <a:cubicBezTo>
                  <a:pt x="4753" y="127620"/>
                  <a:pt x="0" y="132373"/>
                  <a:pt x="0" y="138255"/>
                </a:cubicBezTo>
                <a:cubicBezTo>
                  <a:pt x="0" y="144138"/>
                  <a:pt x="4753" y="148890"/>
                  <a:pt x="10635" y="148890"/>
                </a:cubicBezTo>
                <a:lnTo>
                  <a:pt x="28814" y="148890"/>
                </a:lnTo>
                <a:cubicBezTo>
                  <a:pt x="32902" y="158296"/>
                  <a:pt x="42274" y="164843"/>
                  <a:pt x="53175" y="164843"/>
                </a:cubicBezTo>
                <a:cubicBezTo>
                  <a:pt x="64076" y="164843"/>
                  <a:pt x="73448" y="158296"/>
                  <a:pt x="77536" y="148890"/>
                </a:cubicBezTo>
                <a:lnTo>
                  <a:pt x="159525" y="148890"/>
                </a:lnTo>
                <a:cubicBezTo>
                  <a:pt x="165408" y="148890"/>
                  <a:pt x="170161" y="144138"/>
                  <a:pt x="170161" y="138255"/>
                </a:cubicBezTo>
                <a:cubicBezTo>
                  <a:pt x="170161" y="132373"/>
                  <a:pt x="165408" y="127620"/>
                  <a:pt x="159525" y="127620"/>
                </a:cubicBezTo>
                <a:lnTo>
                  <a:pt x="77536" y="127620"/>
                </a:lnTo>
                <a:cubicBezTo>
                  <a:pt x="73448" y="118215"/>
                  <a:pt x="64076" y="111668"/>
                  <a:pt x="53175" y="111668"/>
                </a:cubicBezTo>
                <a:cubicBezTo>
                  <a:pt x="42274" y="111668"/>
                  <a:pt x="32902" y="118215"/>
                  <a:pt x="28814" y="127620"/>
                </a:cubicBezTo>
                <a:lnTo>
                  <a:pt x="10635" y="127620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29" name="Text 27"/>
          <p:cNvSpPr/>
          <p:nvPr/>
        </p:nvSpPr>
        <p:spPr>
          <a:xfrm>
            <a:off x="697658" y="3769055"/>
            <a:ext cx="11094465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Constraints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1973" y="4143408"/>
            <a:ext cx="5521708" cy="1174107"/>
          </a:xfrm>
          <a:custGeom>
            <a:avLst/>
            <a:gdLst/>
            <a:ahLst/>
            <a:cxnLst/>
            <a:rect l="l" t="t" r="r" b="b"/>
            <a:pathLst>
              <a:path w="5521708" h="1174107">
                <a:moveTo>
                  <a:pt x="34032" y="0"/>
                </a:moveTo>
                <a:lnTo>
                  <a:pt x="5419608" y="0"/>
                </a:lnTo>
                <a:cubicBezTo>
                  <a:pt x="5475996" y="0"/>
                  <a:pt x="5521708" y="45712"/>
                  <a:pt x="5521708" y="102100"/>
                </a:cubicBezTo>
                <a:lnTo>
                  <a:pt x="5521708" y="1072007"/>
                </a:lnTo>
                <a:cubicBezTo>
                  <a:pt x="5521708" y="1128396"/>
                  <a:pt x="5475996" y="1174107"/>
                  <a:pt x="5419608" y="1174107"/>
                </a:cubicBezTo>
                <a:lnTo>
                  <a:pt x="34032" y="1174107"/>
                </a:lnTo>
                <a:cubicBezTo>
                  <a:pt x="15237" y="1174107"/>
                  <a:pt x="0" y="1158871"/>
                  <a:pt x="0" y="114007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501973" y="4143408"/>
            <a:ext cx="34032" cy="1174107"/>
          </a:xfrm>
          <a:custGeom>
            <a:avLst/>
            <a:gdLst/>
            <a:ahLst/>
            <a:cxnLst/>
            <a:rect l="l" t="t" r="r" b="b"/>
            <a:pathLst>
              <a:path w="34032" h="1174107">
                <a:moveTo>
                  <a:pt x="34032" y="0"/>
                </a:moveTo>
                <a:lnTo>
                  <a:pt x="34032" y="0"/>
                </a:lnTo>
                <a:lnTo>
                  <a:pt x="34032" y="1174107"/>
                </a:lnTo>
                <a:lnTo>
                  <a:pt x="34032" y="1174107"/>
                </a:lnTo>
                <a:cubicBezTo>
                  <a:pt x="15237" y="1174107"/>
                  <a:pt x="0" y="1158871"/>
                  <a:pt x="0" y="114007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32" name="Text 30"/>
          <p:cNvSpPr/>
          <p:nvPr/>
        </p:nvSpPr>
        <p:spPr>
          <a:xfrm>
            <a:off x="655118" y="4313569"/>
            <a:ext cx="1420840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Minimum Threshold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56661" y="4279537"/>
            <a:ext cx="859311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0.60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118" y="4687922"/>
            <a:ext cx="5300500" cy="221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new molecule must be at least </a:t>
            </a:r>
            <a:r>
              <a:rPr lang="en-US" sz="107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similar</a:t>
            </a:r>
            <a:r>
              <a:rPr lang="en-US" sz="107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the base polymer.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2134" y="5036751"/>
            <a:ext cx="119112" cy="119112"/>
          </a:xfrm>
          <a:custGeom>
            <a:avLst/>
            <a:gdLst/>
            <a:ahLst/>
            <a:cxnLst/>
            <a:rect l="l" t="t" r="r" b="b"/>
            <a:pathLst>
              <a:path w="119112" h="119112">
                <a:moveTo>
                  <a:pt x="59556" y="119112"/>
                </a:moveTo>
                <a:cubicBezTo>
                  <a:pt x="92426" y="119112"/>
                  <a:pt x="119112" y="92426"/>
                  <a:pt x="119112" y="59556"/>
                </a:cubicBezTo>
                <a:cubicBezTo>
                  <a:pt x="119112" y="26686"/>
                  <a:pt x="92426" y="0"/>
                  <a:pt x="59556" y="0"/>
                </a:cubicBezTo>
                <a:cubicBezTo>
                  <a:pt x="26686" y="0"/>
                  <a:pt x="0" y="26686"/>
                  <a:pt x="0" y="59556"/>
                </a:cubicBezTo>
                <a:cubicBezTo>
                  <a:pt x="0" y="92426"/>
                  <a:pt x="26686" y="119112"/>
                  <a:pt x="59556" y="119112"/>
                </a:cubicBezTo>
                <a:close/>
                <a:moveTo>
                  <a:pt x="79191" y="49483"/>
                </a:moveTo>
                <a:lnTo>
                  <a:pt x="60580" y="79261"/>
                </a:lnTo>
                <a:cubicBezTo>
                  <a:pt x="59603" y="80820"/>
                  <a:pt x="57928" y="81797"/>
                  <a:pt x="56090" y="81890"/>
                </a:cubicBezTo>
                <a:cubicBezTo>
                  <a:pt x="54252" y="81983"/>
                  <a:pt x="52484" y="81145"/>
                  <a:pt x="51390" y="79656"/>
                </a:cubicBezTo>
                <a:lnTo>
                  <a:pt x="40224" y="64767"/>
                </a:lnTo>
                <a:cubicBezTo>
                  <a:pt x="38363" y="62301"/>
                  <a:pt x="38874" y="58812"/>
                  <a:pt x="41340" y="56951"/>
                </a:cubicBezTo>
                <a:cubicBezTo>
                  <a:pt x="43806" y="55089"/>
                  <a:pt x="47296" y="55601"/>
                  <a:pt x="49157" y="58067"/>
                </a:cubicBezTo>
                <a:lnTo>
                  <a:pt x="55438" y="66442"/>
                </a:lnTo>
                <a:lnTo>
                  <a:pt x="69723" y="43574"/>
                </a:lnTo>
                <a:cubicBezTo>
                  <a:pt x="71351" y="40968"/>
                  <a:pt x="74794" y="40154"/>
                  <a:pt x="77423" y="41806"/>
                </a:cubicBezTo>
                <a:cubicBezTo>
                  <a:pt x="80052" y="43457"/>
                  <a:pt x="80843" y="46877"/>
                  <a:pt x="79191" y="49506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36" name="Text 34"/>
          <p:cNvSpPr/>
          <p:nvPr/>
        </p:nvSpPr>
        <p:spPr>
          <a:xfrm>
            <a:off x="872073" y="5011227"/>
            <a:ext cx="194833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same manufacturable family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0548" y="4143408"/>
            <a:ext cx="5521708" cy="1174107"/>
          </a:xfrm>
          <a:custGeom>
            <a:avLst/>
            <a:gdLst/>
            <a:ahLst/>
            <a:cxnLst/>
            <a:rect l="l" t="t" r="r" b="b"/>
            <a:pathLst>
              <a:path w="5521708" h="1174107">
                <a:moveTo>
                  <a:pt x="34032" y="0"/>
                </a:moveTo>
                <a:lnTo>
                  <a:pt x="5419608" y="0"/>
                </a:lnTo>
                <a:cubicBezTo>
                  <a:pt x="5475996" y="0"/>
                  <a:pt x="5521708" y="45712"/>
                  <a:pt x="5521708" y="102100"/>
                </a:cubicBezTo>
                <a:lnTo>
                  <a:pt x="5521708" y="1072007"/>
                </a:lnTo>
                <a:cubicBezTo>
                  <a:pt x="5521708" y="1128396"/>
                  <a:pt x="5475996" y="1174107"/>
                  <a:pt x="5419608" y="1174107"/>
                </a:cubicBezTo>
                <a:lnTo>
                  <a:pt x="34032" y="1174107"/>
                </a:lnTo>
                <a:cubicBezTo>
                  <a:pt x="15237" y="1174107"/>
                  <a:pt x="0" y="1158871"/>
                  <a:pt x="0" y="114007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180548" y="4143408"/>
            <a:ext cx="34032" cy="1174107"/>
          </a:xfrm>
          <a:custGeom>
            <a:avLst/>
            <a:gdLst/>
            <a:ahLst/>
            <a:cxnLst/>
            <a:rect l="l" t="t" r="r" b="b"/>
            <a:pathLst>
              <a:path w="34032" h="1174107">
                <a:moveTo>
                  <a:pt x="34032" y="0"/>
                </a:moveTo>
                <a:lnTo>
                  <a:pt x="34032" y="0"/>
                </a:lnTo>
                <a:lnTo>
                  <a:pt x="34032" y="1174107"/>
                </a:lnTo>
                <a:lnTo>
                  <a:pt x="34032" y="1174107"/>
                </a:lnTo>
                <a:cubicBezTo>
                  <a:pt x="15237" y="1174107"/>
                  <a:pt x="0" y="1158871"/>
                  <a:pt x="0" y="1140075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39" name="Text 37"/>
          <p:cNvSpPr/>
          <p:nvPr/>
        </p:nvSpPr>
        <p:spPr>
          <a:xfrm>
            <a:off x="6333693" y="4313569"/>
            <a:ext cx="1454872" cy="238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Maximum Threshold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859696" y="4279537"/>
            <a:ext cx="833786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≤ 0.99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33693" y="4687922"/>
            <a:ext cx="5300500" cy="221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new molecule cannot be 100% identical; it must be a </a:t>
            </a:r>
            <a:r>
              <a:rPr lang="en-US" sz="107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mutated</a:t>
            </a:r>
            <a:r>
              <a:rPr lang="en-US" sz="107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structure.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0709" y="5036751"/>
            <a:ext cx="119112" cy="119112"/>
          </a:xfrm>
          <a:custGeom>
            <a:avLst/>
            <a:gdLst/>
            <a:ahLst/>
            <a:cxnLst/>
            <a:rect l="l" t="t" r="r" b="b"/>
            <a:pathLst>
              <a:path w="119112" h="119112">
                <a:moveTo>
                  <a:pt x="59556" y="119112"/>
                </a:moveTo>
                <a:cubicBezTo>
                  <a:pt x="92426" y="119112"/>
                  <a:pt x="119112" y="92426"/>
                  <a:pt x="119112" y="59556"/>
                </a:cubicBezTo>
                <a:cubicBezTo>
                  <a:pt x="119112" y="26686"/>
                  <a:pt x="92426" y="0"/>
                  <a:pt x="59556" y="0"/>
                </a:cubicBezTo>
                <a:cubicBezTo>
                  <a:pt x="26686" y="0"/>
                  <a:pt x="0" y="26686"/>
                  <a:pt x="0" y="59556"/>
                </a:cubicBezTo>
                <a:cubicBezTo>
                  <a:pt x="0" y="92426"/>
                  <a:pt x="26686" y="119112"/>
                  <a:pt x="59556" y="119112"/>
                </a:cubicBezTo>
                <a:close/>
                <a:moveTo>
                  <a:pt x="79191" y="49483"/>
                </a:moveTo>
                <a:lnTo>
                  <a:pt x="60580" y="79261"/>
                </a:lnTo>
                <a:cubicBezTo>
                  <a:pt x="59603" y="80820"/>
                  <a:pt x="57928" y="81797"/>
                  <a:pt x="56090" y="81890"/>
                </a:cubicBezTo>
                <a:cubicBezTo>
                  <a:pt x="54252" y="81983"/>
                  <a:pt x="52484" y="81145"/>
                  <a:pt x="51390" y="79656"/>
                </a:cubicBezTo>
                <a:lnTo>
                  <a:pt x="40224" y="64767"/>
                </a:lnTo>
                <a:cubicBezTo>
                  <a:pt x="38363" y="62301"/>
                  <a:pt x="38874" y="58812"/>
                  <a:pt x="41340" y="56951"/>
                </a:cubicBezTo>
                <a:cubicBezTo>
                  <a:pt x="43806" y="55089"/>
                  <a:pt x="47296" y="55601"/>
                  <a:pt x="49157" y="58067"/>
                </a:cubicBezTo>
                <a:lnTo>
                  <a:pt x="55438" y="66442"/>
                </a:lnTo>
                <a:lnTo>
                  <a:pt x="69723" y="43574"/>
                </a:lnTo>
                <a:cubicBezTo>
                  <a:pt x="71351" y="40968"/>
                  <a:pt x="74794" y="40154"/>
                  <a:pt x="77423" y="41806"/>
                </a:cubicBezTo>
                <a:cubicBezTo>
                  <a:pt x="80052" y="43457"/>
                  <a:pt x="80843" y="46877"/>
                  <a:pt x="79191" y="49506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43" name="Text 41"/>
          <p:cNvSpPr/>
          <p:nvPr/>
        </p:nvSpPr>
        <p:spPr>
          <a:xfrm>
            <a:off x="6550648" y="5011227"/>
            <a:ext cx="1514428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Confirms mutation occurred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4575" y="5568502"/>
            <a:ext cx="3760547" cy="723182"/>
          </a:xfrm>
          <a:custGeom>
            <a:avLst/>
            <a:gdLst/>
            <a:ahLst/>
            <a:cxnLst/>
            <a:rect l="l" t="t" r="r" b="b"/>
            <a:pathLst>
              <a:path w="3760547" h="723182">
                <a:moveTo>
                  <a:pt x="102099" y="0"/>
                </a:moveTo>
                <a:lnTo>
                  <a:pt x="3658448" y="0"/>
                </a:lnTo>
                <a:cubicBezTo>
                  <a:pt x="3714836" y="0"/>
                  <a:pt x="3760547" y="45711"/>
                  <a:pt x="3760547" y="102099"/>
                </a:cubicBezTo>
                <a:lnTo>
                  <a:pt x="3760547" y="621083"/>
                </a:lnTo>
                <a:cubicBezTo>
                  <a:pt x="3760547" y="677471"/>
                  <a:pt x="3714836" y="723182"/>
                  <a:pt x="3658448" y="723182"/>
                </a:cubicBezTo>
                <a:lnTo>
                  <a:pt x="102099" y="723182"/>
                </a:lnTo>
                <a:cubicBezTo>
                  <a:pt x="45711" y="723182"/>
                  <a:pt x="0" y="677471"/>
                  <a:pt x="0" y="621083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A8DFF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7115" y="5674853"/>
            <a:ext cx="3675467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64-bit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21147" y="6015174"/>
            <a:ext cx="3607403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Morgan Fingerprint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15328" y="5568502"/>
            <a:ext cx="3760547" cy="723182"/>
          </a:xfrm>
          <a:custGeom>
            <a:avLst/>
            <a:gdLst/>
            <a:ahLst/>
            <a:cxnLst/>
            <a:rect l="l" t="t" r="r" b="b"/>
            <a:pathLst>
              <a:path w="3760547" h="723182">
                <a:moveTo>
                  <a:pt x="102099" y="0"/>
                </a:moveTo>
                <a:lnTo>
                  <a:pt x="3658448" y="0"/>
                </a:lnTo>
                <a:cubicBezTo>
                  <a:pt x="3714836" y="0"/>
                  <a:pt x="3760547" y="45711"/>
                  <a:pt x="3760547" y="102099"/>
                </a:cubicBezTo>
                <a:lnTo>
                  <a:pt x="3760547" y="621083"/>
                </a:lnTo>
                <a:cubicBezTo>
                  <a:pt x="3760547" y="677471"/>
                  <a:pt x="3714836" y="723182"/>
                  <a:pt x="3658448" y="723182"/>
                </a:cubicBezTo>
                <a:lnTo>
                  <a:pt x="102099" y="723182"/>
                </a:lnTo>
                <a:cubicBezTo>
                  <a:pt x="45711" y="723182"/>
                  <a:pt x="0" y="677471"/>
                  <a:pt x="0" y="621083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00D9C0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7868" y="5674853"/>
            <a:ext cx="3675467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ECFP4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91900" y="6015174"/>
            <a:ext cx="3607403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Fingerprint Type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86080" y="5568502"/>
            <a:ext cx="3760547" cy="723182"/>
          </a:xfrm>
          <a:custGeom>
            <a:avLst/>
            <a:gdLst/>
            <a:ahLst/>
            <a:cxnLst/>
            <a:rect l="l" t="t" r="r" b="b"/>
            <a:pathLst>
              <a:path w="3760547" h="723182">
                <a:moveTo>
                  <a:pt x="102099" y="0"/>
                </a:moveTo>
                <a:lnTo>
                  <a:pt x="3658448" y="0"/>
                </a:lnTo>
                <a:cubicBezTo>
                  <a:pt x="3714836" y="0"/>
                  <a:pt x="3760547" y="45711"/>
                  <a:pt x="3760547" y="102099"/>
                </a:cubicBezTo>
                <a:lnTo>
                  <a:pt x="3760547" y="621083"/>
                </a:lnTo>
                <a:cubicBezTo>
                  <a:pt x="3760547" y="677471"/>
                  <a:pt x="3714836" y="723182"/>
                  <a:pt x="3658448" y="723182"/>
                </a:cubicBezTo>
                <a:lnTo>
                  <a:pt x="102099" y="723182"/>
                </a:lnTo>
                <a:cubicBezTo>
                  <a:pt x="45711" y="723182"/>
                  <a:pt x="0" y="677471"/>
                  <a:pt x="0" y="621083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3A8DFF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28620" y="5674853"/>
            <a:ext cx="3675467" cy="3062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R=2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62652" y="6015174"/>
            <a:ext cx="3607403" cy="170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Parameter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04825" y="5334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66800" y="381000"/>
            <a:ext cx="4657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47700"/>
            <a:ext cx="47529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Hybrid Optimization Logic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147763"/>
            <a:ext cx="3695700" cy="2867025"/>
          </a:xfrm>
          <a:custGeom>
            <a:avLst/>
            <a:gdLst/>
            <a:ahLst/>
            <a:cxnLst/>
            <a:rect l="l" t="t" r="r" b="b"/>
            <a:pathLst>
              <a:path w="3695700" h="2867025">
                <a:moveTo>
                  <a:pt x="114308" y="0"/>
                </a:moveTo>
                <a:lnTo>
                  <a:pt x="3581392" y="0"/>
                </a:lnTo>
                <a:cubicBezTo>
                  <a:pt x="3644522" y="0"/>
                  <a:pt x="3695700" y="51178"/>
                  <a:pt x="3695700" y="114308"/>
                </a:cubicBezTo>
                <a:lnTo>
                  <a:pt x="3695700" y="2752717"/>
                </a:lnTo>
                <a:cubicBezTo>
                  <a:pt x="3695700" y="2815847"/>
                  <a:pt x="3644522" y="2867025"/>
                  <a:pt x="358139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2925" y="1304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76275" y="1438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9" name="Text 7"/>
          <p:cNvSpPr/>
          <p:nvPr/>
        </p:nvSpPr>
        <p:spPr>
          <a:xfrm>
            <a:off x="542925" y="1876425"/>
            <a:ext cx="347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Phase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219325"/>
            <a:ext cx="34575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mutated SMILES string is passed through the </a:t>
            </a:r>
            <a:r>
              <a:rPr lang="en-US" sz="12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MLP neural network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predict its new Tg and Dk values.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1975" y="30480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A8DFF"/>
          </a:solidFill>
        </p:spPr>
      </p:sp>
      <p:sp>
        <p:nvSpPr>
          <p:cNvPr id="12" name="Text 10"/>
          <p:cNvSpPr/>
          <p:nvPr/>
        </p:nvSpPr>
        <p:spPr>
          <a:xfrm>
            <a:off x="785813" y="3019425"/>
            <a:ext cx="1543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structural features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314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A8DFF"/>
          </a:solidFill>
        </p:spPr>
      </p:sp>
      <p:sp>
        <p:nvSpPr>
          <p:cNvPr id="14" name="Text 12"/>
          <p:cNvSpPr/>
          <p:nvPr/>
        </p:nvSpPr>
        <p:spPr>
          <a:xfrm>
            <a:off x="785813" y="3286125"/>
            <a:ext cx="160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 to trained MLP model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" y="3581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A8DFF"/>
          </a:solidFill>
        </p:spPr>
      </p:sp>
      <p:sp>
        <p:nvSpPr>
          <p:cNvPr id="16" name="Text 14"/>
          <p:cNvSpPr/>
          <p:nvPr/>
        </p:nvSpPr>
        <p:spPr>
          <a:xfrm>
            <a:off x="785813" y="3552825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Tg and Dk predictions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6513" y="1147763"/>
            <a:ext cx="3695700" cy="2867025"/>
          </a:xfrm>
          <a:custGeom>
            <a:avLst/>
            <a:gdLst/>
            <a:ahLst/>
            <a:cxnLst/>
            <a:rect l="l" t="t" r="r" b="b"/>
            <a:pathLst>
              <a:path w="3695700" h="2867025">
                <a:moveTo>
                  <a:pt x="114308" y="0"/>
                </a:moveTo>
                <a:lnTo>
                  <a:pt x="3581392" y="0"/>
                </a:lnTo>
                <a:cubicBezTo>
                  <a:pt x="3644522" y="0"/>
                  <a:pt x="3695700" y="51178"/>
                  <a:pt x="3695700" y="114308"/>
                </a:cubicBezTo>
                <a:lnTo>
                  <a:pt x="3695700" y="2752717"/>
                </a:lnTo>
                <a:cubicBezTo>
                  <a:pt x="3695700" y="2815847"/>
                  <a:pt x="3644522" y="2867025"/>
                  <a:pt x="358139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3675" y="1304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537025" y="1438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1157" y="0"/>
                  <a:pt x="107156" y="15999"/>
                  <a:pt x="107156" y="35719"/>
                </a:cubicBezTo>
                <a:lnTo>
                  <a:pt x="107156" y="96999"/>
                </a:lnTo>
                <a:cubicBezTo>
                  <a:pt x="118132" y="106821"/>
                  <a:pt x="125016" y="121072"/>
                  <a:pt x="125016" y="136922"/>
                </a:cubicBezTo>
                <a:cubicBezTo>
                  <a:pt x="125016" y="166501"/>
                  <a:pt x="101017" y="190500"/>
                  <a:pt x="71438" y="190500"/>
                </a:cubicBezTo>
                <a:cubicBezTo>
                  <a:pt x="41858" y="190500"/>
                  <a:pt x="17859" y="166501"/>
                  <a:pt x="17859" y="136922"/>
                </a:cubicBezTo>
                <a:cubicBezTo>
                  <a:pt x="17859" y="121072"/>
                  <a:pt x="24743" y="106784"/>
                  <a:pt x="35719" y="96999"/>
                </a:cubicBezTo>
                <a:lnTo>
                  <a:pt x="35719" y="35719"/>
                </a:lnTo>
                <a:close/>
                <a:moveTo>
                  <a:pt x="71438" y="160734"/>
                </a:moveTo>
                <a:cubicBezTo>
                  <a:pt x="84572" y="160734"/>
                  <a:pt x="95250" y="150056"/>
                  <a:pt x="95250" y="136922"/>
                </a:cubicBezTo>
                <a:cubicBezTo>
                  <a:pt x="95250" y="126913"/>
                  <a:pt x="89111" y="118356"/>
                  <a:pt x="80367" y="114858"/>
                </a:cubicBezTo>
                <a:lnTo>
                  <a:pt x="80367" y="35719"/>
                </a:lnTo>
                <a:cubicBezTo>
                  <a:pt x="80367" y="30770"/>
                  <a:pt x="76386" y="26789"/>
                  <a:pt x="71438" y="26789"/>
                </a:cubicBezTo>
                <a:cubicBezTo>
                  <a:pt x="66489" y="26789"/>
                  <a:pt x="62508" y="30770"/>
                  <a:pt x="62508" y="35719"/>
                </a:cubicBezTo>
                <a:lnTo>
                  <a:pt x="62508" y="114858"/>
                </a:lnTo>
                <a:cubicBezTo>
                  <a:pt x="53764" y="118393"/>
                  <a:pt x="47625" y="126950"/>
                  <a:pt x="47625" y="136922"/>
                </a:cubicBezTo>
                <a:cubicBezTo>
                  <a:pt x="47625" y="150056"/>
                  <a:pt x="58303" y="160734"/>
                  <a:pt x="71438" y="160734"/>
                </a:cubicBezTo>
                <a:close/>
                <a:moveTo>
                  <a:pt x="172641" y="29766"/>
                </a:moveTo>
                <a:cubicBezTo>
                  <a:pt x="172641" y="23194"/>
                  <a:pt x="167306" y="17859"/>
                  <a:pt x="160734" y="17859"/>
                </a:cubicBezTo>
                <a:cubicBezTo>
                  <a:pt x="154163" y="17859"/>
                  <a:pt x="148828" y="23194"/>
                  <a:pt x="148828" y="29766"/>
                </a:cubicBezTo>
                <a:cubicBezTo>
                  <a:pt x="148828" y="36337"/>
                  <a:pt x="154163" y="41672"/>
                  <a:pt x="160734" y="41672"/>
                </a:cubicBezTo>
                <a:cubicBezTo>
                  <a:pt x="167306" y="41672"/>
                  <a:pt x="172641" y="36337"/>
                  <a:pt x="172641" y="29766"/>
                </a:cubicBezTo>
                <a:close/>
                <a:moveTo>
                  <a:pt x="130969" y="29766"/>
                </a:moveTo>
                <a:cubicBezTo>
                  <a:pt x="130969" y="13338"/>
                  <a:pt x="144306" y="0"/>
                  <a:pt x="160734" y="0"/>
                </a:cubicBezTo>
                <a:cubicBezTo>
                  <a:pt x="177162" y="0"/>
                  <a:pt x="190500" y="13338"/>
                  <a:pt x="190500" y="29766"/>
                </a:cubicBezTo>
                <a:cubicBezTo>
                  <a:pt x="190500" y="46194"/>
                  <a:pt x="177162" y="59531"/>
                  <a:pt x="160734" y="59531"/>
                </a:cubicBezTo>
                <a:cubicBezTo>
                  <a:pt x="144306" y="59531"/>
                  <a:pt x="130969" y="46194"/>
                  <a:pt x="130969" y="29766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20" name="Text 18"/>
          <p:cNvSpPr/>
          <p:nvPr/>
        </p:nvSpPr>
        <p:spPr>
          <a:xfrm>
            <a:off x="4403675" y="1876425"/>
            <a:ext cx="347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 1: Thermal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3675" y="2219325"/>
            <a:ext cx="34575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new Tg must be </a:t>
            </a:r>
            <a:r>
              <a:rPr lang="en-US" sz="1200" b="1" dirty="0">
                <a:solidFill>
                  <a:srgbClr val="E2E8F0">
                    <a:alpha val="85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strictly greater than or equal 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the defined LEO thermal survival target.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675" y="27908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4517975" y="2905125"/>
            <a:ext cx="3219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17975" y="3133725"/>
            <a:ext cx="3228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Tg_pred ≥ Tg_target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3675" y="3590925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133350" y="0"/>
                </a:moveTo>
                <a:lnTo>
                  <a:pt x="752475" y="0"/>
                </a:lnTo>
                <a:cubicBezTo>
                  <a:pt x="826073" y="0"/>
                  <a:pt x="885825" y="59752"/>
                  <a:pt x="885825" y="133350"/>
                </a:cubicBezTo>
                <a:lnTo>
                  <a:pt x="885825" y="133350"/>
                </a:lnTo>
                <a:cubicBezTo>
                  <a:pt x="885825" y="206948"/>
                  <a:pt x="826073" y="266700"/>
                  <a:pt x="752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4403675" y="3590925"/>
            <a:ext cx="95250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PI: ≥ 300°C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63845" y="3590925"/>
            <a:ext cx="1019175" cy="266700"/>
          </a:xfrm>
          <a:custGeom>
            <a:avLst/>
            <a:gdLst/>
            <a:ahLst/>
            <a:cxnLst/>
            <a:rect l="l" t="t" r="r" b="b"/>
            <a:pathLst>
              <a:path w="1019175" h="266700">
                <a:moveTo>
                  <a:pt x="133350" y="0"/>
                </a:moveTo>
                <a:lnTo>
                  <a:pt x="885825" y="0"/>
                </a:lnTo>
                <a:cubicBezTo>
                  <a:pt x="959423" y="0"/>
                  <a:pt x="1019175" y="59752"/>
                  <a:pt x="1019175" y="133350"/>
                </a:cubicBezTo>
                <a:lnTo>
                  <a:pt x="1019175" y="133350"/>
                </a:lnTo>
                <a:cubicBezTo>
                  <a:pt x="1019175" y="206948"/>
                  <a:pt x="959423" y="266700"/>
                  <a:pt x="885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5289550" y="3590925"/>
            <a:ext cx="1160145" cy="305435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PEEK: ≥ 150°C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7263" y="1147763"/>
            <a:ext cx="3695700" cy="2867025"/>
          </a:xfrm>
          <a:custGeom>
            <a:avLst/>
            <a:gdLst/>
            <a:ahLst/>
            <a:cxnLst/>
            <a:rect l="l" t="t" r="r" b="b"/>
            <a:pathLst>
              <a:path w="3695700" h="2867025">
                <a:moveTo>
                  <a:pt x="114308" y="0"/>
                </a:moveTo>
                <a:lnTo>
                  <a:pt x="3581392" y="0"/>
                </a:lnTo>
                <a:cubicBezTo>
                  <a:pt x="3644522" y="0"/>
                  <a:pt x="3695700" y="51178"/>
                  <a:pt x="3695700" y="114308"/>
                </a:cubicBezTo>
                <a:lnTo>
                  <a:pt x="3695700" y="2752717"/>
                </a:lnTo>
                <a:cubicBezTo>
                  <a:pt x="3695700" y="2815847"/>
                  <a:pt x="3644522" y="2867025"/>
                  <a:pt x="358139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4426" y="13049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385870" y="14382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32" name="Text 30"/>
          <p:cNvSpPr/>
          <p:nvPr/>
        </p:nvSpPr>
        <p:spPr>
          <a:xfrm>
            <a:off x="8264426" y="1876425"/>
            <a:ext cx="3476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 2: Dielectric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64426" y="2219325"/>
            <a:ext cx="34575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new Dk must be </a:t>
            </a:r>
            <a:r>
              <a:rPr lang="en-US" sz="1200" b="1" dirty="0">
                <a:solidFill>
                  <a:srgbClr val="E2E8F0">
                    <a:alpha val="85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strictly lower </a:t>
            </a:r>
            <a:r>
              <a:rPr lang="en-US" sz="1200" dirty="0">
                <a:solidFill>
                  <a:srgbClr val="E2E8F0">
                    <a:alpha val="8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 the base polymer's starting Dk value.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4426" y="279082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8378726" y="2905125"/>
            <a:ext cx="3219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78726" y="3133725"/>
            <a:ext cx="3228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A8D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Dk_pred &lt; Dk_base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4426" y="3590925"/>
            <a:ext cx="1019175" cy="266700"/>
          </a:xfrm>
          <a:custGeom>
            <a:avLst/>
            <a:gdLst/>
            <a:ahLst/>
            <a:cxnLst/>
            <a:rect l="l" t="t" r="r" b="b"/>
            <a:pathLst>
              <a:path w="1019175" h="266700">
                <a:moveTo>
                  <a:pt x="133350" y="0"/>
                </a:moveTo>
                <a:lnTo>
                  <a:pt x="885825" y="0"/>
                </a:lnTo>
                <a:cubicBezTo>
                  <a:pt x="959423" y="0"/>
                  <a:pt x="1019175" y="59752"/>
                  <a:pt x="1019175" y="133350"/>
                </a:cubicBezTo>
                <a:lnTo>
                  <a:pt x="1019175" y="133350"/>
                </a:lnTo>
                <a:cubicBezTo>
                  <a:pt x="1019175" y="206948"/>
                  <a:pt x="959423" y="266700"/>
                  <a:pt x="885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8264426" y="3590925"/>
            <a:ext cx="10858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≤ </a:t>
            </a:r>
            <a:r>
              <a:rPr lang="en-IN" alt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r>
              <a:rPr lang="en-IN" alt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r>
              <a:rPr lang="en-US" sz="105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5763" y="4138613"/>
            <a:ext cx="11420475" cy="1914525"/>
          </a:xfrm>
          <a:custGeom>
            <a:avLst/>
            <a:gdLst/>
            <a:ahLst/>
            <a:cxnLst/>
            <a:rect l="l" t="t" r="r" b="b"/>
            <a:pathLst>
              <a:path w="11420475" h="1914525">
                <a:moveTo>
                  <a:pt x="114297" y="0"/>
                </a:moveTo>
                <a:lnTo>
                  <a:pt x="11306178" y="0"/>
                </a:lnTo>
                <a:cubicBezTo>
                  <a:pt x="11369260" y="0"/>
                  <a:pt x="11420475" y="51215"/>
                  <a:pt x="11420475" y="114297"/>
                </a:cubicBezTo>
                <a:lnTo>
                  <a:pt x="11420475" y="1800228"/>
                </a:lnTo>
                <a:cubicBezTo>
                  <a:pt x="11420475" y="1863310"/>
                  <a:pt x="11369260" y="1914525"/>
                  <a:pt x="113061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20000"/>
                </a:srgbClr>
              </a:gs>
              <a:gs pos="50000">
                <a:srgbClr val="3A8DFF">
                  <a:alpha val="20000"/>
                </a:srgbClr>
              </a:gs>
              <a:gs pos="100000">
                <a:srgbClr val="00D9C0">
                  <a:alpha val="20000"/>
                </a:srgbClr>
              </a:gs>
            </a:gsLst>
            <a:lin ang="0" scaled="1"/>
          </a:gradFill>
          <a:ln w="12700">
            <a:solidFill>
              <a:srgbClr val="00D9C0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2925" y="4295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43" name="Shape 41"/>
          <p:cNvSpPr/>
          <p:nvPr/>
        </p:nvSpPr>
        <p:spPr>
          <a:xfrm>
            <a:off x="695325" y="4448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1228725" y="4295775"/>
            <a:ext cx="10534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Winning Condition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28725" y="4676775"/>
            <a:ext cx="10496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algorithm searches the batch of </a:t>
            </a: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candidates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absolute lowest Dk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still successfully survives the heat constraint.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28725" y="5019675"/>
            <a:ext cx="3400425" cy="876300"/>
          </a:xfrm>
          <a:custGeom>
            <a:avLst/>
            <a:gdLst/>
            <a:ahLst/>
            <a:cxnLst/>
            <a:rect l="l" t="t" r="r" b="b"/>
            <a:pathLst>
              <a:path w="3400425" h="876300">
                <a:moveTo>
                  <a:pt x="76203" y="0"/>
                </a:moveTo>
                <a:lnTo>
                  <a:pt x="3324222" y="0"/>
                </a:lnTo>
                <a:cubicBezTo>
                  <a:pt x="3366308" y="0"/>
                  <a:pt x="3400425" y="34117"/>
                  <a:pt x="3400425" y="76203"/>
                </a:cubicBezTo>
                <a:lnTo>
                  <a:pt x="3400425" y="800097"/>
                </a:lnTo>
                <a:cubicBezTo>
                  <a:pt x="3400425" y="842183"/>
                  <a:pt x="3366308" y="876300"/>
                  <a:pt x="33242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309688" y="5133975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04925" y="536257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by Tg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14450" y="5629275"/>
            <a:ext cx="32289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Tg ≥ target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740176" y="5019675"/>
            <a:ext cx="3400425" cy="876300"/>
          </a:xfrm>
          <a:custGeom>
            <a:avLst/>
            <a:gdLst/>
            <a:ahLst/>
            <a:cxnLst/>
            <a:rect l="l" t="t" r="r" b="b"/>
            <a:pathLst>
              <a:path w="3400425" h="876300">
                <a:moveTo>
                  <a:pt x="76203" y="0"/>
                </a:moveTo>
                <a:lnTo>
                  <a:pt x="3324222" y="0"/>
                </a:lnTo>
                <a:cubicBezTo>
                  <a:pt x="3366308" y="0"/>
                  <a:pt x="3400425" y="34117"/>
                  <a:pt x="3400425" y="76203"/>
                </a:cubicBezTo>
                <a:lnTo>
                  <a:pt x="3400425" y="800097"/>
                </a:lnTo>
                <a:cubicBezTo>
                  <a:pt x="3400425" y="842183"/>
                  <a:pt x="3366308" y="876300"/>
                  <a:pt x="33242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4821138" y="5133975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816376" y="536257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by Dk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25901" y="5629275"/>
            <a:ext cx="32289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Dk &lt; base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51775" y="5019675"/>
            <a:ext cx="3400425" cy="876300"/>
          </a:xfrm>
          <a:custGeom>
            <a:avLst/>
            <a:gdLst/>
            <a:ahLst/>
            <a:cxnLst/>
            <a:rect l="l" t="t" r="r" b="b"/>
            <a:pathLst>
              <a:path w="3400425" h="876300">
                <a:moveTo>
                  <a:pt x="76203" y="0"/>
                </a:moveTo>
                <a:lnTo>
                  <a:pt x="3324222" y="0"/>
                </a:lnTo>
                <a:cubicBezTo>
                  <a:pt x="3366308" y="0"/>
                  <a:pt x="3400425" y="34117"/>
                  <a:pt x="3400425" y="76203"/>
                </a:cubicBezTo>
                <a:lnTo>
                  <a:pt x="3400425" y="800097"/>
                </a:lnTo>
                <a:cubicBezTo>
                  <a:pt x="3400425" y="842183"/>
                  <a:pt x="3366308" y="876300"/>
                  <a:pt x="33242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8332738" y="5133975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27975" y="536257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Min Dk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37500" y="5629275"/>
            <a:ext cx="32289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valid Dk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359911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503876" y="503876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09914" y="0"/>
                  <a:pt x="111854" y="422"/>
                  <a:pt x="113625" y="1223"/>
                </a:cubicBezTo>
                <a:lnTo>
                  <a:pt x="193087" y="34923"/>
                </a:lnTo>
                <a:cubicBezTo>
                  <a:pt x="202366" y="38845"/>
                  <a:pt x="209283" y="47998"/>
                  <a:pt x="209241" y="59048"/>
                </a:cubicBezTo>
                <a:cubicBezTo>
                  <a:pt x="209030" y="100888"/>
                  <a:pt x="191822" y="177439"/>
                  <a:pt x="119150" y="212235"/>
                </a:cubicBezTo>
                <a:cubicBezTo>
                  <a:pt x="112107" y="215609"/>
                  <a:pt x="103924" y="215609"/>
                  <a:pt x="96881" y="212235"/>
                </a:cubicBezTo>
                <a:cubicBezTo>
                  <a:pt x="24167" y="177439"/>
                  <a:pt x="7001" y="100888"/>
                  <a:pt x="6791" y="59048"/>
                </a:cubicBezTo>
                <a:cubicBezTo>
                  <a:pt x="6748" y="47998"/>
                  <a:pt x="13665" y="38845"/>
                  <a:pt x="22944" y="34923"/>
                </a:cubicBezTo>
                <a:lnTo>
                  <a:pt x="102364" y="1223"/>
                </a:lnTo>
                <a:cubicBezTo>
                  <a:pt x="104135" y="422"/>
                  <a:pt x="106033" y="0"/>
                  <a:pt x="107973" y="0"/>
                </a:cubicBezTo>
                <a:close/>
                <a:moveTo>
                  <a:pt x="107973" y="28174"/>
                </a:moveTo>
                <a:lnTo>
                  <a:pt x="107973" y="187646"/>
                </a:lnTo>
                <a:cubicBezTo>
                  <a:pt x="166178" y="159472"/>
                  <a:pt x="181826" y="97050"/>
                  <a:pt x="182205" y="59681"/>
                </a:cubicBezTo>
                <a:lnTo>
                  <a:pt x="107973" y="28216"/>
                </a:lnTo>
                <a:lnTo>
                  <a:pt x="107973" y="2821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1007752" y="359911"/>
            <a:ext cx="6550388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kern="0" spc="57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QUALITY ASSURANCE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7745" y="612140"/>
            <a:ext cx="7956550" cy="360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Leakage Prevention &amp; Quality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4410" y="1084233"/>
            <a:ext cx="5650610" cy="2672342"/>
          </a:xfrm>
          <a:custGeom>
            <a:avLst/>
            <a:gdLst/>
            <a:ahLst/>
            <a:cxnLst/>
            <a:rect l="l" t="t" r="r" b="b"/>
            <a:pathLst>
              <a:path w="5650610" h="2672342">
                <a:moveTo>
                  <a:pt x="107963" y="0"/>
                </a:moveTo>
                <a:lnTo>
                  <a:pt x="5542647" y="0"/>
                </a:lnTo>
                <a:cubicBezTo>
                  <a:pt x="5602273" y="0"/>
                  <a:pt x="5650610" y="48337"/>
                  <a:pt x="5650610" y="107963"/>
                </a:cubicBezTo>
                <a:lnTo>
                  <a:pt x="5650610" y="2564380"/>
                </a:lnTo>
                <a:cubicBezTo>
                  <a:pt x="5650610" y="2624006"/>
                  <a:pt x="5602273" y="2672342"/>
                  <a:pt x="5542647" y="2672342"/>
                </a:cubicBezTo>
                <a:lnTo>
                  <a:pt x="107963" y="2672342"/>
                </a:lnTo>
                <a:cubicBezTo>
                  <a:pt x="48376" y="2672342"/>
                  <a:pt x="0" y="2623966"/>
                  <a:pt x="0" y="2564380"/>
                </a:cubicBezTo>
                <a:lnTo>
                  <a:pt x="0" y="107963"/>
                </a:lnTo>
                <a:cubicBezTo>
                  <a:pt x="0" y="48376"/>
                  <a:pt x="48376" y="0"/>
                  <a:pt x="107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10000"/>
                </a:srgbClr>
              </a:gs>
              <a:gs pos="100000">
                <a:srgbClr val="4A5568">
                  <a:alpha val="5000"/>
                </a:srgbClr>
              </a:gs>
            </a:gsLst>
            <a:lin ang="2700000" scaled="1"/>
          </a:gradFill>
          <a:ln w="12700">
            <a:solidFill>
              <a:srgbClr val="4A556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874" y="1232697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38843" y="135866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89978" y="0"/>
                </a:moveTo>
                <a:cubicBezTo>
                  <a:pt x="95145" y="0"/>
                  <a:pt x="99889" y="2847"/>
                  <a:pt x="102350" y="7381"/>
                </a:cubicBezTo>
                <a:lnTo>
                  <a:pt x="178269" y="147971"/>
                </a:lnTo>
                <a:cubicBezTo>
                  <a:pt x="180624" y="152330"/>
                  <a:pt x="180518" y="157602"/>
                  <a:pt x="177987" y="161855"/>
                </a:cubicBezTo>
                <a:cubicBezTo>
                  <a:pt x="175457" y="166108"/>
                  <a:pt x="170852" y="168708"/>
                  <a:pt x="165897" y="168708"/>
                </a:cubicBezTo>
                <a:lnTo>
                  <a:pt x="14059" y="168708"/>
                </a:lnTo>
                <a:cubicBezTo>
                  <a:pt x="9103" y="168708"/>
                  <a:pt x="4534" y="166108"/>
                  <a:pt x="1968" y="161855"/>
                </a:cubicBezTo>
                <a:cubicBezTo>
                  <a:pt x="-598" y="157602"/>
                  <a:pt x="-668" y="152330"/>
                  <a:pt x="1687" y="147971"/>
                </a:cubicBezTo>
                <a:lnTo>
                  <a:pt x="77606" y="7381"/>
                </a:lnTo>
                <a:cubicBezTo>
                  <a:pt x="80066" y="2847"/>
                  <a:pt x="84811" y="0"/>
                  <a:pt x="89978" y="0"/>
                </a:cubicBezTo>
                <a:close/>
                <a:moveTo>
                  <a:pt x="89978" y="59048"/>
                </a:moveTo>
                <a:cubicBezTo>
                  <a:pt x="85303" y="59048"/>
                  <a:pt x="81542" y="62809"/>
                  <a:pt x="81542" y="67483"/>
                </a:cubicBezTo>
                <a:lnTo>
                  <a:pt x="81542" y="106849"/>
                </a:lnTo>
                <a:cubicBezTo>
                  <a:pt x="81542" y="111523"/>
                  <a:pt x="85303" y="115284"/>
                  <a:pt x="89978" y="115284"/>
                </a:cubicBezTo>
                <a:cubicBezTo>
                  <a:pt x="94652" y="115284"/>
                  <a:pt x="98413" y="111523"/>
                  <a:pt x="98413" y="106849"/>
                </a:cubicBezTo>
                <a:lnTo>
                  <a:pt x="98413" y="67483"/>
                </a:lnTo>
                <a:cubicBezTo>
                  <a:pt x="98413" y="62809"/>
                  <a:pt x="94652" y="59048"/>
                  <a:pt x="89978" y="59048"/>
                </a:cubicBezTo>
                <a:close/>
                <a:moveTo>
                  <a:pt x="99362" y="134967"/>
                </a:moveTo>
                <a:cubicBezTo>
                  <a:pt x="99576" y="131483"/>
                  <a:pt x="97839" y="128169"/>
                  <a:pt x="94852" y="126363"/>
                </a:cubicBezTo>
                <a:cubicBezTo>
                  <a:pt x="91866" y="124557"/>
                  <a:pt x="88125" y="124557"/>
                  <a:pt x="85138" y="126363"/>
                </a:cubicBezTo>
                <a:cubicBezTo>
                  <a:pt x="82152" y="128169"/>
                  <a:pt x="80415" y="131483"/>
                  <a:pt x="80629" y="134967"/>
                </a:cubicBezTo>
                <a:cubicBezTo>
                  <a:pt x="80415" y="138450"/>
                  <a:pt x="82152" y="141764"/>
                  <a:pt x="85138" y="143571"/>
                </a:cubicBezTo>
                <a:cubicBezTo>
                  <a:pt x="88125" y="145377"/>
                  <a:pt x="91866" y="145377"/>
                  <a:pt x="94852" y="143571"/>
                </a:cubicBezTo>
                <a:cubicBezTo>
                  <a:pt x="97839" y="141764"/>
                  <a:pt x="99576" y="138450"/>
                  <a:pt x="99362" y="134967"/>
                </a:cubicBezTo>
                <a:close/>
              </a:path>
            </a:pathLst>
          </a:custGeom>
          <a:solidFill>
            <a:srgbClr val="E2E8F0"/>
          </a:solidFill>
        </p:spPr>
      </p:sp>
      <p:sp>
        <p:nvSpPr>
          <p:cNvPr id="9" name="Text 7"/>
          <p:cNvSpPr/>
          <p:nvPr/>
        </p:nvSpPr>
        <p:spPr>
          <a:xfrm>
            <a:off x="1052741" y="1322675"/>
            <a:ext cx="1061739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ML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874" y="1772564"/>
            <a:ext cx="5425665" cy="431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2E8F0">
                    <a:alpha val="90000"/>
                  </a:srgbClr>
                </a:solidFill>
                <a:highlight>
                  <a:srgbClr val="4A5568">
                    <a:alpha val="4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Leakage </a:t>
            </a: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occurs when the neural network memorizes constant values (like fixed SMILES fingerprints) instead of learning actual chemical relationships.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869" y="2348422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46957" y="46957"/>
                </a:moveTo>
                <a:cubicBezTo>
                  <a:pt x="49600" y="44314"/>
                  <a:pt x="53874" y="44314"/>
                  <a:pt x="56489" y="46957"/>
                </a:cubicBezTo>
                <a:lnTo>
                  <a:pt x="71954" y="62422"/>
                </a:lnTo>
                <a:lnTo>
                  <a:pt x="87419" y="46957"/>
                </a:lnTo>
                <a:cubicBezTo>
                  <a:pt x="90062" y="44314"/>
                  <a:pt x="94336" y="44314"/>
                  <a:pt x="96951" y="46957"/>
                </a:cubicBezTo>
                <a:cubicBezTo>
                  <a:pt x="99566" y="49600"/>
                  <a:pt x="99594" y="53874"/>
                  <a:pt x="96951" y="56489"/>
                </a:cubicBezTo>
                <a:lnTo>
                  <a:pt x="81486" y="71954"/>
                </a:lnTo>
                <a:lnTo>
                  <a:pt x="96951" y="87419"/>
                </a:lnTo>
                <a:cubicBezTo>
                  <a:pt x="99594" y="90062"/>
                  <a:pt x="99594" y="94336"/>
                  <a:pt x="96951" y="96951"/>
                </a:cubicBezTo>
                <a:cubicBezTo>
                  <a:pt x="94308" y="99566"/>
                  <a:pt x="90034" y="99594"/>
                  <a:pt x="87419" y="96951"/>
                </a:cubicBezTo>
                <a:lnTo>
                  <a:pt x="71954" y="81486"/>
                </a:lnTo>
                <a:lnTo>
                  <a:pt x="56489" y="96951"/>
                </a:lnTo>
                <a:cubicBezTo>
                  <a:pt x="53846" y="99594"/>
                  <a:pt x="49572" y="99594"/>
                  <a:pt x="46957" y="96951"/>
                </a:cubicBezTo>
                <a:cubicBezTo>
                  <a:pt x="44342" y="94308"/>
                  <a:pt x="44314" y="90034"/>
                  <a:pt x="46957" y="87419"/>
                </a:cubicBezTo>
                <a:lnTo>
                  <a:pt x="62422" y="71954"/>
                </a:lnTo>
                <a:lnTo>
                  <a:pt x="46957" y="56489"/>
                </a:lnTo>
                <a:cubicBezTo>
                  <a:pt x="44314" y="53846"/>
                  <a:pt x="44314" y="49572"/>
                  <a:pt x="46957" y="4695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2" name="Text 10"/>
          <p:cNvSpPr/>
          <p:nvPr/>
        </p:nvSpPr>
        <p:spPr>
          <a:xfrm>
            <a:off x="764812" y="2312431"/>
            <a:ext cx="101675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Inflated R² scores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869" y="2600360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46957" y="46957"/>
                </a:moveTo>
                <a:cubicBezTo>
                  <a:pt x="49600" y="44314"/>
                  <a:pt x="53874" y="44314"/>
                  <a:pt x="56489" y="46957"/>
                </a:cubicBezTo>
                <a:lnTo>
                  <a:pt x="71954" y="62422"/>
                </a:lnTo>
                <a:lnTo>
                  <a:pt x="87419" y="46957"/>
                </a:lnTo>
                <a:cubicBezTo>
                  <a:pt x="90062" y="44314"/>
                  <a:pt x="94336" y="44314"/>
                  <a:pt x="96951" y="46957"/>
                </a:cubicBezTo>
                <a:cubicBezTo>
                  <a:pt x="99566" y="49600"/>
                  <a:pt x="99594" y="53874"/>
                  <a:pt x="96951" y="56489"/>
                </a:cubicBezTo>
                <a:lnTo>
                  <a:pt x="81486" y="71954"/>
                </a:lnTo>
                <a:lnTo>
                  <a:pt x="96951" y="87419"/>
                </a:lnTo>
                <a:cubicBezTo>
                  <a:pt x="99594" y="90062"/>
                  <a:pt x="99594" y="94336"/>
                  <a:pt x="96951" y="96951"/>
                </a:cubicBezTo>
                <a:cubicBezTo>
                  <a:pt x="94308" y="99566"/>
                  <a:pt x="90034" y="99594"/>
                  <a:pt x="87419" y="96951"/>
                </a:cubicBezTo>
                <a:lnTo>
                  <a:pt x="71954" y="81486"/>
                </a:lnTo>
                <a:lnTo>
                  <a:pt x="56489" y="96951"/>
                </a:lnTo>
                <a:cubicBezTo>
                  <a:pt x="53846" y="99594"/>
                  <a:pt x="49572" y="99594"/>
                  <a:pt x="46957" y="96951"/>
                </a:cubicBezTo>
                <a:cubicBezTo>
                  <a:pt x="44342" y="94308"/>
                  <a:pt x="44314" y="90034"/>
                  <a:pt x="46957" y="87419"/>
                </a:cubicBezTo>
                <a:lnTo>
                  <a:pt x="62422" y="71954"/>
                </a:lnTo>
                <a:lnTo>
                  <a:pt x="46957" y="56489"/>
                </a:lnTo>
                <a:cubicBezTo>
                  <a:pt x="44314" y="53846"/>
                  <a:pt x="44314" y="49572"/>
                  <a:pt x="46957" y="4695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4" name="Text 12"/>
          <p:cNvSpPr/>
          <p:nvPr/>
        </p:nvSpPr>
        <p:spPr>
          <a:xfrm>
            <a:off x="764812" y="2564369"/>
            <a:ext cx="1439646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predictive accuracy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869" y="2852298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46957" y="46957"/>
                </a:moveTo>
                <a:cubicBezTo>
                  <a:pt x="49600" y="44314"/>
                  <a:pt x="53874" y="44314"/>
                  <a:pt x="56489" y="46957"/>
                </a:cubicBezTo>
                <a:lnTo>
                  <a:pt x="71954" y="62422"/>
                </a:lnTo>
                <a:lnTo>
                  <a:pt x="87419" y="46957"/>
                </a:lnTo>
                <a:cubicBezTo>
                  <a:pt x="90062" y="44314"/>
                  <a:pt x="94336" y="44314"/>
                  <a:pt x="96951" y="46957"/>
                </a:cubicBezTo>
                <a:cubicBezTo>
                  <a:pt x="99566" y="49600"/>
                  <a:pt x="99594" y="53874"/>
                  <a:pt x="96951" y="56489"/>
                </a:cubicBezTo>
                <a:lnTo>
                  <a:pt x="81486" y="71954"/>
                </a:lnTo>
                <a:lnTo>
                  <a:pt x="96951" y="87419"/>
                </a:lnTo>
                <a:cubicBezTo>
                  <a:pt x="99594" y="90062"/>
                  <a:pt x="99594" y="94336"/>
                  <a:pt x="96951" y="96951"/>
                </a:cubicBezTo>
                <a:cubicBezTo>
                  <a:pt x="94308" y="99566"/>
                  <a:pt x="90034" y="99594"/>
                  <a:pt x="87419" y="96951"/>
                </a:cubicBezTo>
                <a:lnTo>
                  <a:pt x="71954" y="81486"/>
                </a:lnTo>
                <a:lnTo>
                  <a:pt x="56489" y="96951"/>
                </a:lnTo>
                <a:cubicBezTo>
                  <a:pt x="53846" y="99594"/>
                  <a:pt x="49572" y="99594"/>
                  <a:pt x="46957" y="96951"/>
                </a:cubicBezTo>
                <a:cubicBezTo>
                  <a:pt x="44342" y="94308"/>
                  <a:pt x="44314" y="90034"/>
                  <a:pt x="46957" y="87419"/>
                </a:cubicBezTo>
                <a:lnTo>
                  <a:pt x="62422" y="71954"/>
                </a:lnTo>
                <a:lnTo>
                  <a:pt x="46957" y="56489"/>
                </a:lnTo>
                <a:cubicBezTo>
                  <a:pt x="44314" y="53846"/>
                  <a:pt x="44314" y="49572"/>
                  <a:pt x="46957" y="4695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6" name="Text 14"/>
          <p:cNvSpPr/>
          <p:nvPr/>
        </p:nvSpPr>
        <p:spPr>
          <a:xfrm>
            <a:off x="764812" y="2816307"/>
            <a:ext cx="93577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true learning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869" y="3104236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46957" y="46957"/>
                </a:moveTo>
                <a:cubicBezTo>
                  <a:pt x="49600" y="44314"/>
                  <a:pt x="53874" y="44314"/>
                  <a:pt x="56489" y="46957"/>
                </a:cubicBezTo>
                <a:lnTo>
                  <a:pt x="71954" y="62422"/>
                </a:lnTo>
                <a:lnTo>
                  <a:pt x="87419" y="46957"/>
                </a:lnTo>
                <a:cubicBezTo>
                  <a:pt x="90062" y="44314"/>
                  <a:pt x="94336" y="44314"/>
                  <a:pt x="96951" y="46957"/>
                </a:cubicBezTo>
                <a:cubicBezTo>
                  <a:pt x="99566" y="49600"/>
                  <a:pt x="99594" y="53874"/>
                  <a:pt x="96951" y="56489"/>
                </a:cubicBezTo>
                <a:lnTo>
                  <a:pt x="81486" y="71954"/>
                </a:lnTo>
                <a:lnTo>
                  <a:pt x="96951" y="87419"/>
                </a:lnTo>
                <a:cubicBezTo>
                  <a:pt x="99594" y="90062"/>
                  <a:pt x="99594" y="94336"/>
                  <a:pt x="96951" y="96951"/>
                </a:cubicBezTo>
                <a:cubicBezTo>
                  <a:pt x="94308" y="99566"/>
                  <a:pt x="90034" y="99594"/>
                  <a:pt x="87419" y="96951"/>
                </a:cubicBezTo>
                <a:lnTo>
                  <a:pt x="71954" y="81486"/>
                </a:lnTo>
                <a:lnTo>
                  <a:pt x="56489" y="96951"/>
                </a:lnTo>
                <a:cubicBezTo>
                  <a:pt x="53846" y="99594"/>
                  <a:pt x="49572" y="99594"/>
                  <a:pt x="46957" y="96951"/>
                </a:cubicBezTo>
                <a:cubicBezTo>
                  <a:pt x="44342" y="94308"/>
                  <a:pt x="44314" y="90034"/>
                  <a:pt x="46957" y="87419"/>
                </a:cubicBezTo>
                <a:lnTo>
                  <a:pt x="62422" y="71954"/>
                </a:lnTo>
                <a:lnTo>
                  <a:pt x="46957" y="56489"/>
                </a:lnTo>
                <a:cubicBezTo>
                  <a:pt x="44314" y="53846"/>
                  <a:pt x="44314" y="49572"/>
                  <a:pt x="46957" y="46957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18" name="Text 16"/>
          <p:cNvSpPr/>
          <p:nvPr/>
        </p:nvSpPr>
        <p:spPr>
          <a:xfrm>
            <a:off x="764812" y="3068245"/>
            <a:ext cx="125969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memorization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0935" y="1084233"/>
            <a:ext cx="5650610" cy="2672342"/>
          </a:xfrm>
          <a:custGeom>
            <a:avLst/>
            <a:gdLst/>
            <a:ahLst/>
            <a:cxnLst/>
            <a:rect l="l" t="t" r="r" b="b"/>
            <a:pathLst>
              <a:path w="5650610" h="2672342">
                <a:moveTo>
                  <a:pt x="107963" y="0"/>
                </a:moveTo>
                <a:lnTo>
                  <a:pt x="5542647" y="0"/>
                </a:lnTo>
                <a:cubicBezTo>
                  <a:pt x="5602273" y="0"/>
                  <a:pt x="5650610" y="48337"/>
                  <a:pt x="5650610" y="107963"/>
                </a:cubicBezTo>
                <a:lnTo>
                  <a:pt x="5650610" y="2564380"/>
                </a:lnTo>
                <a:cubicBezTo>
                  <a:pt x="5650610" y="2624006"/>
                  <a:pt x="5602273" y="2672342"/>
                  <a:pt x="5542647" y="2672342"/>
                </a:cubicBezTo>
                <a:lnTo>
                  <a:pt x="107963" y="2672342"/>
                </a:lnTo>
                <a:cubicBezTo>
                  <a:pt x="48376" y="2672342"/>
                  <a:pt x="0" y="2623966"/>
                  <a:pt x="0" y="2564380"/>
                </a:cubicBezTo>
                <a:lnTo>
                  <a:pt x="0" y="107963"/>
                </a:lnTo>
                <a:cubicBezTo>
                  <a:pt x="0" y="48376"/>
                  <a:pt x="48376" y="0"/>
                  <a:pt x="10796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9398" y="1232697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21" name="Shape 19"/>
          <p:cNvSpPr/>
          <p:nvPr/>
        </p:nvSpPr>
        <p:spPr>
          <a:xfrm>
            <a:off x="6445367" y="135866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1247" y="22494"/>
                </a:moveTo>
                <a:cubicBezTo>
                  <a:pt x="6713" y="22494"/>
                  <a:pt x="2601" y="25236"/>
                  <a:pt x="844" y="29454"/>
                </a:cubicBezTo>
                <a:cubicBezTo>
                  <a:pt x="-914" y="33671"/>
                  <a:pt x="70" y="38487"/>
                  <a:pt x="3304" y="41685"/>
                </a:cubicBezTo>
                <a:lnTo>
                  <a:pt x="67483" y="105900"/>
                </a:lnTo>
                <a:lnTo>
                  <a:pt x="67483" y="146214"/>
                </a:lnTo>
                <a:cubicBezTo>
                  <a:pt x="67483" y="149202"/>
                  <a:pt x="68678" y="152049"/>
                  <a:pt x="70787" y="154157"/>
                </a:cubicBezTo>
                <a:lnTo>
                  <a:pt x="93282" y="176652"/>
                </a:lnTo>
                <a:cubicBezTo>
                  <a:pt x="96515" y="179885"/>
                  <a:pt x="101331" y="180834"/>
                  <a:pt x="105548" y="179077"/>
                </a:cubicBezTo>
                <a:cubicBezTo>
                  <a:pt x="109766" y="177320"/>
                  <a:pt x="112472" y="173243"/>
                  <a:pt x="112472" y="168708"/>
                </a:cubicBezTo>
                <a:lnTo>
                  <a:pt x="112472" y="105900"/>
                </a:lnTo>
                <a:lnTo>
                  <a:pt x="176652" y="41720"/>
                </a:lnTo>
                <a:cubicBezTo>
                  <a:pt x="179885" y="38487"/>
                  <a:pt x="180834" y="33671"/>
                  <a:pt x="179077" y="29454"/>
                </a:cubicBezTo>
                <a:cubicBezTo>
                  <a:pt x="177320" y="25236"/>
                  <a:pt x="173243" y="22494"/>
                  <a:pt x="168708" y="22494"/>
                </a:cubicBezTo>
                <a:lnTo>
                  <a:pt x="11247" y="2249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859265" y="1322675"/>
            <a:ext cx="836794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Filter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19398" y="1772564"/>
            <a:ext cx="5425665" cy="431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to final data export, the system calculates </a:t>
            </a:r>
            <a:r>
              <a:rPr lang="en-US" sz="1135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within-class standard deviation </a:t>
            </a: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(std) for Morgan bits and polyBERT dimensions.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19398" y="2312431"/>
            <a:ext cx="5353683" cy="1295681"/>
          </a:xfrm>
          <a:custGeom>
            <a:avLst/>
            <a:gdLst/>
            <a:ahLst/>
            <a:cxnLst/>
            <a:rect l="l" t="t" r="r" b="b"/>
            <a:pathLst>
              <a:path w="5353683" h="1295681">
                <a:moveTo>
                  <a:pt x="71988" y="0"/>
                </a:moveTo>
                <a:lnTo>
                  <a:pt x="5281695" y="0"/>
                </a:lnTo>
                <a:cubicBezTo>
                  <a:pt x="5321453" y="0"/>
                  <a:pt x="5353683" y="32230"/>
                  <a:pt x="5353683" y="71988"/>
                </a:cubicBezTo>
                <a:lnTo>
                  <a:pt x="5353683" y="1223693"/>
                </a:lnTo>
                <a:cubicBezTo>
                  <a:pt x="5353683" y="1263451"/>
                  <a:pt x="5321453" y="1295681"/>
                  <a:pt x="5281695" y="1295681"/>
                </a:cubicBezTo>
                <a:lnTo>
                  <a:pt x="71988" y="1295681"/>
                </a:lnTo>
                <a:cubicBezTo>
                  <a:pt x="32230" y="1295681"/>
                  <a:pt x="0" y="1263451"/>
                  <a:pt x="0" y="1223693"/>
                </a:cubicBezTo>
                <a:lnTo>
                  <a:pt x="0" y="71988"/>
                </a:lnTo>
                <a:cubicBezTo>
                  <a:pt x="0" y="32230"/>
                  <a:pt x="32230" y="0"/>
                  <a:pt x="71988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427372" y="2420404"/>
            <a:ext cx="520072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7372" y="2672342"/>
            <a:ext cx="520072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 each polymer class: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27372" y="2888289"/>
            <a:ext cx="520072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std = feature.std()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7372" y="3104236"/>
            <a:ext cx="520072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 std &lt; threshold: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27372" y="3320183"/>
            <a:ext cx="5200720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00D9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flag_as_leaky()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4410" y="3873547"/>
            <a:ext cx="11463179" cy="1844546"/>
          </a:xfrm>
          <a:custGeom>
            <a:avLst/>
            <a:gdLst/>
            <a:ahLst/>
            <a:cxnLst/>
            <a:rect l="l" t="t" r="r" b="b"/>
            <a:pathLst>
              <a:path w="11463179" h="1844546">
                <a:moveTo>
                  <a:pt x="107980" y="0"/>
                </a:moveTo>
                <a:lnTo>
                  <a:pt x="11355200" y="0"/>
                </a:lnTo>
                <a:cubicBezTo>
                  <a:pt x="11414795" y="0"/>
                  <a:pt x="11463179" y="48384"/>
                  <a:pt x="11463179" y="107980"/>
                </a:cubicBezTo>
                <a:lnTo>
                  <a:pt x="11463179" y="1736566"/>
                </a:lnTo>
                <a:cubicBezTo>
                  <a:pt x="11463179" y="1796162"/>
                  <a:pt x="11414795" y="1844546"/>
                  <a:pt x="11355200" y="1844546"/>
                </a:cubicBezTo>
                <a:lnTo>
                  <a:pt x="107980" y="1844546"/>
                </a:lnTo>
                <a:cubicBezTo>
                  <a:pt x="48384" y="1844546"/>
                  <a:pt x="0" y="1796162"/>
                  <a:pt x="0" y="1736566"/>
                </a:cubicBezTo>
                <a:lnTo>
                  <a:pt x="0" y="107980"/>
                </a:lnTo>
                <a:cubicBezTo>
                  <a:pt x="0" y="48384"/>
                  <a:pt x="48384" y="0"/>
                  <a:pt x="1079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20000"/>
                </a:srgbClr>
              </a:gs>
              <a:gs pos="50000">
                <a:srgbClr val="3A8DFF">
                  <a:alpha val="20000"/>
                </a:srgbClr>
              </a:gs>
              <a:gs pos="100000">
                <a:srgbClr val="00D9C0">
                  <a:alpha val="20000"/>
                </a:srgbClr>
              </a:gs>
            </a:gsLst>
            <a:lin ang="0" scaled="1"/>
          </a:gradFill>
          <a:ln w="12700">
            <a:solidFill>
              <a:srgbClr val="00D9C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874" y="4022010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32" name="Shape 30"/>
          <p:cNvSpPr/>
          <p:nvPr/>
        </p:nvSpPr>
        <p:spPr>
          <a:xfrm>
            <a:off x="643342" y="4165975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88192" y="217718"/>
                </a:moveTo>
                <a:cubicBezTo>
                  <a:pt x="80305" y="225605"/>
                  <a:pt x="67483" y="225605"/>
                  <a:pt x="59554" y="217718"/>
                </a:cubicBezTo>
                <a:lnTo>
                  <a:pt x="11852" y="170016"/>
                </a:lnTo>
                <a:cubicBezTo>
                  <a:pt x="3965" y="162129"/>
                  <a:pt x="3965" y="149307"/>
                  <a:pt x="11852" y="141378"/>
                </a:cubicBezTo>
                <a:lnTo>
                  <a:pt x="19022" y="134208"/>
                </a:lnTo>
                <a:lnTo>
                  <a:pt x="50022" y="165208"/>
                </a:lnTo>
                <a:cubicBezTo>
                  <a:pt x="53987" y="169172"/>
                  <a:pt x="60398" y="169172"/>
                  <a:pt x="64320" y="165208"/>
                </a:cubicBezTo>
                <a:cubicBezTo>
                  <a:pt x="68243" y="161243"/>
                  <a:pt x="68285" y="154832"/>
                  <a:pt x="64320" y="150910"/>
                </a:cubicBezTo>
                <a:lnTo>
                  <a:pt x="33320" y="119910"/>
                </a:lnTo>
                <a:lnTo>
                  <a:pt x="47618" y="105612"/>
                </a:lnTo>
                <a:lnTo>
                  <a:pt x="69086" y="127080"/>
                </a:lnTo>
                <a:cubicBezTo>
                  <a:pt x="73051" y="131044"/>
                  <a:pt x="79462" y="131044"/>
                  <a:pt x="83384" y="127080"/>
                </a:cubicBezTo>
                <a:cubicBezTo>
                  <a:pt x="87307" y="123115"/>
                  <a:pt x="87349" y="116704"/>
                  <a:pt x="83384" y="112782"/>
                </a:cubicBezTo>
                <a:lnTo>
                  <a:pt x="61916" y="91313"/>
                </a:lnTo>
                <a:lnTo>
                  <a:pt x="76214" y="77015"/>
                </a:lnTo>
                <a:lnTo>
                  <a:pt x="107214" y="108016"/>
                </a:lnTo>
                <a:cubicBezTo>
                  <a:pt x="111179" y="111980"/>
                  <a:pt x="117590" y="111980"/>
                  <a:pt x="121512" y="108016"/>
                </a:cubicBezTo>
                <a:cubicBezTo>
                  <a:pt x="125435" y="104051"/>
                  <a:pt x="125477" y="97640"/>
                  <a:pt x="121512" y="93718"/>
                </a:cubicBezTo>
                <a:lnTo>
                  <a:pt x="90512" y="62717"/>
                </a:lnTo>
                <a:lnTo>
                  <a:pt x="104810" y="48419"/>
                </a:lnTo>
                <a:lnTo>
                  <a:pt x="126278" y="69887"/>
                </a:lnTo>
                <a:cubicBezTo>
                  <a:pt x="130243" y="73852"/>
                  <a:pt x="136654" y="73852"/>
                  <a:pt x="140576" y="69887"/>
                </a:cubicBezTo>
                <a:cubicBezTo>
                  <a:pt x="144499" y="65923"/>
                  <a:pt x="144541" y="59512"/>
                  <a:pt x="140576" y="55589"/>
                </a:cubicBezTo>
                <a:lnTo>
                  <a:pt x="119108" y="34121"/>
                </a:lnTo>
                <a:lnTo>
                  <a:pt x="133406" y="19823"/>
                </a:lnTo>
                <a:lnTo>
                  <a:pt x="164406" y="50823"/>
                </a:lnTo>
                <a:cubicBezTo>
                  <a:pt x="168371" y="54788"/>
                  <a:pt x="174782" y="54788"/>
                  <a:pt x="178704" y="50823"/>
                </a:cubicBezTo>
                <a:cubicBezTo>
                  <a:pt x="182627" y="46859"/>
                  <a:pt x="182669" y="40448"/>
                  <a:pt x="178704" y="36525"/>
                </a:cubicBezTo>
                <a:lnTo>
                  <a:pt x="147704" y="5525"/>
                </a:lnTo>
                <a:lnTo>
                  <a:pt x="154874" y="-1645"/>
                </a:lnTo>
                <a:cubicBezTo>
                  <a:pt x="162762" y="-9532"/>
                  <a:pt x="175583" y="-9532"/>
                  <a:pt x="183513" y="-1645"/>
                </a:cubicBezTo>
                <a:lnTo>
                  <a:pt x="231342" y="45931"/>
                </a:lnTo>
                <a:cubicBezTo>
                  <a:pt x="239229" y="53818"/>
                  <a:pt x="239229" y="66640"/>
                  <a:pt x="231342" y="74569"/>
                </a:cubicBezTo>
                <a:lnTo>
                  <a:pt x="88192" y="21771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1160714" y="4022010"/>
            <a:ext cx="10626385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0.15 Threshold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60714" y="4381922"/>
            <a:ext cx="10590394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feature with a standard deviation </a:t>
            </a:r>
            <a:r>
              <a:rPr lang="en-US" sz="1135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0.15 </a:t>
            </a: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flagged as a static "polymer identity label" and effectively excluded from driving false predictive accuracy.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60714" y="4705842"/>
            <a:ext cx="3437154" cy="863787"/>
          </a:xfrm>
          <a:custGeom>
            <a:avLst/>
            <a:gdLst/>
            <a:ahLst/>
            <a:cxnLst/>
            <a:rect l="l" t="t" r="r" b="b"/>
            <a:pathLst>
              <a:path w="3437154" h="863787">
                <a:moveTo>
                  <a:pt x="71979" y="0"/>
                </a:moveTo>
                <a:lnTo>
                  <a:pt x="3365175" y="0"/>
                </a:lnTo>
                <a:cubicBezTo>
                  <a:pt x="3404928" y="0"/>
                  <a:pt x="3437154" y="32226"/>
                  <a:pt x="3437154" y="71979"/>
                </a:cubicBezTo>
                <a:lnTo>
                  <a:pt x="3437154" y="791808"/>
                </a:lnTo>
                <a:cubicBezTo>
                  <a:pt x="3437154" y="831561"/>
                  <a:pt x="3404928" y="863787"/>
                  <a:pt x="3365175" y="863787"/>
                </a:cubicBezTo>
                <a:lnTo>
                  <a:pt x="71979" y="863787"/>
                </a:lnTo>
                <a:cubicBezTo>
                  <a:pt x="32226" y="863787"/>
                  <a:pt x="0" y="831561"/>
                  <a:pt x="0" y="791808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237196" y="4813815"/>
            <a:ext cx="3284192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Morgan Bits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3699" y="5029762"/>
            <a:ext cx="3311185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5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= 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41694" y="5317692"/>
            <a:ext cx="3275194" cy="143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flagged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01765" y="4705842"/>
            <a:ext cx="3437154" cy="863787"/>
          </a:xfrm>
          <a:custGeom>
            <a:avLst/>
            <a:gdLst/>
            <a:ahLst/>
            <a:cxnLst/>
            <a:rect l="l" t="t" r="r" b="b"/>
            <a:pathLst>
              <a:path w="3437154" h="863787">
                <a:moveTo>
                  <a:pt x="71979" y="0"/>
                </a:moveTo>
                <a:lnTo>
                  <a:pt x="3365175" y="0"/>
                </a:lnTo>
                <a:cubicBezTo>
                  <a:pt x="3404928" y="0"/>
                  <a:pt x="3437154" y="32226"/>
                  <a:pt x="3437154" y="71979"/>
                </a:cubicBezTo>
                <a:lnTo>
                  <a:pt x="3437154" y="791808"/>
                </a:lnTo>
                <a:cubicBezTo>
                  <a:pt x="3437154" y="831561"/>
                  <a:pt x="3404928" y="863787"/>
                  <a:pt x="3365175" y="863787"/>
                </a:cubicBezTo>
                <a:lnTo>
                  <a:pt x="71979" y="863787"/>
                </a:lnTo>
                <a:cubicBezTo>
                  <a:pt x="32226" y="863787"/>
                  <a:pt x="0" y="831561"/>
                  <a:pt x="0" y="791808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4778246" y="4813815"/>
            <a:ext cx="3284192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polyBERT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64749" y="5029762"/>
            <a:ext cx="3311185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5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~ 0.25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82745" y="5317692"/>
            <a:ext cx="3275194" cy="143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retained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2815" y="4705842"/>
            <a:ext cx="3437154" cy="863787"/>
          </a:xfrm>
          <a:custGeom>
            <a:avLst/>
            <a:gdLst/>
            <a:ahLst/>
            <a:cxnLst/>
            <a:rect l="l" t="t" r="r" b="b"/>
            <a:pathLst>
              <a:path w="3437154" h="863787">
                <a:moveTo>
                  <a:pt x="71979" y="0"/>
                </a:moveTo>
                <a:lnTo>
                  <a:pt x="3365175" y="0"/>
                </a:lnTo>
                <a:cubicBezTo>
                  <a:pt x="3404928" y="0"/>
                  <a:pt x="3437154" y="32226"/>
                  <a:pt x="3437154" y="71979"/>
                </a:cubicBezTo>
                <a:lnTo>
                  <a:pt x="3437154" y="791808"/>
                </a:lnTo>
                <a:cubicBezTo>
                  <a:pt x="3437154" y="831561"/>
                  <a:pt x="3404928" y="863787"/>
                  <a:pt x="3365175" y="863787"/>
                </a:cubicBezTo>
                <a:lnTo>
                  <a:pt x="71979" y="863787"/>
                </a:lnTo>
                <a:cubicBezTo>
                  <a:pt x="32226" y="863787"/>
                  <a:pt x="0" y="831561"/>
                  <a:pt x="0" y="791808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8319297" y="4813815"/>
            <a:ext cx="3284192" cy="1799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05800" y="5029762"/>
            <a:ext cx="3311185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5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23796" y="5317692"/>
            <a:ext cx="3275194" cy="143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filtered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64410" y="5835064"/>
            <a:ext cx="11463179" cy="440892"/>
          </a:xfrm>
          <a:custGeom>
            <a:avLst/>
            <a:gdLst/>
            <a:ahLst/>
            <a:cxnLst/>
            <a:rect l="l" t="t" r="r" b="b"/>
            <a:pathLst>
              <a:path w="11463179" h="440892">
                <a:moveTo>
                  <a:pt x="107974" y="0"/>
                </a:moveTo>
                <a:lnTo>
                  <a:pt x="11355205" y="0"/>
                </a:lnTo>
                <a:cubicBezTo>
                  <a:pt x="11414838" y="0"/>
                  <a:pt x="11463179" y="48342"/>
                  <a:pt x="11463179" y="107974"/>
                </a:cubicBezTo>
                <a:lnTo>
                  <a:pt x="11463179" y="332917"/>
                </a:lnTo>
                <a:cubicBezTo>
                  <a:pt x="11463179" y="392550"/>
                  <a:pt x="11414838" y="440892"/>
                  <a:pt x="11355205" y="440892"/>
                </a:cubicBezTo>
                <a:lnTo>
                  <a:pt x="107974" y="440892"/>
                </a:lnTo>
                <a:cubicBezTo>
                  <a:pt x="48382" y="440892"/>
                  <a:pt x="0" y="392510"/>
                  <a:pt x="0" y="332917"/>
                </a:cubicBezTo>
                <a:lnTo>
                  <a:pt x="0" y="107974"/>
                </a:lnTo>
                <a:cubicBezTo>
                  <a:pt x="0" y="48382"/>
                  <a:pt x="48382" y="0"/>
                  <a:pt x="107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20000"/>
                </a:srgbClr>
              </a:gs>
              <a:gs pos="50000">
                <a:srgbClr val="00D9C0">
                  <a:alpha val="20000"/>
                </a:srgbClr>
              </a:gs>
              <a:gs pos="100000">
                <a:srgbClr val="3A8DFF">
                  <a:alpha val="20000"/>
                </a:srgbClr>
              </a:gs>
            </a:gsLst>
            <a:lin ang="0" scaled="1"/>
          </a:gradFill>
          <a:ln w="12700">
            <a:solidFill>
              <a:srgbClr val="3A8DFF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869" y="5947537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105401" y="28174"/>
                </a:moveTo>
                <a:cubicBezTo>
                  <a:pt x="109787" y="22143"/>
                  <a:pt x="108437" y="13708"/>
                  <a:pt x="102406" y="9321"/>
                </a:cubicBezTo>
                <a:cubicBezTo>
                  <a:pt x="96375" y="4935"/>
                  <a:pt x="87939" y="6284"/>
                  <a:pt x="83553" y="12316"/>
                </a:cubicBezTo>
                <a:lnTo>
                  <a:pt x="38845" y="73768"/>
                </a:lnTo>
                <a:lnTo>
                  <a:pt x="23029" y="57951"/>
                </a:lnTo>
                <a:cubicBezTo>
                  <a:pt x="17757" y="52679"/>
                  <a:pt x="9195" y="52679"/>
                  <a:pt x="3922" y="57951"/>
                </a:cubicBezTo>
                <a:cubicBezTo>
                  <a:pt x="-1350" y="63224"/>
                  <a:pt x="-1350" y="71785"/>
                  <a:pt x="3922" y="77058"/>
                </a:cubicBezTo>
                <a:lnTo>
                  <a:pt x="30916" y="104051"/>
                </a:lnTo>
                <a:cubicBezTo>
                  <a:pt x="33700" y="106835"/>
                  <a:pt x="37580" y="108269"/>
                  <a:pt x="41502" y="107973"/>
                </a:cubicBezTo>
                <a:cubicBezTo>
                  <a:pt x="45425" y="107678"/>
                  <a:pt x="49052" y="105654"/>
                  <a:pt x="51372" y="102448"/>
                </a:cubicBezTo>
                <a:lnTo>
                  <a:pt x="105358" y="28216"/>
                </a:lnTo>
                <a:close/>
                <a:moveTo>
                  <a:pt x="159387" y="85535"/>
                </a:moveTo>
                <a:cubicBezTo>
                  <a:pt x="163774" y="79504"/>
                  <a:pt x="162424" y="71068"/>
                  <a:pt x="156393" y="66682"/>
                </a:cubicBezTo>
                <a:cubicBezTo>
                  <a:pt x="150361" y="62296"/>
                  <a:pt x="141926" y="63645"/>
                  <a:pt x="137540" y="69677"/>
                </a:cubicBezTo>
                <a:lnTo>
                  <a:pt x="65838" y="168245"/>
                </a:lnTo>
                <a:lnTo>
                  <a:pt x="36525" y="138931"/>
                </a:lnTo>
                <a:cubicBezTo>
                  <a:pt x="31253" y="133659"/>
                  <a:pt x="22691" y="133659"/>
                  <a:pt x="17419" y="138931"/>
                </a:cubicBezTo>
                <a:cubicBezTo>
                  <a:pt x="12147" y="144204"/>
                  <a:pt x="12147" y="152766"/>
                  <a:pt x="17419" y="158038"/>
                </a:cubicBezTo>
                <a:lnTo>
                  <a:pt x="57909" y="198528"/>
                </a:lnTo>
                <a:cubicBezTo>
                  <a:pt x="60693" y="201311"/>
                  <a:pt x="64573" y="202745"/>
                  <a:pt x="68496" y="202450"/>
                </a:cubicBezTo>
                <a:cubicBezTo>
                  <a:pt x="72418" y="202155"/>
                  <a:pt x="76045" y="200130"/>
                  <a:pt x="78365" y="196925"/>
                </a:cubicBezTo>
                <a:lnTo>
                  <a:pt x="159345" y="85577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49" name="Text 47"/>
          <p:cNvSpPr/>
          <p:nvPr/>
        </p:nvSpPr>
        <p:spPr>
          <a:xfrm>
            <a:off x="854790" y="5947537"/>
            <a:ext cx="10068523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Ensures the final exported datasets reflect </a:t>
            </a:r>
            <a:r>
              <a:rPr lang="en-US" sz="1135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chemical variances </a:t>
            </a:r>
            <a:r>
              <a:rPr lang="en-US" sz="1135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mathematical artifacts. Estimated R² gain from exclusion during retraining: </a:t>
            </a:r>
            <a:r>
              <a:rPr lang="en-US" sz="1135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~+15%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452" y="355452"/>
            <a:ext cx="497633" cy="497633"/>
          </a:xfrm>
          <a:custGeom>
            <a:avLst/>
            <a:gdLst/>
            <a:ahLst/>
            <a:cxnLst/>
            <a:rect l="l" t="t" r="r" b="b"/>
            <a:pathLst>
              <a:path w="497633" h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3" name="Shape 1"/>
          <p:cNvSpPr/>
          <p:nvPr/>
        </p:nvSpPr>
        <p:spPr>
          <a:xfrm>
            <a:off x="484303" y="497633"/>
            <a:ext cx="239930" cy="213271"/>
          </a:xfrm>
          <a:custGeom>
            <a:avLst/>
            <a:gdLst/>
            <a:ahLst/>
            <a:cxnLst/>
            <a:rect l="l" t="t" r="r" b="b"/>
            <a:pathLst>
              <a:path w="239930" h="213271">
                <a:moveTo>
                  <a:pt x="40197" y="0"/>
                </a:moveTo>
                <a:cubicBezTo>
                  <a:pt x="25493" y="0"/>
                  <a:pt x="13538" y="11955"/>
                  <a:pt x="13538" y="26659"/>
                </a:cubicBezTo>
                <a:lnTo>
                  <a:pt x="13538" y="186612"/>
                </a:lnTo>
                <a:cubicBezTo>
                  <a:pt x="13538" y="201316"/>
                  <a:pt x="25493" y="213271"/>
                  <a:pt x="40197" y="213271"/>
                </a:cubicBezTo>
                <a:lnTo>
                  <a:pt x="146832" y="213271"/>
                </a:lnTo>
                <a:cubicBezTo>
                  <a:pt x="161536" y="213271"/>
                  <a:pt x="173491" y="201316"/>
                  <a:pt x="173491" y="186612"/>
                </a:cubicBezTo>
                <a:lnTo>
                  <a:pt x="173491" y="146624"/>
                </a:lnTo>
                <a:lnTo>
                  <a:pt x="206023" y="146624"/>
                </a:lnTo>
                <a:lnTo>
                  <a:pt x="193110" y="159537"/>
                </a:lnTo>
                <a:cubicBezTo>
                  <a:pt x="189195" y="163452"/>
                  <a:pt x="189195" y="169784"/>
                  <a:pt x="193110" y="173658"/>
                </a:cubicBezTo>
                <a:cubicBezTo>
                  <a:pt x="197026" y="177532"/>
                  <a:pt x="203357" y="177573"/>
                  <a:pt x="207231" y="173658"/>
                </a:cubicBezTo>
                <a:lnTo>
                  <a:pt x="237222" y="143666"/>
                </a:lnTo>
                <a:cubicBezTo>
                  <a:pt x="241138" y="139751"/>
                  <a:pt x="241138" y="133419"/>
                  <a:pt x="237222" y="129546"/>
                </a:cubicBezTo>
                <a:lnTo>
                  <a:pt x="207231" y="99554"/>
                </a:lnTo>
                <a:cubicBezTo>
                  <a:pt x="203316" y="95639"/>
                  <a:pt x="196984" y="95639"/>
                  <a:pt x="193110" y="99554"/>
                </a:cubicBezTo>
                <a:cubicBezTo>
                  <a:pt x="189236" y="103470"/>
                  <a:pt x="189195" y="109801"/>
                  <a:pt x="193110" y="113675"/>
                </a:cubicBezTo>
                <a:lnTo>
                  <a:pt x="206023" y="126588"/>
                </a:lnTo>
                <a:lnTo>
                  <a:pt x="173491" y="126588"/>
                </a:lnTo>
                <a:lnTo>
                  <a:pt x="173491" y="70979"/>
                </a:lnTo>
                <a:cubicBezTo>
                  <a:pt x="173491" y="63898"/>
                  <a:pt x="170700" y="57108"/>
                  <a:pt x="165702" y="52110"/>
                </a:cubicBezTo>
                <a:lnTo>
                  <a:pt x="121298" y="7789"/>
                </a:lnTo>
                <a:cubicBezTo>
                  <a:pt x="116299" y="2791"/>
                  <a:pt x="109551" y="0"/>
                  <a:pt x="102470" y="0"/>
                </a:cubicBezTo>
                <a:lnTo>
                  <a:pt x="40197" y="0"/>
                </a:lnTo>
                <a:close/>
                <a:moveTo>
                  <a:pt x="149123" y="73312"/>
                </a:moveTo>
                <a:lnTo>
                  <a:pt x="110176" y="73312"/>
                </a:lnTo>
                <a:cubicBezTo>
                  <a:pt x="104636" y="73312"/>
                  <a:pt x="100179" y="68855"/>
                  <a:pt x="100179" y="63315"/>
                </a:cubicBezTo>
                <a:lnTo>
                  <a:pt x="100179" y="24368"/>
                </a:lnTo>
                <a:lnTo>
                  <a:pt x="149123" y="73312"/>
                </a:lnTo>
                <a:close/>
                <a:moveTo>
                  <a:pt x="93514" y="136627"/>
                </a:moveTo>
                <a:cubicBezTo>
                  <a:pt x="93514" y="131087"/>
                  <a:pt x="97971" y="126630"/>
                  <a:pt x="103511" y="126630"/>
                </a:cubicBezTo>
                <a:lnTo>
                  <a:pt x="146832" y="126630"/>
                </a:lnTo>
                <a:lnTo>
                  <a:pt x="146832" y="146624"/>
                </a:lnTo>
                <a:lnTo>
                  <a:pt x="103511" y="146624"/>
                </a:lnTo>
                <a:cubicBezTo>
                  <a:pt x="97971" y="146624"/>
                  <a:pt x="93514" y="142167"/>
                  <a:pt x="93514" y="1366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995265" y="355452"/>
            <a:ext cx="5944933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kern="0" spc="56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OUTPUT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5265" y="604268"/>
            <a:ext cx="6033796" cy="355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Output Export &amp; Confidence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895" y="1070799"/>
            <a:ext cx="5660571" cy="2674776"/>
          </a:xfrm>
          <a:custGeom>
            <a:avLst/>
            <a:gdLst/>
            <a:ahLst/>
            <a:cxnLst/>
            <a:rect l="l" t="t" r="r" b="b"/>
            <a:pathLst>
              <a:path w="5660571" h="2674776">
                <a:moveTo>
                  <a:pt x="106643" y="0"/>
                </a:moveTo>
                <a:lnTo>
                  <a:pt x="5553928" y="0"/>
                </a:lnTo>
                <a:cubicBezTo>
                  <a:pt x="5612826" y="0"/>
                  <a:pt x="5660571" y="47746"/>
                  <a:pt x="5660571" y="106643"/>
                </a:cubicBezTo>
                <a:lnTo>
                  <a:pt x="5660571" y="2568132"/>
                </a:lnTo>
                <a:cubicBezTo>
                  <a:pt x="5660571" y="2627030"/>
                  <a:pt x="5612826" y="2674776"/>
                  <a:pt x="5553928" y="2674776"/>
                </a:cubicBezTo>
                <a:lnTo>
                  <a:pt x="106643" y="2674776"/>
                </a:lnTo>
                <a:cubicBezTo>
                  <a:pt x="47746" y="2674776"/>
                  <a:pt x="0" y="2627030"/>
                  <a:pt x="0" y="2568132"/>
                </a:cubicBezTo>
                <a:lnTo>
                  <a:pt x="0" y="106643"/>
                </a:lnTo>
                <a:cubicBezTo>
                  <a:pt x="0" y="47785"/>
                  <a:pt x="47785" y="0"/>
                  <a:pt x="106643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6519" y="1217423"/>
            <a:ext cx="426542" cy="426542"/>
          </a:xfrm>
          <a:custGeom>
            <a:avLst/>
            <a:gdLst/>
            <a:ahLst/>
            <a:cxnLst/>
            <a:rect l="l" t="t" r="r" b="b"/>
            <a:pathLst>
              <a:path w="426542" h="426542">
                <a:moveTo>
                  <a:pt x="106636" y="0"/>
                </a:moveTo>
                <a:lnTo>
                  <a:pt x="319907" y="0"/>
                </a:lnTo>
                <a:cubicBezTo>
                  <a:pt x="378760" y="0"/>
                  <a:pt x="426542" y="47782"/>
                  <a:pt x="426542" y="106636"/>
                </a:cubicBezTo>
                <a:lnTo>
                  <a:pt x="426542" y="319907"/>
                </a:lnTo>
                <a:cubicBezTo>
                  <a:pt x="426542" y="378760"/>
                  <a:pt x="378760" y="426542"/>
                  <a:pt x="319907" y="426542"/>
                </a:cubicBezTo>
                <a:lnTo>
                  <a:pt x="106636" y="426542"/>
                </a:lnTo>
                <a:cubicBezTo>
                  <a:pt x="47782" y="426542"/>
                  <a:pt x="0" y="378760"/>
                  <a:pt x="0" y="319907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42035" y="1341831"/>
            <a:ext cx="155510" cy="177726"/>
          </a:xfrm>
          <a:custGeom>
            <a:avLst/>
            <a:gdLst/>
            <a:ahLst/>
            <a:cxnLst/>
            <a:rect l="l" t="t" r="r" b="b"/>
            <a:pathLst>
              <a:path w="155510" h="177726">
                <a:moveTo>
                  <a:pt x="155510" y="71438"/>
                </a:moveTo>
                <a:cubicBezTo>
                  <a:pt x="150373" y="74839"/>
                  <a:pt x="144472" y="77582"/>
                  <a:pt x="138328" y="79768"/>
                </a:cubicBezTo>
                <a:cubicBezTo>
                  <a:pt x="122013" y="85600"/>
                  <a:pt x="100596" y="88863"/>
                  <a:pt x="77755" y="88863"/>
                </a:cubicBezTo>
                <a:cubicBezTo>
                  <a:pt x="54915" y="88863"/>
                  <a:pt x="33462" y="85565"/>
                  <a:pt x="17182" y="79768"/>
                </a:cubicBezTo>
                <a:cubicBezTo>
                  <a:pt x="11073" y="77582"/>
                  <a:pt x="5137" y="74839"/>
                  <a:pt x="0" y="71438"/>
                </a:cubicBezTo>
                <a:lnTo>
                  <a:pt x="0" y="99971"/>
                </a:lnTo>
                <a:cubicBezTo>
                  <a:pt x="0" y="115314"/>
                  <a:pt x="34816" y="127741"/>
                  <a:pt x="77755" y="127741"/>
                </a:cubicBezTo>
                <a:cubicBezTo>
                  <a:pt x="120694" y="127741"/>
                  <a:pt x="155510" y="115314"/>
                  <a:pt x="155510" y="99971"/>
                </a:cubicBezTo>
                <a:lnTo>
                  <a:pt x="155510" y="71438"/>
                </a:lnTo>
                <a:close/>
                <a:moveTo>
                  <a:pt x="155510" y="44431"/>
                </a:moveTo>
                <a:lnTo>
                  <a:pt x="155510" y="27770"/>
                </a:lnTo>
                <a:cubicBezTo>
                  <a:pt x="155510" y="12427"/>
                  <a:pt x="120694" y="0"/>
                  <a:pt x="77755" y="0"/>
                </a:cubicBezTo>
                <a:cubicBezTo>
                  <a:pt x="34816" y="0"/>
                  <a:pt x="0" y="12427"/>
                  <a:pt x="0" y="27770"/>
                </a:cubicBezTo>
                <a:lnTo>
                  <a:pt x="0" y="44431"/>
                </a:lnTo>
                <a:cubicBezTo>
                  <a:pt x="0" y="59774"/>
                  <a:pt x="34816" y="72201"/>
                  <a:pt x="77755" y="72201"/>
                </a:cubicBezTo>
                <a:cubicBezTo>
                  <a:pt x="120694" y="72201"/>
                  <a:pt x="155510" y="59774"/>
                  <a:pt x="155510" y="44431"/>
                </a:cubicBezTo>
                <a:close/>
                <a:moveTo>
                  <a:pt x="138328" y="135308"/>
                </a:moveTo>
                <a:cubicBezTo>
                  <a:pt x="122048" y="141105"/>
                  <a:pt x="100630" y="144402"/>
                  <a:pt x="77755" y="144402"/>
                </a:cubicBezTo>
                <a:cubicBezTo>
                  <a:pt x="54880" y="144402"/>
                  <a:pt x="33462" y="141105"/>
                  <a:pt x="17182" y="135308"/>
                </a:cubicBezTo>
                <a:cubicBezTo>
                  <a:pt x="11073" y="133121"/>
                  <a:pt x="5137" y="130379"/>
                  <a:pt x="0" y="126977"/>
                </a:cubicBezTo>
                <a:lnTo>
                  <a:pt x="0" y="149956"/>
                </a:lnTo>
                <a:cubicBezTo>
                  <a:pt x="0" y="165299"/>
                  <a:pt x="34816" y="177726"/>
                  <a:pt x="77755" y="177726"/>
                </a:cubicBezTo>
                <a:cubicBezTo>
                  <a:pt x="120694" y="177726"/>
                  <a:pt x="155510" y="165299"/>
                  <a:pt x="155510" y="149956"/>
                </a:cubicBezTo>
                <a:lnTo>
                  <a:pt x="155510" y="126977"/>
                </a:lnTo>
                <a:cubicBezTo>
                  <a:pt x="150373" y="130379"/>
                  <a:pt x="144472" y="133121"/>
                  <a:pt x="138328" y="135308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9" name="Text 7"/>
          <p:cNvSpPr/>
          <p:nvPr/>
        </p:nvSpPr>
        <p:spPr>
          <a:xfrm>
            <a:off x="1039697" y="1306286"/>
            <a:ext cx="1004152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6519" y="1750601"/>
            <a:ext cx="5438414" cy="4265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the </a:t>
            </a:r>
            <a:r>
              <a:rPr lang="en-US" sz="1120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100 optimized samples </a:t>
            </a:r>
            <a:r>
              <a:rPr lang="en-US" sz="112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polymer class and saves them to isolated, production-ready CSV files.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6519" y="2283778"/>
            <a:ext cx="5367324" cy="390997"/>
          </a:xfrm>
          <a:custGeom>
            <a:avLst/>
            <a:gdLst/>
            <a:ahLst/>
            <a:cxnLst/>
            <a:rect l="l" t="t" r="r" b="b"/>
            <a:pathLst>
              <a:path w="5367324" h="390997">
                <a:moveTo>
                  <a:pt x="71091" y="0"/>
                </a:moveTo>
                <a:lnTo>
                  <a:pt x="5296233" y="0"/>
                </a:lnTo>
                <a:cubicBezTo>
                  <a:pt x="5335495" y="0"/>
                  <a:pt x="5367324" y="31829"/>
                  <a:pt x="5367324" y="71091"/>
                </a:cubicBezTo>
                <a:lnTo>
                  <a:pt x="5367324" y="319906"/>
                </a:lnTo>
                <a:cubicBezTo>
                  <a:pt x="5367324" y="359169"/>
                  <a:pt x="5335495" y="390997"/>
                  <a:pt x="5296233" y="390997"/>
                </a:cubicBezTo>
                <a:lnTo>
                  <a:pt x="71091" y="390997"/>
                </a:lnTo>
                <a:cubicBezTo>
                  <a:pt x="31829" y="390997"/>
                  <a:pt x="0" y="359169"/>
                  <a:pt x="0" y="319906"/>
                </a:cubicBezTo>
                <a:lnTo>
                  <a:pt x="0" y="71091"/>
                </a:lnTo>
                <a:cubicBezTo>
                  <a:pt x="0" y="31829"/>
                  <a:pt x="31829" y="0"/>
                  <a:pt x="7109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22041" y="2408187"/>
            <a:ext cx="159953" cy="142181"/>
          </a:xfrm>
          <a:custGeom>
            <a:avLst/>
            <a:gdLst/>
            <a:ahLst/>
            <a:cxnLst/>
            <a:rect l="l" t="t" r="r" b="b"/>
            <a:pathLst>
              <a:path w="159953" h="142181">
                <a:moveTo>
                  <a:pt x="26659" y="0"/>
                </a:moveTo>
                <a:cubicBezTo>
                  <a:pt x="16856" y="0"/>
                  <a:pt x="8886" y="7970"/>
                  <a:pt x="8886" y="17773"/>
                </a:cubicBezTo>
                <a:lnTo>
                  <a:pt x="8886" y="124408"/>
                </a:lnTo>
                <a:cubicBezTo>
                  <a:pt x="8886" y="134211"/>
                  <a:pt x="16856" y="142181"/>
                  <a:pt x="26659" y="142181"/>
                </a:cubicBezTo>
                <a:lnTo>
                  <a:pt x="48875" y="142181"/>
                </a:lnTo>
                <a:lnTo>
                  <a:pt x="48875" y="111079"/>
                </a:lnTo>
                <a:cubicBezTo>
                  <a:pt x="48875" y="101276"/>
                  <a:pt x="56845" y="93306"/>
                  <a:pt x="66647" y="93306"/>
                </a:cubicBezTo>
                <a:lnTo>
                  <a:pt x="115522" y="93306"/>
                </a:lnTo>
                <a:lnTo>
                  <a:pt x="115522" y="47347"/>
                </a:lnTo>
                <a:cubicBezTo>
                  <a:pt x="115522" y="42626"/>
                  <a:pt x="113661" y="38100"/>
                  <a:pt x="110329" y="34768"/>
                </a:cubicBezTo>
                <a:lnTo>
                  <a:pt x="80726" y="5193"/>
                </a:lnTo>
                <a:cubicBezTo>
                  <a:pt x="77394" y="1861"/>
                  <a:pt x="72895" y="0"/>
                  <a:pt x="68175" y="0"/>
                </a:cubicBezTo>
                <a:lnTo>
                  <a:pt x="26659" y="0"/>
                </a:lnTo>
                <a:close/>
                <a:moveTo>
                  <a:pt x="99277" y="48875"/>
                </a:moveTo>
                <a:lnTo>
                  <a:pt x="73312" y="48875"/>
                </a:lnTo>
                <a:cubicBezTo>
                  <a:pt x="69619" y="48875"/>
                  <a:pt x="66647" y="45903"/>
                  <a:pt x="66647" y="42210"/>
                </a:cubicBezTo>
                <a:lnTo>
                  <a:pt x="66647" y="16245"/>
                </a:lnTo>
                <a:lnTo>
                  <a:pt x="99277" y="48875"/>
                </a:lnTo>
                <a:close/>
                <a:moveTo>
                  <a:pt x="73312" y="105525"/>
                </a:moveTo>
                <a:cubicBezTo>
                  <a:pt x="66564" y="105525"/>
                  <a:pt x="61093" y="110995"/>
                  <a:pt x="61093" y="117743"/>
                </a:cubicBezTo>
                <a:lnTo>
                  <a:pt x="61093" y="139959"/>
                </a:lnTo>
                <a:cubicBezTo>
                  <a:pt x="61093" y="146707"/>
                  <a:pt x="66564" y="152178"/>
                  <a:pt x="73312" y="152178"/>
                </a:cubicBezTo>
                <a:lnTo>
                  <a:pt x="77755" y="152178"/>
                </a:lnTo>
                <a:cubicBezTo>
                  <a:pt x="84503" y="152178"/>
                  <a:pt x="89974" y="146707"/>
                  <a:pt x="89974" y="139959"/>
                </a:cubicBezTo>
                <a:lnTo>
                  <a:pt x="89974" y="137738"/>
                </a:lnTo>
                <a:cubicBezTo>
                  <a:pt x="89974" y="134683"/>
                  <a:pt x="87474" y="132184"/>
                  <a:pt x="84420" y="132184"/>
                </a:cubicBezTo>
                <a:cubicBezTo>
                  <a:pt x="81365" y="132184"/>
                  <a:pt x="78866" y="134683"/>
                  <a:pt x="78866" y="137738"/>
                </a:cubicBezTo>
                <a:lnTo>
                  <a:pt x="78866" y="139959"/>
                </a:lnTo>
                <a:cubicBezTo>
                  <a:pt x="78866" y="140570"/>
                  <a:pt x="78366" y="141070"/>
                  <a:pt x="77755" y="141070"/>
                </a:cubicBezTo>
                <a:lnTo>
                  <a:pt x="73312" y="141070"/>
                </a:lnTo>
                <a:cubicBezTo>
                  <a:pt x="72701" y="141070"/>
                  <a:pt x="72201" y="140570"/>
                  <a:pt x="72201" y="139959"/>
                </a:cubicBezTo>
                <a:lnTo>
                  <a:pt x="72201" y="117743"/>
                </a:lnTo>
                <a:cubicBezTo>
                  <a:pt x="72201" y="117133"/>
                  <a:pt x="72701" y="116633"/>
                  <a:pt x="73312" y="116633"/>
                </a:cubicBezTo>
                <a:lnTo>
                  <a:pt x="77755" y="116633"/>
                </a:lnTo>
                <a:cubicBezTo>
                  <a:pt x="78366" y="116633"/>
                  <a:pt x="78866" y="117133"/>
                  <a:pt x="78866" y="117743"/>
                </a:cubicBezTo>
                <a:lnTo>
                  <a:pt x="78866" y="119965"/>
                </a:lnTo>
                <a:cubicBezTo>
                  <a:pt x="78866" y="123020"/>
                  <a:pt x="81365" y="125519"/>
                  <a:pt x="84420" y="125519"/>
                </a:cubicBezTo>
                <a:cubicBezTo>
                  <a:pt x="87474" y="125519"/>
                  <a:pt x="89974" y="123020"/>
                  <a:pt x="89974" y="119965"/>
                </a:cubicBezTo>
                <a:lnTo>
                  <a:pt x="89974" y="117743"/>
                </a:lnTo>
                <a:cubicBezTo>
                  <a:pt x="89974" y="110995"/>
                  <a:pt x="84503" y="105525"/>
                  <a:pt x="77755" y="105525"/>
                </a:cubicBezTo>
                <a:lnTo>
                  <a:pt x="73312" y="105525"/>
                </a:lnTo>
                <a:close/>
                <a:moveTo>
                  <a:pt x="111079" y="105525"/>
                </a:moveTo>
                <a:cubicBezTo>
                  <a:pt x="103109" y="105525"/>
                  <a:pt x="96638" y="111995"/>
                  <a:pt x="96638" y="119965"/>
                </a:cubicBezTo>
                <a:cubicBezTo>
                  <a:pt x="96638" y="127935"/>
                  <a:pt x="103109" y="134405"/>
                  <a:pt x="111079" y="134405"/>
                </a:cubicBezTo>
                <a:cubicBezTo>
                  <a:pt x="112912" y="134405"/>
                  <a:pt x="114411" y="135905"/>
                  <a:pt x="114411" y="137738"/>
                </a:cubicBezTo>
                <a:cubicBezTo>
                  <a:pt x="114411" y="139570"/>
                  <a:pt x="112912" y="141070"/>
                  <a:pt x="111079" y="141070"/>
                </a:cubicBezTo>
                <a:lnTo>
                  <a:pt x="102192" y="141070"/>
                </a:lnTo>
                <a:cubicBezTo>
                  <a:pt x="99138" y="141070"/>
                  <a:pt x="96638" y="143569"/>
                  <a:pt x="96638" y="146624"/>
                </a:cubicBezTo>
                <a:cubicBezTo>
                  <a:pt x="96638" y="149679"/>
                  <a:pt x="99138" y="152178"/>
                  <a:pt x="102192" y="152178"/>
                </a:cubicBezTo>
                <a:lnTo>
                  <a:pt x="111079" y="152178"/>
                </a:lnTo>
                <a:cubicBezTo>
                  <a:pt x="119049" y="152178"/>
                  <a:pt x="125519" y="145708"/>
                  <a:pt x="125519" y="137738"/>
                </a:cubicBezTo>
                <a:cubicBezTo>
                  <a:pt x="125519" y="129768"/>
                  <a:pt x="119049" y="123297"/>
                  <a:pt x="111079" y="123297"/>
                </a:cubicBezTo>
                <a:cubicBezTo>
                  <a:pt x="109246" y="123297"/>
                  <a:pt x="107746" y="121798"/>
                  <a:pt x="107746" y="119965"/>
                </a:cubicBezTo>
                <a:cubicBezTo>
                  <a:pt x="107746" y="118132"/>
                  <a:pt x="109246" y="116633"/>
                  <a:pt x="111079" y="116633"/>
                </a:cubicBezTo>
                <a:lnTo>
                  <a:pt x="117743" y="116633"/>
                </a:lnTo>
                <a:cubicBezTo>
                  <a:pt x="120798" y="116633"/>
                  <a:pt x="123297" y="114133"/>
                  <a:pt x="123297" y="111079"/>
                </a:cubicBezTo>
                <a:cubicBezTo>
                  <a:pt x="123297" y="108024"/>
                  <a:pt x="120798" y="105525"/>
                  <a:pt x="117743" y="105525"/>
                </a:cubicBezTo>
                <a:lnTo>
                  <a:pt x="111079" y="105525"/>
                </a:lnTo>
                <a:close/>
                <a:moveTo>
                  <a:pt x="137738" y="105525"/>
                </a:moveTo>
                <a:cubicBezTo>
                  <a:pt x="134683" y="105525"/>
                  <a:pt x="132184" y="108024"/>
                  <a:pt x="132184" y="111079"/>
                </a:cubicBezTo>
                <a:lnTo>
                  <a:pt x="132184" y="119854"/>
                </a:lnTo>
                <a:cubicBezTo>
                  <a:pt x="132184" y="129712"/>
                  <a:pt x="135099" y="139376"/>
                  <a:pt x="140570" y="147568"/>
                </a:cubicBezTo>
                <a:lnTo>
                  <a:pt x="141986" y="149706"/>
                </a:lnTo>
                <a:cubicBezTo>
                  <a:pt x="143014" y="151261"/>
                  <a:pt x="144763" y="152178"/>
                  <a:pt x="146596" y="152178"/>
                </a:cubicBezTo>
                <a:cubicBezTo>
                  <a:pt x="148429" y="152178"/>
                  <a:pt x="150178" y="151261"/>
                  <a:pt x="151206" y="149706"/>
                </a:cubicBezTo>
                <a:lnTo>
                  <a:pt x="152622" y="147568"/>
                </a:lnTo>
                <a:cubicBezTo>
                  <a:pt x="158093" y="139348"/>
                  <a:pt x="161009" y="129712"/>
                  <a:pt x="161009" y="119854"/>
                </a:cubicBezTo>
                <a:lnTo>
                  <a:pt x="161009" y="111079"/>
                </a:lnTo>
                <a:cubicBezTo>
                  <a:pt x="161009" y="108024"/>
                  <a:pt x="158509" y="105525"/>
                  <a:pt x="155455" y="105525"/>
                </a:cubicBezTo>
                <a:cubicBezTo>
                  <a:pt x="152400" y="105525"/>
                  <a:pt x="149901" y="108024"/>
                  <a:pt x="149901" y="111079"/>
                </a:cubicBezTo>
                <a:lnTo>
                  <a:pt x="149901" y="119854"/>
                </a:lnTo>
                <a:cubicBezTo>
                  <a:pt x="149901" y="125297"/>
                  <a:pt x="148762" y="130656"/>
                  <a:pt x="146568" y="135599"/>
                </a:cubicBezTo>
                <a:cubicBezTo>
                  <a:pt x="144375" y="130656"/>
                  <a:pt x="143236" y="125297"/>
                  <a:pt x="143236" y="119854"/>
                </a:cubicBezTo>
                <a:lnTo>
                  <a:pt x="143236" y="111079"/>
                </a:lnTo>
                <a:cubicBezTo>
                  <a:pt x="143236" y="108024"/>
                  <a:pt x="140737" y="105525"/>
                  <a:pt x="137682" y="105525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13" name="Text 11"/>
          <p:cNvSpPr/>
          <p:nvPr/>
        </p:nvSpPr>
        <p:spPr>
          <a:xfrm>
            <a:off x="861971" y="2390414"/>
            <a:ext cx="1359603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Member1_Polyimide.csv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8165" y="2408187"/>
            <a:ext cx="488746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rows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6519" y="2745866"/>
            <a:ext cx="5367324" cy="390997"/>
          </a:xfrm>
          <a:custGeom>
            <a:avLst/>
            <a:gdLst/>
            <a:ahLst/>
            <a:cxnLst/>
            <a:rect l="l" t="t" r="r" b="b"/>
            <a:pathLst>
              <a:path w="5367324" h="390997">
                <a:moveTo>
                  <a:pt x="71091" y="0"/>
                </a:moveTo>
                <a:lnTo>
                  <a:pt x="5296233" y="0"/>
                </a:lnTo>
                <a:cubicBezTo>
                  <a:pt x="5335495" y="0"/>
                  <a:pt x="5367324" y="31829"/>
                  <a:pt x="5367324" y="71091"/>
                </a:cubicBezTo>
                <a:lnTo>
                  <a:pt x="5367324" y="319906"/>
                </a:lnTo>
                <a:cubicBezTo>
                  <a:pt x="5367324" y="359169"/>
                  <a:pt x="5335495" y="390997"/>
                  <a:pt x="5296233" y="390997"/>
                </a:cubicBezTo>
                <a:lnTo>
                  <a:pt x="71091" y="390997"/>
                </a:lnTo>
                <a:cubicBezTo>
                  <a:pt x="31829" y="390997"/>
                  <a:pt x="0" y="359169"/>
                  <a:pt x="0" y="319906"/>
                </a:cubicBezTo>
                <a:lnTo>
                  <a:pt x="0" y="71091"/>
                </a:lnTo>
                <a:cubicBezTo>
                  <a:pt x="0" y="31829"/>
                  <a:pt x="31829" y="0"/>
                  <a:pt x="7109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22041" y="2870274"/>
            <a:ext cx="159953" cy="142181"/>
          </a:xfrm>
          <a:custGeom>
            <a:avLst/>
            <a:gdLst/>
            <a:ahLst/>
            <a:cxnLst/>
            <a:rect l="l" t="t" r="r" b="b"/>
            <a:pathLst>
              <a:path w="159953" h="142181">
                <a:moveTo>
                  <a:pt x="26659" y="0"/>
                </a:moveTo>
                <a:cubicBezTo>
                  <a:pt x="16856" y="0"/>
                  <a:pt x="8886" y="7970"/>
                  <a:pt x="8886" y="17773"/>
                </a:cubicBezTo>
                <a:lnTo>
                  <a:pt x="8886" y="124408"/>
                </a:lnTo>
                <a:cubicBezTo>
                  <a:pt x="8886" y="134211"/>
                  <a:pt x="16856" y="142181"/>
                  <a:pt x="26659" y="142181"/>
                </a:cubicBezTo>
                <a:lnTo>
                  <a:pt x="48875" y="142181"/>
                </a:lnTo>
                <a:lnTo>
                  <a:pt x="48875" y="111079"/>
                </a:lnTo>
                <a:cubicBezTo>
                  <a:pt x="48875" y="101276"/>
                  <a:pt x="56845" y="93306"/>
                  <a:pt x="66647" y="93306"/>
                </a:cubicBezTo>
                <a:lnTo>
                  <a:pt x="115522" y="93306"/>
                </a:lnTo>
                <a:lnTo>
                  <a:pt x="115522" y="47347"/>
                </a:lnTo>
                <a:cubicBezTo>
                  <a:pt x="115522" y="42626"/>
                  <a:pt x="113661" y="38100"/>
                  <a:pt x="110329" y="34768"/>
                </a:cubicBezTo>
                <a:lnTo>
                  <a:pt x="80726" y="5193"/>
                </a:lnTo>
                <a:cubicBezTo>
                  <a:pt x="77394" y="1861"/>
                  <a:pt x="72895" y="0"/>
                  <a:pt x="68175" y="0"/>
                </a:cubicBezTo>
                <a:lnTo>
                  <a:pt x="26659" y="0"/>
                </a:lnTo>
                <a:close/>
                <a:moveTo>
                  <a:pt x="99277" y="48875"/>
                </a:moveTo>
                <a:lnTo>
                  <a:pt x="73312" y="48875"/>
                </a:lnTo>
                <a:cubicBezTo>
                  <a:pt x="69619" y="48875"/>
                  <a:pt x="66647" y="45903"/>
                  <a:pt x="66647" y="42210"/>
                </a:cubicBezTo>
                <a:lnTo>
                  <a:pt x="66647" y="16245"/>
                </a:lnTo>
                <a:lnTo>
                  <a:pt x="99277" y="48875"/>
                </a:lnTo>
                <a:close/>
                <a:moveTo>
                  <a:pt x="73312" y="105525"/>
                </a:moveTo>
                <a:cubicBezTo>
                  <a:pt x="66564" y="105525"/>
                  <a:pt x="61093" y="110995"/>
                  <a:pt x="61093" y="117743"/>
                </a:cubicBezTo>
                <a:lnTo>
                  <a:pt x="61093" y="139959"/>
                </a:lnTo>
                <a:cubicBezTo>
                  <a:pt x="61093" y="146707"/>
                  <a:pt x="66564" y="152178"/>
                  <a:pt x="73312" y="152178"/>
                </a:cubicBezTo>
                <a:lnTo>
                  <a:pt x="77755" y="152178"/>
                </a:lnTo>
                <a:cubicBezTo>
                  <a:pt x="84503" y="152178"/>
                  <a:pt x="89974" y="146707"/>
                  <a:pt x="89974" y="139959"/>
                </a:cubicBezTo>
                <a:lnTo>
                  <a:pt x="89974" y="137738"/>
                </a:lnTo>
                <a:cubicBezTo>
                  <a:pt x="89974" y="134683"/>
                  <a:pt x="87474" y="132184"/>
                  <a:pt x="84420" y="132184"/>
                </a:cubicBezTo>
                <a:cubicBezTo>
                  <a:pt x="81365" y="132184"/>
                  <a:pt x="78866" y="134683"/>
                  <a:pt x="78866" y="137738"/>
                </a:cubicBezTo>
                <a:lnTo>
                  <a:pt x="78866" y="139959"/>
                </a:lnTo>
                <a:cubicBezTo>
                  <a:pt x="78866" y="140570"/>
                  <a:pt x="78366" y="141070"/>
                  <a:pt x="77755" y="141070"/>
                </a:cubicBezTo>
                <a:lnTo>
                  <a:pt x="73312" y="141070"/>
                </a:lnTo>
                <a:cubicBezTo>
                  <a:pt x="72701" y="141070"/>
                  <a:pt x="72201" y="140570"/>
                  <a:pt x="72201" y="139959"/>
                </a:cubicBezTo>
                <a:lnTo>
                  <a:pt x="72201" y="117743"/>
                </a:lnTo>
                <a:cubicBezTo>
                  <a:pt x="72201" y="117133"/>
                  <a:pt x="72701" y="116633"/>
                  <a:pt x="73312" y="116633"/>
                </a:cubicBezTo>
                <a:lnTo>
                  <a:pt x="77755" y="116633"/>
                </a:lnTo>
                <a:cubicBezTo>
                  <a:pt x="78366" y="116633"/>
                  <a:pt x="78866" y="117133"/>
                  <a:pt x="78866" y="117743"/>
                </a:cubicBezTo>
                <a:lnTo>
                  <a:pt x="78866" y="119965"/>
                </a:lnTo>
                <a:cubicBezTo>
                  <a:pt x="78866" y="123020"/>
                  <a:pt x="81365" y="125519"/>
                  <a:pt x="84420" y="125519"/>
                </a:cubicBezTo>
                <a:cubicBezTo>
                  <a:pt x="87474" y="125519"/>
                  <a:pt x="89974" y="123020"/>
                  <a:pt x="89974" y="119965"/>
                </a:cubicBezTo>
                <a:lnTo>
                  <a:pt x="89974" y="117743"/>
                </a:lnTo>
                <a:cubicBezTo>
                  <a:pt x="89974" y="110995"/>
                  <a:pt x="84503" y="105525"/>
                  <a:pt x="77755" y="105525"/>
                </a:cubicBezTo>
                <a:lnTo>
                  <a:pt x="73312" y="105525"/>
                </a:lnTo>
                <a:close/>
                <a:moveTo>
                  <a:pt x="111079" y="105525"/>
                </a:moveTo>
                <a:cubicBezTo>
                  <a:pt x="103109" y="105525"/>
                  <a:pt x="96638" y="111995"/>
                  <a:pt x="96638" y="119965"/>
                </a:cubicBezTo>
                <a:cubicBezTo>
                  <a:pt x="96638" y="127935"/>
                  <a:pt x="103109" y="134405"/>
                  <a:pt x="111079" y="134405"/>
                </a:cubicBezTo>
                <a:cubicBezTo>
                  <a:pt x="112912" y="134405"/>
                  <a:pt x="114411" y="135905"/>
                  <a:pt x="114411" y="137738"/>
                </a:cubicBezTo>
                <a:cubicBezTo>
                  <a:pt x="114411" y="139570"/>
                  <a:pt x="112912" y="141070"/>
                  <a:pt x="111079" y="141070"/>
                </a:cubicBezTo>
                <a:lnTo>
                  <a:pt x="102192" y="141070"/>
                </a:lnTo>
                <a:cubicBezTo>
                  <a:pt x="99138" y="141070"/>
                  <a:pt x="96638" y="143569"/>
                  <a:pt x="96638" y="146624"/>
                </a:cubicBezTo>
                <a:cubicBezTo>
                  <a:pt x="96638" y="149679"/>
                  <a:pt x="99138" y="152178"/>
                  <a:pt x="102192" y="152178"/>
                </a:cubicBezTo>
                <a:lnTo>
                  <a:pt x="111079" y="152178"/>
                </a:lnTo>
                <a:cubicBezTo>
                  <a:pt x="119049" y="152178"/>
                  <a:pt x="125519" y="145708"/>
                  <a:pt x="125519" y="137738"/>
                </a:cubicBezTo>
                <a:cubicBezTo>
                  <a:pt x="125519" y="129768"/>
                  <a:pt x="119049" y="123297"/>
                  <a:pt x="111079" y="123297"/>
                </a:cubicBezTo>
                <a:cubicBezTo>
                  <a:pt x="109246" y="123297"/>
                  <a:pt x="107746" y="121798"/>
                  <a:pt x="107746" y="119965"/>
                </a:cubicBezTo>
                <a:cubicBezTo>
                  <a:pt x="107746" y="118132"/>
                  <a:pt x="109246" y="116633"/>
                  <a:pt x="111079" y="116633"/>
                </a:cubicBezTo>
                <a:lnTo>
                  <a:pt x="117743" y="116633"/>
                </a:lnTo>
                <a:cubicBezTo>
                  <a:pt x="120798" y="116633"/>
                  <a:pt x="123297" y="114133"/>
                  <a:pt x="123297" y="111079"/>
                </a:cubicBezTo>
                <a:cubicBezTo>
                  <a:pt x="123297" y="108024"/>
                  <a:pt x="120798" y="105525"/>
                  <a:pt x="117743" y="105525"/>
                </a:cubicBezTo>
                <a:lnTo>
                  <a:pt x="111079" y="105525"/>
                </a:lnTo>
                <a:close/>
                <a:moveTo>
                  <a:pt x="137738" y="105525"/>
                </a:moveTo>
                <a:cubicBezTo>
                  <a:pt x="134683" y="105525"/>
                  <a:pt x="132184" y="108024"/>
                  <a:pt x="132184" y="111079"/>
                </a:cubicBezTo>
                <a:lnTo>
                  <a:pt x="132184" y="119854"/>
                </a:lnTo>
                <a:cubicBezTo>
                  <a:pt x="132184" y="129712"/>
                  <a:pt x="135099" y="139376"/>
                  <a:pt x="140570" y="147568"/>
                </a:cubicBezTo>
                <a:lnTo>
                  <a:pt x="141986" y="149706"/>
                </a:lnTo>
                <a:cubicBezTo>
                  <a:pt x="143014" y="151261"/>
                  <a:pt x="144763" y="152178"/>
                  <a:pt x="146596" y="152178"/>
                </a:cubicBezTo>
                <a:cubicBezTo>
                  <a:pt x="148429" y="152178"/>
                  <a:pt x="150178" y="151261"/>
                  <a:pt x="151206" y="149706"/>
                </a:cubicBezTo>
                <a:lnTo>
                  <a:pt x="152622" y="147568"/>
                </a:lnTo>
                <a:cubicBezTo>
                  <a:pt x="158093" y="139348"/>
                  <a:pt x="161009" y="129712"/>
                  <a:pt x="161009" y="119854"/>
                </a:cubicBezTo>
                <a:lnTo>
                  <a:pt x="161009" y="111079"/>
                </a:lnTo>
                <a:cubicBezTo>
                  <a:pt x="161009" y="108024"/>
                  <a:pt x="158509" y="105525"/>
                  <a:pt x="155455" y="105525"/>
                </a:cubicBezTo>
                <a:cubicBezTo>
                  <a:pt x="152400" y="105525"/>
                  <a:pt x="149901" y="108024"/>
                  <a:pt x="149901" y="111079"/>
                </a:cubicBezTo>
                <a:lnTo>
                  <a:pt x="149901" y="119854"/>
                </a:lnTo>
                <a:cubicBezTo>
                  <a:pt x="149901" y="125297"/>
                  <a:pt x="148762" y="130656"/>
                  <a:pt x="146568" y="135599"/>
                </a:cubicBezTo>
                <a:cubicBezTo>
                  <a:pt x="144375" y="130656"/>
                  <a:pt x="143236" y="125297"/>
                  <a:pt x="143236" y="119854"/>
                </a:cubicBezTo>
                <a:lnTo>
                  <a:pt x="143236" y="111079"/>
                </a:lnTo>
                <a:cubicBezTo>
                  <a:pt x="143236" y="108024"/>
                  <a:pt x="140737" y="105525"/>
                  <a:pt x="137682" y="105525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17" name="Text 15"/>
          <p:cNvSpPr/>
          <p:nvPr/>
        </p:nvSpPr>
        <p:spPr>
          <a:xfrm>
            <a:off x="861971" y="2852501"/>
            <a:ext cx="1119673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Member2_PEEK.csv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8165" y="2870274"/>
            <a:ext cx="488746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rows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6519" y="3207953"/>
            <a:ext cx="5367324" cy="390997"/>
          </a:xfrm>
          <a:custGeom>
            <a:avLst/>
            <a:gdLst/>
            <a:ahLst/>
            <a:cxnLst/>
            <a:rect l="l" t="t" r="r" b="b"/>
            <a:pathLst>
              <a:path w="5367324" h="390997">
                <a:moveTo>
                  <a:pt x="71091" y="0"/>
                </a:moveTo>
                <a:lnTo>
                  <a:pt x="5296233" y="0"/>
                </a:lnTo>
                <a:cubicBezTo>
                  <a:pt x="5335495" y="0"/>
                  <a:pt x="5367324" y="31829"/>
                  <a:pt x="5367324" y="71091"/>
                </a:cubicBezTo>
                <a:lnTo>
                  <a:pt x="5367324" y="319906"/>
                </a:lnTo>
                <a:cubicBezTo>
                  <a:pt x="5367324" y="359169"/>
                  <a:pt x="5335495" y="390997"/>
                  <a:pt x="5296233" y="390997"/>
                </a:cubicBezTo>
                <a:lnTo>
                  <a:pt x="71091" y="390997"/>
                </a:lnTo>
                <a:cubicBezTo>
                  <a:pt x="31829" y="390997"/>
                  <a:pt x="0" y="359169"/>
                  <a:pt x="0" y="319906"/>
                </a:cubicBezTo>
                <a:lnTo>
                  <a:pt x="0" y="71091"/>
                </a:lnTo>
                <a:cubicBezTo>
                  <a:pt x="0" y="31829"/>
                  <a:pt x="31829" y="0"/>
                  <a:pt x="7109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622041" y="3332362"/>
            <a:ext cx="159953" cy="142181"/>
          </a:xfrm>
          <a:custGeom>
            <a:avLst/>
            <a:gdLst/>
            <a:ahLst/>
            <a:cxnLst/>
            <a:rect l="l" t="t" r="r" b="b"/>
            <a:pathLst>
              <a:path w="159953" h="142181">
                <a:moveTo>
                  <a:pt x="26659" y="0"/>
                </a:moveTo>
                <a:cubicBezTo>
                  <a:pt x="16856" y="0"/>
                  <a:pt x="8886" y="7970"/>
                  <a:pt x="8886" y="17773"/>
                </a:cubicBezTo>
                <a:lnTo>
                  <a:pt x="8886" y="124408"/>
                </a:lnTo>
                <a:cubicBezTo>
                  <a:pt x="8886" y="134211"/>
                  <a:pt x="16856" y="142181"/>
                  <a:pt x="26659" y="142181"/>
                </a:cubicBezTo>
                <a:lnTo>
                  <a:pt x="48875" y="142181"/>
                </a:lnTo>
                <a:lnTo>
                  <a:pt x="48875" y="111079"/>
                </a:lnTo>
                <a:cubicBezTo>
                  <a:pt x="48875" y="101276"/>
                  <a:pt x="56845" y="93306"/>
                  <a:pt x="66647" y="93306"/>
                </a:cubicBezTo>
                <a:lnTo>
                  <a:pt x="115522" y="93306"/>
                </a:lnTo>
                <a:lnTo>
                  <a:pt x="115522" y="47347"/>
                </a:lnTo>
                <a:cubicBezTo>
                  <a:pt x="115522" y="42626"/>
                  <a:pt x="113661" y="38100"/>
                  <a:pt x="110329" y="34768"/>
                </a:cubicBezTo>
                <a:lnTo>
                  <a:pt x="80726" y="5193"/>
                </a:lnTo>
                <a:cubicBezTo>
                  <a:pt x="77394" y="1861"/>
                  <a:pt x="72895" y="0"/>
                  <a:pt x="68175" y="0"/>
                </a:cubicBezTo>
                <a:lnTo>
                  <a:pt x="26659" y="0"/>
                </a:lnTo>
                <a:close/>
                <a:moveTo>
                  <a:pt x="99277" y="48875"/>
                </a:moveTo>
                <a:lnTo>
                  <a:pt x="73312" y="48875"/>
                </a:lnTo>
                <a:cubicBezTo>
                  <a:pt x="69619" y="48875"/>
                  <a:pt x="66647" y="45903"/>
                  <a:pt x="66647" y="42210"/>
                </a:cubicBezTo>
                <a:lnTo>
                  <a:pt x="66647" y="16245"/>
                </a:lnTo>
                <a:lnTo>
                  <a:pt x="99277" y="48875"/>
                </a:lnTo>
                <a:close/>
                <a:moveTo>
                  <a:pt x="73312" y="105525"/>
                </a:moveTo>
                <a:cubicBezTo>
                  <a:pt x="66564" y="105525"/>
                  <a:pt x="61093" y="110995"/>
                  <a:pt x="61093" y="117743"/>
                </a:cubicBezTo>
                <a:lnTo>
                  <a:pt x="61093" y="139959"/>
                </a:lnTo>
                <a:cubicBezTo>
                  <a:pt x="61093" y="146707"/>
                  <a:pt x="66564" y="152178"/>
                  <a:pt x="73312" y="152178"/>
                </a:cubicBezTo>
                <a:lnTo>
                  <a:pt x="77755" y="152178"/>
                </a:lnTo>
                <a:cubicBezTo>
                  <a:pt x="84503" y="152178"/>
                  <a:pt x="89974" y="146707"/>
                  <a:pt x="89974" y="139959"/>
                </a:cubicBezTo>
                <a:lnTo>
                  <a:pt x="89974" y="137738"/>
                </a:lnTo>
                <a:cubicBezTo>
                  <a:pt x="89974" y="134683"/>
                  <a:pt x="87474" y="132184"/>
                  <a:pt x="84420" y="132184"/>
                </a:cubicBezTo>
                <a:cubicBezTo>
                  <a:pt x="81365" y="132184"/>
                  <a:pt x="78866" y="134683"/>
                  <a:pt x="78866" y="137738"/>
                </a:cubicBezTo>
                <a:lnTo>
                  <a:pt x="78866" y="139959"/>
                </a:lnTo>
                <a:cubicBezTo>
                  <a:pt x="78866" y="140570"/>
                  <a:pt x="78366" y="141070"/>
                  <a:pt x="77755" y="141070"/>
                </a:cubicBezTo>
                <a:lnTo>
                  <a:pt x="73312" y="141070"/>
                </a:lnTo>
                <a:cubicBezTo>
                  <a:pt x="72701" y="141070"/>
                  <a:pt x="72201" y="140570"/>
                  <a:pt x="72201" y="139959"/>
                </a:cubicBezTo>
                <a:lnTo>
                  <a:pt x="72201" y="117743"/>
                </a:lnTo>
                <a:cubicBezTo>
                  <a:pt x="72201" y="117133"/>
                  <a:pt x="72701" y="116633"/>
                  <a:pt x="73312" y="116633"/>
                </a:cubicBezTo>
                <a:lnTo>
                  <a:pt x="77755" y="116633"/>
                </a:lnTo>
                <a:cubicBezTo>
                  <a:pt x="78366" y="116633"/>
                  <a:pt x="78866" y="117133"/>
                  <a:pt x="78866" y="117743"/>
                </a:cubicBezTo>
                <a:lnTo>
                  <a:pt x="78866" y="119965"/>
                </a:lnTo>
                <a:cubicBezTo>
                  <a:pt x="78866" y="123020"/>
                  <a:pt x="81365" y="125519"/>
                  <a:pt x="84420" y="125519"/>
                </a:cubicBezTo>
                <a:cubicBezTo>
                  <a:pt x="87474" y="125519"/>
                  <a:pt x="89974" y="123020"/>
                  <a:pt x="89974" y="119965"/>
                </a:cubicBezTo>
                <a:lnTo>
                  <a:pt x="89974" y="117743"/>
                </a:lnTo>
                <a:cubicBezTo>
                  <a:pt x="89974" y="110995"/>
                  <a:pt x="84503" y="105525"/>
                  <a:pt x="77755" y="105525"/>
                </a:cubicBezTo>
                <a:lnTo>
                  <a:pt x="73312" y="105525"/>
                </a:lnTo>
                <a:close/>
                <a:moveTo>
                  <a:pt x="111079" y="105525"/>
                </a:moveTo>
                <a:cubicBezTo>
                  <a:pt x="103109" y="105525"/>
                  <a:pt x="96638" y="111995"/>
                  <a:pt x="96638" y="119965"/>
                </a:cubicBezTo>
                <a:cubicBezTo>
                  <a:pt x="96638" y="127935"/>
                  <a:pt x="103109" y="134405"/>
                  <a:pt x="111079" y="134405"/>
                </a:cubicBezTo>
                <a:cubicBezTo>
                  <a:pt x="112912" y="134405"/>
                  <a:pt x="114411" y="135905"/>
                  <a:pt x="114411" y="137738"/>
                </a:cubicBezTo>
                <a:cubicBezTo>
                  <a:pt x="114411" y="139570"/>
                  <a:pt x="112912" y="141070"/>
                  <a:pt x="111079" y="141070"/>
                </a:cubicBezTo>
                <a:lnTo>
                  <a:pt x="102192" y="141070"/>
                </a:lnTo>
                <a:cubicBezTo>
                  <a:pt x="99138" y="141070"/>
                  <a:pt x="96638" y="143569"/>
                  <a:pt x="96638" y="146624"/>
                </a:cubicBezTo>
                <a:cubicBezTo>
                  <a:pt x="96638" y="149679"/>
                  <a:pt x="99138" y="152178"/>
                  <a:pt x="102192" y="152178"/>
                </a:cubicBezTo>
                <a:lnTo>
                  <a:pt x="111079" y="152178"/>
                </a:lnTo>
                <a:cubicBezTo>
                  <a:pt x="119049" y="152178"/>
                  <a:pt x="125519" y="145708"/>
                  <a:pt x="125519" y="137738"/>
                </a:cubicBezTo>
                <a:cubicBezTo>
                  <a:pt x="125519" y="129768"/>
                  <a:pt x="119049" y="123297"/>
                  <a:pt x="111079" y="123297"/>
                </a:cubicBezTo>
                <a:cubicBezTo>
                  <a:pt x="109246" y="123297"/>
                  <a:pt x="107746" y="121798"/>
                  <a:pt x="107746" y="119965"/>
                </a:cubicBezTo>
                <a:cubicBezTo>
                  <a:pt x="107746" y="118132"/>
                  <a:pt x="109246" y="116633"/>
                  <a:pt x="111079" y="116633"/>
                </a:cubicBezTo>
                <a:lnTo>
                  <a:pt x="117743" y="116633"/>
                </a:lnTo>
                <a:cubicBezTo>
                  <a:pt x="120798" y="116633"/>
                  <a:pt x="123297" y="114133"/>
                  <a:pt x="123297" y="111079"/>
                </a:cubicBezTo>
                <a:cubicBezTo>
                  <a:pt x="123297" y="108024"/>
                  <a:pt x="120798" y="105525"/>
                  <a:pt x="117743" y="105525"/>
                </a:cubicBezTo>
                <a:lnTo>
                  <a:pt x="111079" y="105525"/>
                </a:lnTo>
                <a:close/>
                <a:moveTo>
                  <a:pt x="137738" y="105525"/>
                </a:moveTo>
                <a:cubicBezTo>
                  <a:pt x="134683" y="105525"/>
                  <a:pt x="132184" y="108024"/>
                  <a:pt x="132184" y="111079"/>
                </a:cubicBezTo>
                <a:lnTo>
                  <a:pt x="132184" y="119854"/>
                </a:lnTo>
                <a:cubicBezTo>
                  <a:pt x="132184" y="129712"/>
                  <a:pt x="135099" y="139376"/>
                  <a:pt x="140570" y="147568"/>
                </a:cubicBezTo>
                <a:lnTo>
                  <a:pt x="141986" y="149706"/>
                </a:lnTo>
                <a:cubicBezTo>
                  <a:pt x="143014" y="151261"/>
                  <a:pt x="144763" y="152178"/>
                  <a:pt x="146596" y="152178"/>
                </a:cubicBezTo>
                <a:cubicBezTo>
                  <a:pt x="148429" y="152178"/>
                  <a:pt x="150178" y="151261"/>
                  <a:pt x="151206" y="149706"/>
                </a:cubicBezTo>
                <a:lnTo>
                  <a:pt x="152622" y="147568"/>
                </a:lnTo>
                <a:cubicBezTo>
                  <a:pt x="158093" y="139348"/>
                  <a:pt x="161009" y="129712"/>
                  <a:pt x="161009" y="119854"/>
                </a:cubicBezTo>
                <a:lnTo>
                  <a:pt x="161009" y="111079"/>
                </a:lnTo>
                <a:cubicBezTo>
                  <a:pt x="161009" y="108024"/>
                  <a:pt x="158509" y="105525"/>
                  <a:pt x="155455" y="105525"/>
                </a:cubicBezTo>
                <a:cubicBezTo>
                  <a:pt x="152400" y="105525"/>
                  <a:pt x="149901" y="108024"/>
                  <a:pt x="149901" y="111079"/>
                </a:cubicBezTo>
                <a:lnTo>
                  <a:pt x="149901" y="119854"/>
                </a:lnTo>
                <a:cubicBezTo>
                  <a:pt x="149901" y="125297"/>
                  <a:pt x="148762" y="130656"/>
                  <a:pt x="146568" y="135599"/>
                </a:cubicBezTo>
                <a:cubicBezTo>
                  <a:pt x="144375" y="130656"/>
                  <a:pt x="143236" y="125297"/>
                  <a:pt x="143236" y="119854"/>
                </a:cubicBezTo>
                <a:lnTo>
                  <a:pt x="143236" y="111079"/>
                </a:lnTo>
                <a:cubicBezTo>
                  <a:pt x="143236" y="108024"/>
                  <a:pt x="140737" y="105525"/>
                  <a:pt x="137682" y="105525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21" name="Text 19"/>
          <p:cNvSpPr/>
          <p:nvPr/>
        </p:nvSpPr>
        <p:spPr>
          <a:xfrm>
            <a:off x="861971" y="3314589"/>
            <a:ext cx="1110787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Member3_PTFE.csv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8165" y="3332362"/>
            <a:ext cx="488746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rows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3477" y="1070799"/>
            <a:ext cx="5660571" cy="2674776"/>
          </a:xfrm>
          <a:custGeom>
            <a:avLst/>
            <a:gdLst/>
            <a:ahLst/>
            <a:cxnLst/>
            <a:rect l="l" t="t" r="r" b="b"/>
            <a:pathLst>
              <a:path w="5660571" h="2674776">
                <a:moveTo>
                  <a:pt x="106643" y="0"/>
                </a:moveTo>
                <a:lnTo>
                  <a:pt x="5553928" y="0"/>
                </a:lnTo>
                <a:cubicBezTo>
                  <a:pt x="5612826" y="0"/>
                  <a:pt x="5660571" y="47746"/>
                  <a:pt x="5660571" y="106643"/>
                </a:cubicBezTo>
                <a:lnTo>
                  <a:pt x="5660571" y="2568132"/>
                </a:lnTo>
                <a:cubicBezTo>
                  <a:pt x="5660571" y="2627030"/>
                  <a:pt x="5612826" y="2674776"/>
                  <a:pt x="5553928" y="2674776"/>
                </a:cubicBezTo>
                <a:lnTo>
                  <a:pt x="106643" y="2674776"/>
                </a:lnTo>
                <a:cubicBezTo>
                  <a:pt x="47746" y="2674776"/>
                  <a:pt x="0" y="2627030"/>
                  <a:pt x="0" y="2568132"/>
                </a:cubicBezTo>
                <a:lnTo>
                  <a:pt x="0" y="106643"/>
                </a:lnTo>
                <a:cubicBezTo>
                  <a:pt x="0" y="47785"/>
                  <a:pt x="47785" y="0"/>
                  <a:pt x="10664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0101" y="1217423"/>
            <a:ext cx="426542" cy="426542"/>
          </a:xfrm>
          <a:custGeom>
            <a:avLst/>
            <a:gdLst/>
            <a:ahLst/>
            <a:cxnLst/>
            <a:rect l="l" t="t" r="r" b="b"/>
            <a:pathLst>
              <a:path w="426542" h="426542">
                <a:moveTo>
                  <a:pt x="106636" y="0"/>
                </a:moveTo>
                <a:lnTo>
                  <a:pt x="319907" y="0"/>
                </a:lnTo>
                <a:cubicBezTo>
                  <a:pt x="378760" y="0"/>
                  <a:pt x="426542" y="47782"/>
                  <a:pt x="426542" y="106636"/>
                </a:cubicBezTo>
                <a:lnTo>
                  <a:pt x="426542" y="319907"/>
                </a:lnTo>
                <a:cubicBezTo>
                  <a:pt x="426542" y="378760"/>
                  <a:pt x="378760" y="426542"/>
                  <a:pt x="319907" y="426542"/>
                </a:cubicBezTo>
                <a:lnTo>
                  <a:pt x="106636" y="426542"/>
                </a:lnTo>
                <a:cubicBezTo>
                  <a:pt x="47782" y="426542"/>
                  <a:pt x="0" y="378760"/>
                  <a:pt x="0" y="319907"/>
                </a:cubicBezTo>
                <a:lnTo>
                  <a:pt x="0" y="106636"/>
                </a:lnTo>
                <a:cubicBezTo>
                  <a:pt x="0" y="47782"/>
                  <a:pt x="47782" y="0"/>
                  <a:pt x="106636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444509" y="1341831"/>
            <a:ext cx="177726" cy="177726"/>
          </a:xfrm>
          <a:custGeom>
            <a:avLst/>
            <a:gdLst/>
            <a:ahLst/>
            <a:cxnLst/>
            <a:rect l="l" t="t" r="r" b="b"/>
            <a:pathLst>
              <a:path w="177726" h="177726">
                <a:moveTo>
                  <a:pt x="22216" y="22216"/>
                </a:moveTo>
                <a:cubicBezTo>
                  <a:pt x="22216" y="16072"/>
                  <a:pt x="17252" y="11108"/>
                  <a:pt x="11108" y="11108"/>
                </a:cubicBezTo>
                <a:cubicBezTo>
                  <a:pt x="4964" y="11108"/>
                  <a:pt x="0" y="16072"/>
                  <a:pt x="0" y="22216"/>
                </a:cubicBezTo>
                <a:lnTo>
                  <a:pt x="0" y="138848"/>
                </a:lnTo>
                <a:cubicBezTo>
                  <a:pt x="0" y="154191"/>
                  <a:pt x="12427" y="166618"/>
                  <a:pt x="27770" y="166618"/>
                </a:cubicBezTo>
                <a:lnTo>
                  <a:pt x="166618" y="166618"/>
                </a:lnTo>
                <a:cubicBezTo>
                  <a:pt x="172762" y="166618"/>
                  <a:pt x="177726" y="161654"/>
                  <a:pt x="177726" y="155510"/>
                </a:cubicBezTo>
                <a:cubicBezTo>
                  <a:pt x="177726" y="149366"/>
                  <a:pt x="172762" y="144402"/>
                  <a:pt x="166618" y="144402"/>
                </a:cubicBezTo>
                <a:lnTo>
                  <a:pt x="27770" y="144402"/>
                </a:lnTo>
                <a:cubicBezTo>
                  <a:pt x="24715" y="144402"/>
                  <a:pt x="22216" y="141903"/>
                  <a:pt x="22216" y="138848"/>
                </a:cubicBezTo>
                <a:lnTo>
                  <a:pt x="22216" y="22216"/>
                </a:lnTo>
                <a:close/>
                <a:moveTo>
                  <a:pt x="163355" y="52276"/>
                </a:moveTo>
                <a:cubicBezTo>
                  <a:pt x="167694" y="47937"/>
                  <a:pt x="167694" y="40891"/>
                  <a:pt x="163355" y="36552"/>
                </a:cubicBezTo>
                <a:cubicBezTo>
                  <a:pt x="159016" y="32213"/>
                  <a:pt x="151970" y="32213"/>
                  <a:pt x="147631" y="36552"/>
                </a:cubicBezTo>
                <a:lnTo>
                  <a:pt x="111079" y="73138"/>
                </a:lnTo>
                <a:lnTo>
                  <a:pt x="91154" y="53248"/>
                </a:lnTo>
                <a:cubicBezTo>
                  <a:pt x="86815" y="48909"/>
                  <a:pt x="79768" y="48909"/>
                  <a:pt x="75429" y="53248"/>
                </a:cubicBezTo>
                <a:lnTo>
                  <a:pt x="42106" y="86572"/>
                </a:lnTo>
                <a:cubicBezTo>
                  <a:pt x="37767" y="90911"/>
                  <a:pt x="37767" y="97958"/>
                  <a:pt x="42106" y="102297"/>
                </a:cubicBezTo>
                <a:cubicBezTo>
                  <a:pt x="46445" y="106636"/>
                  <a:pt x="53491" y="106636"/>
                  <a:pt x="57830" y="102297"/>
                </a:cubicBezTo>
                <a:lnTo>
                  <a:pt x="83309" y="76818"/>
                </a:lnTo>
                <a:lnTo>
                  <a:pt x="103234" y="96743"/>
                </a:lnTo>
                <a:cubicBezTo>
                  <a:pt x="107573" y="101082"/>
                  <a:pt x="114619" y="101082"/>
                  <a:pt x="118958" y="96743"/>
                </a:cubicBezTo>
                <a:lnTo>
                  <a:pt x="163390" y="52311"/>
                </a:lnTo>
                <a:close/>
              </a:path>
            </a:pathLst>
          </a:custGeom>
          <a:solidFill>
            <a:srgbClr val="00D9C0"/>
          </a:solidFill>
        </p:spPr>
      </p:sp>
      <p:sp>
        <p:nvSpPr>
          <p:cNvPr id="26" name="Text 24"/>
          <p:cNvSpPr/>
          <p:nvPr/>
        </p:nvSpPr>
        <p:spPr>
          <a:xfrm>
            <a:off x="6853279" y="1306286"/>
            <a:ext cx="1492898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0101" y="1750601"/>
            <a:ext cx="5438414" cy="4265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pipeline confidence score on a </a:t>
            </a:r>
            <a:r>
              <a:rPr lang="en-US" sz="1120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 scale </a:t>
            </a:r>
            <a:r>
              <a:rPr lang="en-US" sz="112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four weighted components.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0101" y="2283778"/>
            <a:ext cx="5367324" cy="817539"/>
          </a:xfrm>
          <a:custGeom>
            <a:avLst/>
            <a:gdLst/>
            <a:ahLst/>
            <a:cxnLst/>
            <a:rect l="l" t="t" r="r" b="b"/>
            <a:pathLst>
              <a:path w="5367324" h="817539">
                <a:moveTo>
                  <a:pt x="71093" y="0"/>
                </a:moveTo>
                <a:lnTo>
                  <a:pt x="5296230" y="0"/>
                </a:lnTo>
                <a:cubicBezTo>
                  <a:pt x="5335494" y="0"/>
                  <a:pt x="5367324" y="31830"/>
                  <a:pt x="5367324" y="71093"/>
                </a:cubicBezTo>
                <a:lnTo>
                  <a:pt x="5367324" y="746446"/>
                </a:lnTo>
                <a:cubicBezTo>
                  <a:pt x="5367324" y="785710"/>
                  <a:pt x="5335494" y="817539"/>
                  <a:pt x="5296230" y="817539"/>
                </a:cubicBezTo>
                <a:lnTo>
                  <a:pt x="71093" y="817539"/>
                </a:lnTo>
                <a:cubicBezTo>
                  <a:pt x="31830" y="817539"/>
                  <a:pt x="0" y="785710"/>
                  <a:pt x="0" y="746446"/>
                </a:cubicBezTo>
                <a:lnTo>
                  <a:pt x="0" y="71093"/>
                </a:lnTo>
                <a:cubicBezTo>
                  <a:pt x="0" y="31856"/>
                  <a:pt x="31856" y="0"/>
                  <a:pt x="71093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395635" y="2390414"/>
            <a:ext cx="5216257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 Scale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4661" y="2603685"/>
            <a:ext cx="364338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≥75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2434" y="2852501"/>
            <a:ext cx="328793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21345" y="2603685"/>
            <a:ext cx="559837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50-74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39118" y="2852501"/>
            <a:ext cx="524292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32417" y="2603685"/>
            <a:ext cx="373224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50190" y="2852501"/>
            <a:ext cx="337679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9895" y="3861096"/>
            <a:ext cx="11472210" cy="2639230"/>
          </a:xfrm>
          <a:custGeom>
            <a:avLst/>
            <a:gdLst/>
            <a:ahLst/>
            <a:cxnLst/>
            <a:rect l="l" t="t" r="r" b="b"/>
            <a:pathLst>
              <a:path w="11472210" h="2639230">
                <a:moveTo>
                  <a:pt x="106625" y="0"/>
                </a:moveTo>
                <a:lnTo>
                  <a:pt x="11365585" y="0"/>
                </a:lnTo>
                <a:cubicBezTo>
                  <a:pt x="11424472" y="0"/>
                  <a:pt x="11472210" y="47738"/>
                  <a:pt x="11472210" y="106625"/>
                </a:cubicBezTo>
                <a:lnTo>
                  <a:pt x="11472210" y="2532605"/>
                </a:lnTo>
                <a:cubicBezTo>
                  <a:pt x="11472210" y="2591493"/>
                  <a:pt x="11424472" y="2639230"/>
                  <a:pt x="11365585" y="2639230"/>
                </a:cubicBezTo>
                <a:lnTo>
                  <a:pt x="106625" y="2639230"/>
                </a:lnTo>
                <a:cubicBezTo>
                  <a:pt x="47738" y="2639230"/>
                  <a:pt x="0" y="2591493"/>
                  <a:pt x="0" y="2532605"/>
                </a:cubicBezTo>
                <a:lnTo>
                  <a:pt x="0" y="106625"/>
                </a:lnTo>
                <a:cubicBezTo>
                  <a:pt x="0" y="47777"/>
                  <a:pt x="47777" y="0"/>
                  <a:pt x="106625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D9C0">
                  <a:alpha val="10000"/>
                </a:srgbClr>
              </a:gs>
            </a:gsLst>
            <a:lin ang="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6519" y="4043265"/>
            <a:ext cx="222157" cy="177726"/>
          </a:xfrm>
          <a:custGeom>
            <a:avLst/>
            <a:gdLst/>
            <a:ahLst/>
            <a:cxnLst/>
            <a:rect l="l" t="t" r="r" b="b"/>
            <a:pathLst>
              <a:path w="222157" h="177726">
                <a:moveTo>
                  <a:pt x="133294" y="11108"/>
                </a:moveTo>
                <a:lnTo>
                  <a:pt x="177726" y="11108"/>
                </a:lnTo>
                <a:cubicBezTo>
                  <a:pt x="183870" y="11108"/>
                  <a:pt x="188834" y="16072"/>
                  <a:pt x="188834" y="22216"/>
                </a:cubicBezTo>
                <a:cubicBezTo>
                  <a:pt x="188834" y="28360"/>
                  <a:pt x="183870" y="33324"/>
                  <a:pt x="177726" y="33324"/>
                </a:cubicBezTo>
                <a:lnTo>
                  <a:pt x="138293" y="33324"/>
                </a:lnTo>
                <a:cubicBezTo>
                  <a:pt x="136488" y="42279"/>
                  <a:pt x="130344" y="49673"/>
                  <a:pt x="122187" y="53214"/>
                </a:cubicBezTo>
                <a:lnTo>
                  <a:pt x="122187" y="155510"/>
                </a:lnTo>
                <a:lnTo>
                  <a:pt x="177726" y="155510"/>
                </a:lnTo>
                <a:cubicBezTo>
                  <a:pt x="183870" y="155510"/>
                  <a:pt x="188834" y="160474"/>
                  <a:pt x="188834" y="166618"/>
                </a:cubicBezTo>
                <a:cubicBezTo>
                  <a:pt x="188834" y="172762"/>
                  <a:pt x="183870" y="177726"/>
                  <a:pt x="177726" y="177726"/>
                </a:cubicBezTo>
                <a:lnTo>
                  <a:pt x="44431" y="177726"/>
                </a:lnTo>
                <a:cubicBezTo>
                  <a:pt x="38287" y="177726"/>
                  <a:pt x="33324" y="172762"/>
                  <a:pt x="33324" y="166618"/>
                </a:cubicBezTo>
                <a:cubicBezTo>
                  <a:pt x="33324" y="160474"/>
                  <a:pt x="38287" y="155510"/>
                  <a:pt x="44431" y="155510"/>
                </a:cubicBezTo>
                <a:lnTo>
                  <a:pt x="99971" y="155510"/>
                </a:lnTo>
                <a:lnTo>
                  <a:pt x="99971" y="53214"/>
                </a:lnTo>
                <a:cubicBezTo>
                  <a:pt x="91814" y="49638"/>
                  <a:pt x="85669" y="42245"/>
                  <a:pt x="83864" y="33324"/>
                </a:cubicBezTo>
                <a:lnTo>
                  <a:pt x="44431" y="33324"/>
                </a:lnTo>
                <a:cubicBezTo>
                  <a:pt x="38287" y="33324"/>
                  <a:pt x="33324" y="28360"/>
                  <a:pt x="33324" y="22216"/>
                </a:cubicBezTo>
                <a:cubicBezTo>
                  <a:pt x="33324" y="16072"/>
                  <a:pt x="38287" y="11108"/>
                  <a:pt x="44431" y="11108"/>
                </a:cubicBezTo>
                <a:lnTo>
                  <a:pt x="88863" y="11108"/>
                </a:lnTo>
                <a:cubicBezTo>
                  <a:pt x="93931" y="4374"/>
                  <a:pt x="101984" y="0"/>
                  <a:pt x="111079" y="0"/>
                </a:cubicBezTo>
                <a:cubicBezTo>
                  <a:pt x="120173" y="0"/>
                  <a:pt x="128226" y="4374"/>
                  <a:pt x="133294" y="11108"/>
                </a:cubicBezTo>
                <a:close/>
                <a:moveTo>
                  <a:pt x="152594" y="111079"/>
                </a:moveTo>
                <a:lnTo>
                  <a:pt x="202858" y="111079"/>
                </a:lnTo>
                <a:lnTo>
                  <a:pt x="177726" y="67966"/>
                </a:lnTo>
                <a:lnTo>
                  <a:pt x="152594" y="111079"/>
                </a:lnTo>
                <a:close/>
                <a:moveTo>
                  <a:pt x="177726" y="144402"/>
                </a:moveTo>
                <a:cubicBezTo>
                  <a:pt x="155892" y="144402"/>
                  <a:pt x="137738" y="132600"/>
                  <a:pt x="133989" y="117014"/>
                </a:cubicBezTo>
                <a:cubicBezTo>
                  <a:pt x="133086" y="113196"/>
                  <a:pt x="134336" y="109274"/>
                  <a:pt x="136314" y="105872"/>
                </a:cubicBezTo>
                <a:lnTo>
                  <a:pt x="169360" y="49222"/>
                </a:lnTo>
                <a:cubicBezTo>
                  <a:pt x="171096" y="46237"/>
                  <a:pt x="174289" y="44431"/>
                  <a:pt x="177726" y="44431"/>
                </a:cubicBezTo>
                <a:cubicBezTo>
                  <a:pt x="181162" y="44431"/>
                  <a:pt x="184356" y="46271"/>
                  <a:pt x="186092" y="49222"/>
                </a:cubicBezTo>
                <a:lnTo>
                  <a:pt x="219137" y="105872"/>
                </a:lnTo>
                <a:cubicBezTo>
                  <a:pt x="221116" y="109274"/>
                  <a:pt x="222366" y="113196"/>
                  <a:pt x="221463" y="117014"/>
                </a:cubicBezTo>
                <a:cubicBezTo>
                  <a:pt x="217714" y="132566"/>
                  <a:pt x="199560" y="144402"/>
                  <a:pt x="177726" y="144402"/>
                </a:cubicBezTo>
                <a:close/>
                <a:moveTo>
                  <a:pt x="44015" y="67966"/>
                </a:moveTo>
                <a:lnTo>
                  <a:pt x="18883" y="111079"/>
                </a:lnTo>
                <a:lnTo>
                  <a:pt x="69181" y="111079"/>
                </a:lnTo>
                <a:lnTo>
                  <a:pt x="44015" y="67966"/>
                </a:lnTo>
                <a:close/>
                <a:moveTo>
                  <a:pt x="312" y="117014"/>
                </a:moveTo>
                <a:cubicBezTo>
                  <a:pt x="-590" y="113196"/>
                  <a:pt x="660" y="109274"/>
                  <a:pt x="2638" y="105872"/>
                </a:cubicBezTo>
                <a:lnTo>
                  <a:pt x="35684" y="49222"/>
                </a:lnTo>
                <a:cubicBezTo>
                  <a:pt x="37420" y="46237"/>
                  <a:pt x="40613" y="44431"/>
                  <a:pt x="44050" y="44431"/>
                </a:cubicBezTo>
                <a:cubicBezTo>
                  <a:pt x="47486" y="44431"/>
                  <a:pt x="50680" y="46271"/>
                  <a:pt x="52415" y="49222"/>
                </a:cubicBezTo>
                <a:lnTo>
                  <a:pt x="85461" y="105872"/>
                </a:lnTo>
                <a:cubicBezTo>
                  <a:pt x="87440" y="109274"/>
                  <a:pt x="88689" y="113196"/>
                  <a:pt x="87787" y="117014"/>
                </a:cubicBezTo>
                <a:cubicBezTo>
                  <a:pt x="84038" y="132566"/>
                  <a:pt x="65884" y="144402"/>
                  <a:pt x="44050" y="144402"/>
                </a:cubicBezTo>
                <a:cubicBezTo>
                  <a:pt x="22216" y="144402"/>
                  <a:pt x="4061" y="132600"/>
                  <a:pt x="312" y="117014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38" name="Text 36"/>
          <p:cNvSpPr/>
          <p:nvPr/>
        </p:nvSpPr>
        <p:spPr>
          <a:xfrm>
            <a:off x="728676" y="4007720"/>
            <a:ext cx="11045668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Weighted Components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4292" y="4398717"/>
            <a:ext cx="5518391" cy="924175"/>
          </a:xfrm>
          <a:custGeom>
            <a:avLst/>
            <a:gdLst/>
            <a:ahLst/>
            <a:cxnLst/>
            <a:rect l="l" t="t" r="r" b="b"/>
            <a:pathLst>
              <a:path w="5518391" h="924175">
                <a:moveTo>
                  <a:pt x="35545" y="0"/>
                </a:moveTo>
                <a:lnTo>
                  <a:pt x="5447303" y="0"/>
                </a:lnTo>
                <a:cubicBezTo>
                  <a:pt x="5486564" y="0"/>
                  <a:pt x="5518391" y="31827"/>
                  <a:pt x="5518391" y="71088"/>
                </a:cubicBezTo>
                <a:lnTo>
                  <a:pt x="5518391" y="853087"/>
                </a:lnTo>
                <a:cubicBezTo>
                  <a:pt x="5518391" y="892348"/>
                  <a:pt x="5486564" y="924175"/>
                  <a:pt x="5447303" y="924175"/>
                </a:cubicBez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524292" y="4398717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45" y="0"/>
                </a:moveTo>
                <a:lnTo>
                  <a:pt x="35545" y="0"/>
                </a:lnTo>
                <a:lnTo>
                  <a:pt x="35545" y="924175"/>
                </a:ln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41" name="Text 39"/>
          <p:cNvSpPr/>
          <p:nvPr/>
        </p:nvSpPr>
        <p:spPr>
          <a:xfrm>
            <a:off x="648700" y="4523125"/>
            <a:ext cx="1057469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Validity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65489" y="4505353"/>
            <a:ext cx="559837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33.3%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8700" y="4825259"/>
            <a:ext cx="5349551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morphological limits make physical sense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8694" y="5091848"/>
            <a:ext cx="93306" cy="106636"/>
          </a:xfrm>
          <a:custGeom>
            <a:avLst/>
            <a:gdLst/>
            <a:ahLst/>
            <a:cxnLst/>
            <a:rect l="l" t="t" r="r" b="b"/>
            <a:pathLst>
              <a:path w="93306" h="106636">
                <a:moveTo>
                  <a:pt x="90557" y="14600"/>
                </a:moveTo>
                <a:cubicBezTo>
                  <a:pt x="93535" y="16766"/>
                  <a:pt x="94202" y="20931"/>
                  <a:pt x="92036" y="23910"/>
                </a:cubicBezTo>
                <a:lnTo>
                  <a:pt x="38718" y="97222"/>
                </a:lnTo>
                <a:cubicBezTo>
                  <a:pt x="37572" y="98805"/>
                  <a:pt x="35802" y="99783"/>
                  <a:pt x="33844" y="99950"/>
                </a:cubicBezTo>
                <a:cubicBezTo>
                  <a:pt x="31887" y="100117"/>
                  <a:pt x="29991" y="99388"/>
                  <a:pt x="28617" y="98013"/>
                </a:cubicBezTo>
                <a:lnTo>
                  <a:pt x="1958" y="71354"/>
                </a:lnTo>
                <a:cubicBezTo>
                  <a:pt x="-646" y="68751"/>
                  <a:pt x="-646" y="64523"/>
                  <a:pt x="1958" y="61919"/>
                </a:cubicBezTo>
                <a:cubicBezTo>
                  <a:pt x="4561" y="59316"/>
                  <a:pt x="8789" y="59316"/>
                  <a:pt x="11393" y="61919"/>
                </a:cubicBezTo>
                <a:lnTo>
                  <a:pt x="32532" y="83059"/>
                </a:lnTo>
                <a:lnTo>
                  <a:pt x="81268" y="16058"/>
                </a:lnTo>
                <a:cubicBezTo>
                  <a:pt x="83434" y="13080"/>
                  <a:pt x="87599" y="12413"/>
                  <a:pt x="90578" y="14579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45" name="Text 43"/>
          <p:cNvSpPr/>
          <p:nvPr/>
        </p:nvSpPr>
        <p:spPr>
          <a:xfrm>
            <a:off x="853085" y="5074076"/>
            <a:ext cx="1288513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≥10/12 checks valid = HIGH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9034" y="4398717"/>
            <a:ext cx="5518391" cy="924175"/>
          </a:xfrm>
          <a:custGeom>
            <a:avLst/>
            <a:gdLst/>
            <a:ahLst/>
            <a:cxnLst/>
            <a:rect l="l" t="t" r="r" b="b"/>
            <a:pathLst>
              <a:path w="5518391" h="924175">
                <a:moveTo>
                  <a:pt x="35545" y="0"/>
                </a:moveTo>
                <a:lnTo>
                  <a:pt x="5447303" y="0"/>
                </a:lnTo>
                <a:cubicBezTo>
                  <a:pt x="5486564" y="0"/>
                  <a:pt x="5518391" y="31827"/>
                  <a:pt x="5518391" y="71088"/>
                </a:cubicBezTo>
                <a:lnTo>
                  <a:pt x="5518391" y="853087"/>
                </a:lnTo>
                <a:cubicBezTo>
                  <a:pt x="5518391" y="892348"/>
                  <a:pt x="5486564" y="924175"/>
                  <a:pt x="5447303" y="924175"/>
                </a:cubicBez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169034" y="4398717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45" y="0"/>
                </a:moveTo>
                <a:lnTo>
                  <a:pt x="35545" y="0"/>
                </a:lnTo>
                <a:lnTo>
                  <a:pt x="35545" y="924175"/>
                </a:ln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48" name="Text 46"/>
          <p:cNvSpPr/>
          <p:nvPr/>
        </p:nvSpPr>
        <p:spPr>
          <a:xfrm>
            <a:off x="6293442" y="4523125"/>
            <a:ext cx="1297399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Per-Polymer R² Avg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110232" y="4505353"/>
            <a:ext cx="559837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33.3%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3442" y="4825259"/>
            <a:ext cx="5349551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Verifying model accuracy within same polymer class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3437" y="5091848"/>
            <a:ext cx="93306" cy="106636"/>
          </a:xfrm>
          <a:custGeom>
            <a:avLst/>
            <a:gdLst/>
            <a:ahLst/>
            <a:cxnLst/>
            <a:rect l="l" t="t" r="r" b="b"/>
            <a:pathLst>
              <a:path w="93306" h="106636">
                <a:moveTo>
                  <a:pt x="90557" y="14600"/>
                </a:moveTo>
                <a:cubicBezTo>
                  <a:pt x="93535" y="16766"/>
                  <a:pt x="94202" y="20931"/>
                  <a:pt x="92036" y="23910"/>
                </a:cubicBezTo>
                <a:lnTo>
                  <a:pt x="38718" y="97222"/>
                </a:lnTo>
                <a:cubicBezTo>
                  <a:pt x="37572" y="98805"/>
                  <a:pt x="35802" y="99783"/>
                  <a:pt x="33844" y="99950"/>
                </a:cubicBezTo>
                <a:cubicBezTo>
                  <a:pt x="31887" y="100117"/>
                  <a:pt x="29991" y="99388"/>
                  <a:pt x="28617" y="98013"/>
                </a:cubicBezTo>
                <a:lnTo>
                  <a:pt x="1958" y="71354"/>
                </a:lnTo>
                <a:cubicBezTo>
                  <a:pt x="-646" y="68751"/>
                  <a:pt x="-646" y="64523"/>
                  <a:pt x="1958" y="61919"/>
                </a:cubicBezTo>
                <a:cubicBezTo>
                  <a:pt x="4561" y="59316"/>
                  <a:pt x="8789" y="59316"/>
                  <a:pt x="11393" y="61919"/>
                </a:cubicBezTo>
                <a:lnTo>
                  <a:pt x="32532" y="83059"/>
                </a:lnTo>
                <a:lnTo>
                  <a:pt x="81268" y="16058"/>
                </a:lnTo>
                <a:cubicBezTo>
                  <a:pt x="83434" y="13080"/>
                  <a:pt x="87599" y="12413"/>
                  <a:pt x="90578" y="14579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52" name="Text 50"/>
          <p:cNvSpPr/>
          <p:nvPr/>
        </p:nvSpPr>
        <p:spPr>
          <a:xfrm>
            <a:off x="6497827" y="5074076"/>
            <a:ext cx="835312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&gt; 0.80 = HIGH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4292" y="5429528"/>
            <a:ext cx="5518391" cy="924175"/>
          </a:xfrm>
          <a:custGeom>
            <a:avLst/>
            <a:gdLst/>
            <a:ahLst/>
            <a:cxnLst/>
            <a:rect l="l" t="t" r="r" b="b"/>
            <a:pathLst>
              <a:path w="5518391" h="924175">
                <a:moveTo>
                  <a:pt x="35545" y="0"/>
                </a:moveTo>
                <a:lnTo>
                  <a:pt x="5447303" y="0"/>
                </a:lnTo>
                <a:cubicBezTo>
                  <a:pt x="5486564" y="0"/>
                  <a:pt x="5518391" y="31827"/>
                  <a:pt x="5518391" y="71088"/>
                </a:cubicBezTo>
                <a:lnTo>
                  <a:pt x="5518391" y="853087"/>
                </a:lnTo>
                <a:cubicBezTo>
                  <a:pt x="5518391" y="892348"/>
                  <a:pt x="5486564" y="924175"/>
                  <a:pt x="5447303" y="924175"/>
                </a:cubicBez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524292" y="5429528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45" y="0"/>
                </a:moveTo>
                <a:lnTo>
                  <a:pt x="35545" y="0"/>
                </a:lnTo>
                <a:lnTo>
                  <a:pt x="35545" y="924175"/>
                </a:ln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55" name="Text 53"/>
          <p:cNvSpPr/>
          <p:nvPr/>
        </p:nvSpPr>
        <p:spPr>
          <a:xfrm>
            <a:off x="648700" y="5553936"/>
            <a:ext cx="1181878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Coverage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79374" y="5536163"/>
            <a:ext cx="550950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22.2%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8700" y="5856070"/>
            <a:ext cx="5349551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Verifying retention of Structural and Physics data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68694" y="6122659"/>
            <a:ext cx="93306" cy="106636"/>
          </a:xfrm>
          <a:custGeom>
            <a:avLst/>
            <a:gdLst/>
            <a:ahLst/>
            <a:cxnLst/>
            <a:rect l="l" t="t" r="r" b="b"/>
            <a:pathLst>
              <a:path w="93306" h="106636">
                <a:moveTo>
                  <a:pt x="90557" y="14600"/>
                </a:moveTo>
                <a:cubicBezTo>
                  <a:pt x="93535" y="16766"/>
                  <a:pt x="94202" y="20931"/>
                  <a:pt x="92036" y="23910"/>
                </a:cubicBezTo>
                <a:lnTo>
                  <a:pt x="38718" y="97222"/>
                </a:lnTo>
                <a:cubicBezTo>
                  <a:pt x="37572" y="98805"/>
                  <a:pt x="35802" y="99783"/>
                  <a:pt x="33844" y="99950"/>
                </a:cubicBezTo>
                <a:cubicBezTo>
                  <a:pt x="31887" y="100117"/>
                  <a:pt x="29991" y="99388"/>
                  <a:pt x="28617" y="98013"/>
                </a:cubicBezTo>
                <a:lnTo>
                  <a:pt x="1958" y="71354"/>
                </a:lnTo>
                <a:cubicBezTo>
                  <a:pt x="-646" y="68751"/>
                  <a:pt x="-646" y="64523"/>
                  <a:pt x="1958" y="61919"/>
                </a:cubicBezTo>
                <a:cubicBezTo>
                  <a:pt x="4561" y="59316"/>
                  <a:pt x="8789" y="59316"/>
                  <a:pt x="11393" y="61919"/>
                </a:cubicBezTo>
                <a:lnTo>
                  <a:pt x="32532" y="83059"/>
                </a:lnTo>
                <a:lnTo>
                  <a:pt x="81268" y="16058"/>
                </a:lnTo>
                <a:cubicBezTo>
                  <a:pt x="83434" y="13080"/>
                  <a:pt x="87599" y="12413"/>
                  <a:pt x="90578" y="14579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59" name="Text 57"/>
          <p:cNvSpPr/>
          <p:nvPr/>
        </p:nvSpPr>
        <p:spPr>
          <a:xfrm>
            <a:off x="853085" y="6104886"/>
            <a:ext cx="1128560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blocks &gt;70% = HIGH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69034" y="5429528"/>
            <a:ext cx="5518391" cy="924175"/>
          </a:xfrm>
          <a:custGeom>
            <a:avLst/>
            <a:gdLst/>
            <a:ahLst/>
            <a:cxnLst/>
            <a:rect l="l" t="t" r="r" b="b"/>
            <a:pathLst>
              <a:path w="5518391" h="924175">
                <a:moveTo>
                  <a:pt x="35545" y="0"/>
                </a:moveTo>
                <a:lnTo>
                  <a:pt x="5447303" y="0"/>
                </a:lnTo>
                <a:cubicBezTo>
                  <a:pt x="5486564" y="0"/>
                  <a:pt x="5518391" y="31827"/>
                  <a:pt x="5518391" y="71088"/>
                </a:cubicBezTo>
                <a:lnTo>
                  <a:pt x="5518391" y="853087"/>
                </a:lnTo>
                <a:cubicBezTo>
                  <a:pt x="5518391" y="892348"/>
                  <a:pt x="5486564" y="924175"/>
                  <a:pt x="5447303" y="924175"/>
                </a:cubicBez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6169034" y="5429528"/>
            <a:ext cx="35545" cy="924175"/>
          </a:xfrm>
          <a:custGeom>
            <a:avLst/>
            <a:gdLst/>
            <a:ahLst/>
            <a:cxnLst/>
            <a:rect l="l" t="t" r="r" b="b"/>
            <a:pathLst>
              <a:path w="35545" h="924175">
                <a:moveTo>
                  <a:pt x="35545" y="0"/>
                </a:moveTo>
                <a:lnTo>
                  <a:pt x="35545" y="0"/>
                </a:lnTo>
                <a:lnTo>
                  <a:pt x="35545" y="924175"/>
                </a:lnTo>
                <a:lnTo>
                  <a:pt x="35545" y="924175"/>
                </a:lnTo>
                <a:cubicBezTo>
                  <a:pt x="15914" y="924175"/>
                  <a:pt x="0" y="908261"/>
                  <a:pt x="0" y="888630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62" name="Text 60"/>
          <p:cNvSpPr/>
          <p:nvPr/>
        </p:nvSpPr>
        <p:spPr>
          <a:xfrm>
            <a:off x="6293442" y="5553936"/>
            <a:ext cx="995265" cy="2132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Inverse Design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226448" y="5536163"/>
            <a:ext cx="444315" cy="2488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11.1%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93442" y="5856070"/>
            <a:ext cx="5349551" cy="1777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Confirming all 3 polymers hit LEO targets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13437" y="6122659"/>
            <a:ext cx="93306" cy="106636"/>
          </a:xfrm>
          <a:custGeom>
            <a:avLst/>
            <a:gdLst/>
            <a:ahLst/>
            <a:cxnLst/>
            <a:rect l="l" t="t" r="r" b="b"/>
            <a:pathLst>
              <a:path w="93306" h="106636">
                <a:moveTo>
                  <a:pt x="90557" y="14600"/>
                </a:moveTo>
                <a:cubicBezTo>
                  <a:pt x="93535" y="16766"/>
                  <a:pt x="94202" y="20931"/>
                  <a:pt x="92036" y="23910"/>
                </a:cubicBezTo>
                <a:lnTo>
                  <a:pt x="38718" y="97222"/>
                </a:lnTo>
                <a:cubicBezTo>
                  <a:pt x="37572" y="98805"/>
                  <a:pt x="35802" y="99783"/>
                  <a:pt x="33844" y="99950"/>
                </a:cubicBezTo>
                <a:cubicBezTo>
                  <a:pt x="31887" y="100117"/>
                  <a:pt x="29991" y="99388"/>
                  <a:pt x="28617" y="98013"/>
                </a:cubicBezTo>
                <a:lnTo>
                  <a:pt x="1958" y="71354"/>
                </a:lnTo>
                <a:cubicBezTo>
                  <a:pt x="-646" y="68751"/>
                  <a:pt x="-646" y="64523"/>
                  <a:pt x="1958" y="61919"/>
                </a:cubicBezTo>
                <a:cubicBezTo>
                  <a:pt x="4561" y="59316"/>
                  <a:pt x="8789" y="59316"/>
                  <a:pt x="11393" y="61919"/>
                </a:cubicBezTo>
                <a:lnTo>
                  <a:pt x="32532" y="83059"/>
                </a:lnTo>
                <a:lnTo>
                  <a:pt x="81268" y="16058"/>
                </a:lnTo>
                <a:cubicBezTo>
                  <a:pt x="83434" y="13080"/>
                  <a:pt x="87599" y="12413"/>
                  <a:pt x="90578" y="14579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66" name="Text 64"/>
          <p:cNvSpPr/>
          <p:nvPr/>
        </p:nvSpPr>
        <p:spPr>
          <a:xfrm>
            <a:off x="6497827" y="6104886"/>
            <a:ext cx="755335" cy="142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3 hit = HIGH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springernature.com/479ed86eb09ae68f8c72f19f66d2f04c7d252bb9.png"/>
          <p:cNvPicPr>
            <a:picLocks noChangeAspect="1"/>
          </p:cNvPicPr>
          <p:nvPr/>
        </p:nvPicPr>
        <p:blipFill>
          <a:blip r:embed="rId1">
            <a:alphaModFix amt="20000"/>
          </a:blip>
          <a:srcRect t="7842" b="784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90000"/>
                </a:srgbClr>
              </a:gs>
              <a:gs pos="100000">
                <a:srgbClr val="1A1D23">
                  <a:alpha val="8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/>
              </a:gs>
              <a:gs pos="100000">
                <a:srgbClr val="00D9C0"/>
              </a:gs>
            </a:gsLst>
            <a:lin ang="2700000" scaled="1"/>
          </a:gradFill>
        </p:spPr>
      </p:sp>
      <p:sp>
        <p:nvSpPr>
          <p:cNvPr id="5" name="Shape 2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1066800" y="3810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647700"/>
            <a:ext cx="33147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Impact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1185863"/>
            <a:ext cx="5629275" cy="1495425"/>
          </a:xfrm>
          <a:custGeom>
            <a:avLst/>
            <a:gdLst/>
            <a:ahLst/>
            <a:cxnLst/>
            <a:rect l="l" t="t" r="r" b="b"/>
            <a:pathLst>
              <a:path w="5629275" h="1495425">
                <a:moveTo>
                  <a:pt x="114295" y="0"/>
                </a:moveTo>
                <a:lnTo>
                  <a:pt x="5514980" y="0"/>
                </a:lnTo>
                <a:cubicBezTo>
                  <a:pt x="5578103" y="0"/>
                  <a:pt x="5629275" y="51172"/>
                  <a:pt x="5629275" y="114295"/>
                </a:cubicBezTo>
                <a:lnTo>
                  <a:pt x="5629275" y="1381130"/>
                </a:lnTo>
                <a:cubicBezTo>
                  <a:pt x="5629275" y="1444253"/>
                  <a:pt x="5578103" y="1495425"/>
                  <a:pt x="551498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925" y="1343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50081" y="1447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A8DFF"/>
          </a:solidFill>
        </p:spPr>
      </p:sp>
      <p:sp>
        <p:nvSpPr>
          <p:cNvPr id="11" name="Text 8"/>
          <p:cNvSpPr/>
          <p:nvPr/>
        </p:nvSpPr>
        <p:spPr>
          <a:xfrm>
            <a:off x="1038225" y="1400175"/>
            <a:ext cx="151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Success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925" y="1838325"/>
            <a:ext cx="53911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engineered an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QSPR and Inverse Design pipeline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capable of evaluating and computationally mutating high-performance aerospace polymers.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5763" y="2805113"/>
            <a:ext cx="5629275" cy="1495425"/>
          </a:xfrm>
          <a:custGeom>
            <a:avLst/>
            <a:gdLst/>
            <a:ahLst/>
            <a:cxnLst/>
            <a:rect l="l" t="t" r="r" b="b"/>
            <a:pathLst>
              <a:path w="5629275" h="1495425">
                <a:moveTo>
                  <a:pt x="114295" y="0"/>
                </a:moveTo>
                <a:lnTo>
                  <a:pt x="5514980" y="0"/>
                </a:lnTo>
                <a:cubicBezTo>
                  <a:pt x="5578103" y="0"/>
                  <a:pt x="5629275" y="51172"/>
                  <a:pt x="5629275" y="114295"/>
                </a:cubicBezTo>
                <a:lnTo>
                  <a:pt x="5629275" y="1381130"/>
                </a:lnTo>
                <a:cubicBezTo>
                  <a:pt x="5629275" y="1444253"/>
                  <a:pt x="5578103" y="1495425"/>
                  <a:pt x="551498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10000"/>
                </a:srgbClr>
              </a:gs>
              <a:gs pos="100000">
                <a:srgbClr val="00D9C0">
                  <a:alpha val="5000"/>
                </a:srgbClr>
              </a:gs>
            </a:gsLst>
            <a:lin ang="2700000" scaled="1"/>
          </a:gradFill>
          <a:ln w="12700">
            <a:solidFill>
              <a:srgbClr val="00D9C0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2925" y="2962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D9C0">
              <a:alpha val="2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660797" y="30670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16" name="Text 13"/>
          <p:cNvSpPr/>
          <p:nvPr/>
        </p:nvSpPr>
        <p:spPr>
          <a:xfrm>
            <a:off x="1038225" y="3019425"/>
            <a:ext cx="1800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Chemical Innovation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2925" y="3457575"/>
            <a:ext cx="53911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Discovered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viable, novel SMILES structures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Polyimide and PEEK by selectively applying fluorination and methylation to aromatic rings while maintaining &gt;60% chemical similarity to ensure manufacturability.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5763" y="4424363"/>
            <a:ext cx="5629275" cy="1495425"/>
          </a:xfrm>
          <a:custGeom>
            <a:avLst/>
            <a:gdLst/>
            <a:ahLst/>
            <a:cxnLst/>
            <a:rect l="l" t="t" r="r" b="b"/>
            <a:pathLst>
              <a:path w="5629275" h="1495425">
                <a:moveTo>
                  <a:pt x="114295" y="0"/>
                </a:moveTo>
                <a:lnTo>
                  <a:pt x="5514980" y="0"/>
                </a:lnTo>
                <a:cubicBezTo>
                  <a:pt x="5578103" y="0"/>
                  <a:pt x="5629275" y="51172"/>
                  <a:pt x="5629275" y="114295"/>
                </a:cubicBezTo>
                <a:lnTo>
                  <a:pt x="5629275" y="1381130"/>
                </a:lnTo>
                <a:cubicBezTo>
                  <a:pt x="5629275" y="1444253"/>
                  <a:pt x="5578103" y="1495425"/>
                  <a:pt x="5514980" y="1495425"/>
                </a:cubicBezTo>
                <a:lnTo>
                  <a:pt x="114295" y="1495425"/>
                </a:lnTo>
                <a:cubicBezTo>
                  <a:pt x="51172" y="1495425"/>
                  <a:pt x="0" y="1444253"/>
                  <a:pt x="0" y="13811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3A8DFF">
                  <a:alpha val="5000"/>
                </a:srgbClr>
              </a:gs>
            </a:gsLst>
            <a:lin ang="270000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2925" y="4581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DFF">
              <a:alpha val="2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650081" y="4686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4789" y="21431"/>
                  <a:pt x="0" y="26220"/>
                  <a:pt x="0" y="32147"/>
                </a:cubicBezTo>
                <a:cubicBezTo>
                  <a:pt x="0" y="38074"/>
                  <a:pt x="4789" y="42863"/>
                  <a:pt x="10716" y="42863"/>
                </a:cubicBezTo>
                <a:lnTo>
                  <a:pt x="39748" y="42863"/>
                </a:lnTo>
                <a:cubicBezTo>
                  <a:pt x="43867" y="52339"/>
                  <a:pt x="53310" y="58936"/>
                  <a:pt x="64294" y="58936"/>
                </a:cubicBezTo>
                <a:cubicBezTo>
                  <a:pt x="75277" y="58936"/>
                  <a:pt x="84720" y="52339"/>
                  <a:pt x="88839" y="42863"/>
                </a:cubicBezTo>
                <a:lnTo>
                  <a:pt x="160734" y="42863"/>
                </a:lnTo>
                <a:cubicBezTo>
                  <a:pt x="166661" y="42863"/>
                  <a:pt x="171450" y="38074"/>
                  <a:pt x="171450" y="32147"/>
                </a:cubicBezTo>
                <a:cubicBezTo>
                  <a:pt x="171450" y="26220"/>
                  <a:pt x="166661" y="21431"/>
                  <a:pt x="160734" y="21431"/>
                </a:cubicBezTo>
                <a:lnTo>
                  <a:pt x="88839" y="21431"/>
                </a:lnTo>
                <a:cubicBezTo>
                  <a:pt x="84720" y="11955"/>
                  <a:pt x="75277" y="5358"/>
                  <a:pt x="64294" y="5358"/>
                </a:cubicBezTo>
                <a:cubicBezTo>
                  <a:pt x="53310" y="5358"/>
                  <a:pt x="43867" y="11955"/>
                  <a:pt x="39748" y="21431"/>
                </a:cubicBezTo>
                <a:lnTo>
                  <a:pt x="10716" y="21431"/>
                </a:lnTo>
                <a:close/>
                <a:moveTo>
                  <a:pt x="10716" y="75009"/>
                </a:move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93326" y="96441"/>
                </a:lnTo>
                <a:cubicBezTo>
                  <a:pt x="97445" y="105917"/>
                  <a:pt x="106888" y="112514"/>
                  <a:pt x="117872" y="112514"/>
                </a:cubicBezTo>
                <a:cubicBezTo>
                  <a:pt x="128855" y="112514"/>
                  <a:pt x="138299" y="105917"/>
                  <a:pt x="142417" y="96441"/>
                </a:cubicBezTo>
                <a:lnTo>
                  <a:pt x="160734" y="96441"/>
                </a:lnTo>
                <a:cubicBezTo>
                  <a:pt x="166661" y="96441"/>
                  <a:pt x="171450" y="91652"/>
                  <a:pt x="171450" y="85725"/>
                </a:cubicBezTo>
                <a:cubicBezTo>
                  <a:pt x="171450" y="79798"/>
                  <a:pt x="166661" y="75009"/>
                  <a:pt x="160734" y="75009"/>
                </a:cubicBezTo>
                <a:lnTo>
                  <a:pt x="142417" y="75009"/>
                </a:lnTo>
                <a:cubicBezTo>
                  <a:pt x="138299" y="65533"/>
                  <a:pt x="128855" y="58936"/>
                  <a:pt x="117872" y="58936"/>
                </a:cubicBezTo>
                <a:cubicBezTo>
                  <a:pt x="106888" y="58936"/>
                  <a:pt x="97445" y="65533"/>
                  <a:pt x="93326" y="75009"/>
                </a:cubicBezTo>
                <a:lnTo>
                  <a:pt x="10716" y="75009"/>
                </a:lnTo>
                <a:close/>
                <a:moveTo>
                  <a:pt x="10716" y="128588"/>
                </a:moveTo>
                <a:cubicBezTo>
                  <a:pt x="4789" y="128588"/>
                  <a:pt x="0" y="133376"/>
                  <a:pt x="0" y="139303"/>
                </a:cubicBezTo>
                <a:cubicBezTo>
                  <a:pt x="0" y="145230"/>
                  <a:pt x="4789" y="150019"/>
                  <a:pt x="10716" y="150019"/>
                </a:cubicBezTo>
                <a:lnTo>
                  <a:pt x="29033" y="150019"/>
                </a:lnTo>
                <a:cubicBezTo>
                  <a:pt x="33151" y="159495"/>
                  <a:pt x="42595" y="166092"/>
                  <a:pt x="53578" y="166092"/>
                </a:cubicBezTo>
                <a:cubicBezTo>
                  <a:pt x="64562" y="166092"/>
                  <a:pt x="74005" y="159495"/>
                  <a:pt x="78124" y="150019"/>
                </a:cubicBez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ubicBezTo>
                  <a:pt x="171450" y="133376"/>
                  <a:pt x="166661" y="128588"/>
                  <a:pt x="160734" y="128588"/>
                </a:cubicBezTo>
                <a:lnTo>
                  <a:pt x="78124" y="128588"/>
                </a:lnTo>
                <a:cubicBezTo>
                  <a:pt x="74005" y="119111"/>
                  <a:pt x="64562" y="112514"/>
                  <a:pt x="53578" y="112514"/>
                </a:cubicBezTo>
                <a:cubicBezTo>
                  <a:pt x="42595" y="112514"/>
                  <a:pt x="33151" y="119111"/>
                  <a:pt x="29033" y="128588"/>
                </a:cubicBezTo>
                <a:lnTo>
                  <a:pt x="10716" y="128588"/>
                </a:lnTo>
                <a:close/>
              </a:path>
            </a:pathLst>
          </a:custGeom>
          <a:solidFill>
            <a:srgbClr val="3A8DFF"/>
          </a:solidFill>
        </p:spPr>
      </p:sp>
      <p:sp>
        <p:nvSpPr>
          <p:cNvPr id="21" name="Text 18"/>
          <p:cNvSpPr/>
          <p:nvPr/>
        </p:nvSpPr>
        <p:spPr>
          <a:xfrm>
            <a:off x="1038225" y="4638675"/>
            <a:ext cx="2076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Parameter Optimization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2925" y="5076825"/>
            <a:ext cx="53911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Established that for non-mutable chains like PTFE,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3A8DFF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morphological processing parameters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a highly effective alternate route to achieving LEO targets.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6963" y="1185863"/>
            <a:ext cx="5629275" cy="3476625"/>
          </a:xfrm>
          <a:custGeom>
            <a:avLst/>
            <a:gdLst/>
            <a:ahLst/>
            <a:cxnLst/>
            <a:rect l="l" t="t" r="r" b="b"/>
            <a:pathLst>
              <a:path w="5629275" h="3476625">
                <a:moveTo>
                  <a:pt x="114311" y="0"/>
                </a:moveTo>
                <a:lnTo>
                  <a:pt x="5514964" y="0"/>
                </a:lnTo>
                <a:cubicBezTo>
                  <a:pt x="5578096" y="0"/>
                  <a:pt x="5629275" y="51179"/>
                  <a:pt x="5629275" y="114311"/>
                </a:cubicBezTo>
                <a:lnTo>
                  <a:pt x="5629275" y="3362314"/>
                </a:lnTo>
                <a:cubicBezTo>
                  <a:pt x="5629275" y="3425446"/>
                  <a:pt x="5578096" y="3476625"/>
                  <a:pt x="5514964" y="3476625"/>
                </a:cubicBezTo>
                <a:lnTo>
                  <a:pt x="114311" y="3476625"/>
                </a:lnTo>
                <a:cubicBezTo>
                  <a:pt x="51179" y="3476625"/>
                  <a:pt x="0" y="3425446"/>
                  <a:pt x="0" y="336231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>
                  <a:alpha val="20000"/>
                </a:srgbClr>
              </a:gs>
              <a:gs pos="50000">
                <a:srgbClr val="3A8DFF">
                  <a:alpha val="20000"/>
                </a:srgbClr>
              </a:gs>
              <a:gs pos="100000">
                <a:srgbClr val="00D9C0">
                  <a:alpha val="20000"/>
                </a:srgbClr>
              </a:gs>
            </a:gsLst>
            <a:lin ang="2700000" scaled="1"/>
          </a:gradFill>
          <a:ln w="12700">
            <a:solidFill>
              <a:srgbClr val="00D9C0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722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D9C0"/>
              </a:gs>
              <a:gs pos="100000">
                <a:srgbClr val="3A8DFF"/>
              </a:gs>
            </a:gsLst>
            <a:lin ang="2700000" scaled="1"/>
          </a:gradFill>
        </p:spPr>
      </p:sp>
      <p:sp>
        <p:nvSpPr>
          <p:cNvPr id="25" name="Shape 22"/>
          <p:cNvSpPr/>
          <p:nvPr/>
        </p:nvSpPr>
        <p:spPr>
          <a:xfrm>
            <a:off x="6529388" y="1514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3"/>
          <p:cNvSpPr/>
          <p:nvPr/>
        </p:nvSpPr>
        <p:spPr>
          <a:xfrm>
            <a:off x="6943725" y="145732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Impact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72225" y="1990725"/>
            <a:ext cx="53149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</a:t>
            </a:r>
            <a:r>
              <a:rPr lang="en-US" sz="1200" b="1" dirty="0">
                <a:solidFill>
                  <a:srgbClr val="E2E8F0">
                    <a:alpha val="90000"/>
                  </a:srgbClr>
                </a:solidFill>
                <a:highlight>
                  <a:srgbClr val="00D9C0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informatics-driven approach 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drastically reduces the R&amp;D timeline for aerospace shielding materials, moving the industry from trial-and-error physical synthesis to targeted, confidence-scored computational discovery.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72225" y="2828925"/>
            <a:ext cx="2562225" cy="762000"/>
          </a:xfrm>
          <a:custGeom>
            <a:avLst/>
            <a:gdLst/>
            <a:ahLst/>
            <a:cxnLst/>
            <a:rect l="l" t="t" r="r" b="b"/>
            <a:pathLst>
              <a:path w="2562225" h="762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685800"/>
                </a:lnTo>
                <a:cubicBezTo>
                  <a:pt x="2562225" y="727856"/>
                  <a:pt x="2528081" y="762000"/>
                  <a:pt x="24860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29" name="Text 26"/>
          <p:cNvSpPr/>
          <p:nvPr/>
        </p:nvSpPr>
        <p:spPr>
          <a:xfrm>
            <a:off x="6429375" y="2943225"/>
            <a:ext cx="24479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53188" y="3286125"/>
            <a:ext cx="2400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Discovery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048750" y="2828925"/>
            <a:ext cx="2562225" cy="762000"/>
          </a:xfrm>
          <a:custGeom>
            <a:avLst/>
            <a:gdLst/>
            <a:ahLst/>
            <a:cxnLst/>
            <a:rect l="l" t="t" r="r" b="b"/>
            <a:pathLst>
              <a:path w="2562225" h="762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685800"/>
                </a:lnTo>
                <a:cubicBezTo>
                  <a:pt x="2562225" y="727856"/>
                  <a:pt x="2528081" y="762000"/>
                  <a:pt x="24860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9105900" y="2943225"/>
            <a:ext cx="24479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129713" y="3286125"/>
            <a:ext cx="2400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72225" y="3705225"/>
            <a:ext cx="2562225" cy="762000"/>
          </a:xfrm>
          <a:custGeom>
            <a:avLst/>
            <a:gdLst/>
            <a:ahLst/>
            <a:cxnLst/>
            <a:rect l="l" t="t" r="r" b="b"/>
            <a:pathLst>
              <a:path w="2562225" h="762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685800"/>
                </a:lnTo>
                <a:cubicBezTo>
                  <a:pt x="2562225" y="727856"/>
                  <a:pt x="2528081" y="762000"/>
                  <a:pt x="24860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6429375" y="3819525"/>
            <a:ext cx="24479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53188" y="4162425"/>
            <a:ext cx="2400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Coverage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048750" y="3705225"/>
            <a:ext cx="2562225" cy="762000"/>
          </a:xfrm>
          <a:custGeom>
            <a:avLst/>
            <a:gdLst/>
            <a:ahLst/>
            <a:cxnLst/>
            <a:rect l="l" t="t" r="r" b="b"/>
            <a:pathLst>
              <a:path w="2562225" h="762000">
                <a:moveTo>
                  <a:pt x="76200" y="0"/>
                </a:moveTo>
                <a:lnTo>
                  <a:pt x="2486025" y="0"/>
                </a:lnTo>
                <a:cubicBezTo>
                  <a:pt x="2528081" y="0"/>
                  <a:pt x="2562225" y="34144"/>
                  <a:pt x="2562225" y="76200"/>
                </a:cubicBezTo>
                <a:lnTo>
                  <a:pt x="2562225" y="685800"/>
                </a:lnTo>
                <a:cubicBezTo>
                  <a:pt x="2562225" y="727856"/>
                  <a:pt x="2528081" y="762000"/>
                  <a:pt x="24860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60000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9105900" y="3819525"/>
            <a:ext cx="24479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3/3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129713" y="4162425"/>
            <a:ext cx="2400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Polymers Optimized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176963" y="4786313"/>
            <a:ext cx="5629275" cy="1190625"/>
          </a:xfrm>
          <a:custGeom>
            <a:avLst/>
            <a:gdLst/>
            <a:ahLst/>
            <a:cxnLst/>
            <a:rect l="l" t="t" r="r" b="b"/>
            <a:pathLst>
              <a:path w="5629275" h="1190625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1076325"/>
                </a:lnTo>
                <a:cubicBezTo>
                  <a:pt x="5629275" y="1139409"/>
                  <a:pt x="5578059" y="1190625"/>
                  <a:pt x="5514975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A8DFF">
                  <a:alpha val="10000"/>
                </a:srgbClr>
              </a:gs>
              <a:gs pos="100000">
                <a:srgbClr val="00D9C0">
                  <a:alpha val="10000"/>
                </a:srgbClr>
              </a:gs>
            </a:gsLst>
            <a:lin ang="0" scaled="1"/>
          </a:gradFill>
          <a:ln w="12700">
            <a:solidFill>
              <a:srgbClr val="3A8DFF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57938" y="4991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00D9C0"/>
          </a:solidFill>
        </p:spPr>
      </p:sp>
      <p:sp>
        <p:nvSpPr>
          <p:cNvPr id="42" name="Text 39"/>
          <p:cNvSpPr/>
          <p:nvPr/>
        </p:nvSpPr>
        <p:spPr>
          <a:xfrm>
            <a:off x="6553200" y="4943475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Metrics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276975" y="5324475"/>
            <a:ext cx="1809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720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00788" y="562927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086725" y="5324475"/>
            <a:ext cx="1809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D9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184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110537" y="562927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896475" y="5324475"/>
            <a:ext cx="1809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A8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920288" y="5629275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8933</Words>
  <Application>WPS Presentation</Application>
  <PresentationFormat>On-screen Show (16:9)</PresentationFormat>
  <Paragraphs>634</Paragraphs>
  <Slides>12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SimSun</vt:lpstr>
      <vt:lpstr>Wingdings</vt:lpstr>
      <vt:lpstr>Quattrocento Sans</vt:lpstr>
      <vt:lpstr>Quattrocento Sans</vt:lpstr>
      <vt:lpstr>Quattrocento Sans</vt:lpstr>
      <vt:lpstr>Liter</vt:lpstr>
      <vt:lpstr>Liter</vt:lpstr>
      <vt:lpstr>Liter</vt:lpstr>
      <vt:lpstr>MiSans</vt:lpstr>
      <vt:lpstr>MiSans</vt:lpstr>
      <vt:lpstr>Calibri</vt:lpstr>
      <vt:lpstr>Microsoft YaHei</vt:lpstr>
      <vt:lpstr>汉仪旗黑</vt:lpstr>
      <vt:lpstr>Arial Unicode MS</vt:lpstr>
      <vt:lpstr>MS PGothic</vt:lpstr>
      <vt:lpstr>苹方-简</vt:lpstr>
      <vt:lpstr>宋体-简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Informatics-Driven Inverse Design of High-Performance Polymers</dc:title>
  <dc:creator>Kimi</dc:creator>
  <dc:subject>Informatics-Driven Inverse Design of High-Performance Polymers</dc:subject>
  <cp:lastModifiedBy>Abhay Thomman</cp:lastModifiedBy>
  <cp:revision>13</cp:revision>
  <dcterms:created xsi:type="dcterms:W3CDTF">2026-04-15T06:24:37Z</dcterms:created>
  <dcterms:modified xsi:type="dcterms:W3CDTF">2026-04-15T06:24:37Z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{"Label":"Informatics-Driven Inverse Design of High-Performance Polymers","ContentProducer":"001191110108MACG2KBH8F10000","ProduceID":"19d6e460-f112-8c85-8000-0000a3fed56b","ReservedCode1":"","ContentPropagator":"001191110108MACG2KBH8F20000","PropagateID":"19d6e460-f112-8c85-8000-0000a3fed56b","ReservedCode2":""}</vt:lpwstr>
  </property>
  <property fmtid="{D5CDD505-2E9C-101B-9397-08002B2CF9AE}" pid="3" name="ICV">
    <vt:lpwstr>2E91786BF87A444FAFE364FD9F2AFAA9_13</vt:lpwstr>
  </property>
  <property fmtid="{D5CDD505-2E9C-101B-9397-08002B2CF9AE}" pid="4" name="KSOProductBuildVer">
    <vt:lpwstr>1033-12.1.25867.25867</vt:lpwstr>
  </property>
</Properties>
</file>